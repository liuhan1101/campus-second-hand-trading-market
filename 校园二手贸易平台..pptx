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7" r:id="rId3"/>
    <p:sldId id="258" r:id="rId4"/>
    <p:sldId id="259" r:id="rId5"/>
    <p:sldId id="260" r:id="rId6"/>
    <p:sldId id="262" r:id="rId7"/>
    <p:sldId id="289" r:id="rId9"/>
    <p:sldId id="298" r:id="rId10"/>
    <p:sldId id="299" r:id="rId11"/>
    <p:sldId id="264" r:id="rId12"/>
    <p:sldId id="265" r:id="rId13"/>
    <p:sldId id="295" r:id="rId14"/>
    <p:sldId id="294" r:id="rId15"/>
    <p:sldId id="300" r:id="rId16"/>
    <p:sldId id="266" r:id="rId17"/>
    <p:sldId id="267" r:id="rId18"/>
    <p:sldId id="301" r:id="rId19"/>
    <p:sldId id="313" r:id="rId20"/>
    <p:sldId id="314" r:id="rId21"/>
    <p:sldId id="315" r:id="rId22"/>
    <p:sldId id="302" r:id="rId23"/>
    <p:sldId id="311" r:id="rId24"/>
    <p:sldId id="303" r:id="rId25"/>
    <p:sldId id="316" r:id="rId26"/>
    <p:sldId id="320" r:id="rId27"/>
    <p:sldId id="304" r:id="rId28"/>
    <p:sldId id="306" r:id="rId29"/>
    <p:sldId id="307" r:id="rId30"/>
    <p:sldId id="308" r:id="rId31"/>
    <p:sldId id="261" r:id="rId32"/>
  </p:sldIdLst>
  <p:sldSz cx="12192000" cy="6858000"/>
  <p:notesSz cx="6858000" cy="9144000"/>
  <p:embeddedFontLst>
    <p:embeddedFont>
      <p:font typeface="华文行楷" panose="02010800040101010101" charset="-122"/>
      <p:regular r:id="rId36"/>
    </p:embeddedFont>
    <p:embeddedFont>
      <p:font typeface="楷体" panose="02010609060101010101" charset="-122"/>
      <p:regular r:id="rId37"/>
    </p:embeddedFont>
    <p:embeddedFont>
      <p:font typeface="微软雅黑" panose="020B0503020204020204" charset="-122"/>
      <p:regular r:id="rId38"/>
    </p:embeddedFont>
    <p:embeddedFont>
      <p:font typeface="华文楷体" panose="02010600040101010101" charset="-122"/>
      <p:regular r:id="rId39"/>
    </p:embeddedFont>
    <p:embeddedFont>
      <p:font typeface="MiSans Demibold" panose="00000700000000000000" charset="-122"/>
      <p:bold r:id="rId40"/>
    </p:embeddedFont>
    <p:embeddedFont>
      <p:font typeface="Calibri" panose="020F0502020204030204" charset="0"/>
      <p:regular r:id="rId41"/>
      <p:bold r:id="rId42"/>
      <p:italic r:id="rId43"/>
      <p:boldItalic r:id="rId44"/>
    </p:embeddedFont>
    <p:embeddedFont>
      <p:font typeface="黑体" panose="02010609060101010101" charset="-122"/>
      <p:regular r:id="rId4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77D7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font" Target="fonts/font10.fntdata"/><Relationship Id="rId44" Type="http://schemas.openxmlformats.org/officeDocument/2006/relationships/font" Target="fonts/font9.fntdata"/><Relationship Id="rId43" Type="http://schemas.openxmlformats.org/officeDocument/2006/relationships/font" Target="fonts/font8.fntdata"/><Relationship Id="rId42" Type="http://schemas.openxmlformats.org/officeDocument/2006/relationships/font" Target="fonts/font7.fntdata"/><Relationship Id="rId41" Type="http://schemas.openxmlformats.org/officeDocument/2006/relationships/font" Target="fonts/font6.fntdata"/><Relationship Id="rId40" Type="http://schemas.openxmlformats.org/officeDocument/2006/relationships/font" Target="fonts/font5.fntdata"/><Relationship Id="rId4" Type="http://schemas.openxmlformats.org/officeDocument/2006/relationships/slide" Target="slides/slide2.xml"/><Relationship Id="rId39" Type="http://schemas.openxmlformats.org/officeDocument/2006/relationships/font" Target="fonts/font4.fntdata"/><Relationship Id="rId38" Type="http://schemas.openxmlformats.org/officeDocument/2006/relationships/font" Target="fonts/font3.fntdata"/><Relationship Id="rId37" Type="http://schemas.openxmlformats.org/officeDocument/2006/relationships/font" Target="fonts/font2.fntdata"/><Relationship Id="rId36" Type="http://schemas.openxmlformats.org/officeDocument/2006/relationships/font" Target="fonts/font1.fntdata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文本框 10"/>
          <p:cNvSpPr txBox="1"/>
          <p:nvPr userDrawn="1">
            <p:custDataLst>
              <p:tags r:id="rId7"/>
            </p:custDataLst>
          </p:nvPr>
        </p:nvSpPr>
        <p:spPr>
          <a:xfrm>
            <a:off x="1130334" y="5498053"/>
            <a:ext cx="1368028" cy="238423"/>
          </a:xfrm>
          <a:custGeom>
            <a:avLst/>
            <a:gdLst/>
            <a:ahLst/>
            <a:cxnLst/>
            <a:rect l="l" t="t" r="r" b="b"/>
            <a:pathLst>
              <a:path w="1368028" h="238423">
                <a:moveTo>
                  <a:pt x="297954" y="102691"/>
                </a:moveTo>
                <a:cubicBezTo>
                  <a:pt x="285353" y="102691"/>
                  <a:pt x="275555" y="107007"/>
                  <a:pt x="268560" y="115639"/>
                </a:cubicBezTo>
                <a:cubicBezTo>
                  <a:pt x="261565" y="124271"/>
                  <a:pt x="258068" y="136475"/>
                  <a:pt x="258068" y="152251"/>
                </a:cubicBezTo>
                <a:cubicBezTo>
                  <a:pt x="258068" y="185093"/>
                  <a:pt x="271463" y="201513"/>
                  <a:pt x="298252" y="201513"/>
                </a:cubicBezTo>
                <a:cubicBezTo>
                  <a:pt x="323949" y="201513"/>
                  <a:pt x="336798" y="184646"/>
                  <a:pt x="336798" y="150912"/>
                </a:cubicBezTo>
                <a:cubicBezTo>
                  <a:pt x="336798" y="118765"/>
                  <a:pt x="323850" y="102691"/>
                  <a:pt x="297954" y="102691"/>
                </a:cubicBezTo>
                <a:close/>
                <a:moveTo>
                  <a:pt x="814536" y="98673"/>
                </a:moveTo>
                <a:cubicBezTo>
                  <a:pt x="806301" y="98673"/>
                  <a:pt x="799009" y="102046"/>
                  <a:pt x="792659" y="108793"/>
                </a:cubicBezTo>
                <a:cubicBezTo>
                  <a:pt x="786309" y="115540"/>
                  <a:pt x="782340" y="124470"/>
                  <a:pt x="780752" y="135582"/>
                </a:cubicBezTo>
                <a:lnTo>
                  <a:pt x="844451" y="135582"/>
                </a:lnTo>
                <a:cubicBezTo>
                  <a:pt x="844451" y="110976"/>
                  <a:pt x="834479" y="98673"/>
                  <a:pt x="814536" y="98673"/>
                </a:cubicBezTo>
                <a:close/>
                <a:moveTo>
                  <a:pt x="1314748" y="65782"/>
                </a:moveTo>
                <a:cubicBezTo>
                  <a:pt x="1329829" y="65782"/>
                  <a:pt x="1344365" y="68014"/>
                  <a:pt x="1358354" y="72479"/>
                </a:cubicBezTo>
                <a:lnTo>
                  <a:pt x="1358354" y="110282"/>
                </a:lnTo>
                <a:cubicBezTo>
                  <a:pt x="1345555" y="102741"/>
                  <a:pt x="1331466" y="98971"/>
                  <a:pt x="1316087" y="98971"/>
                </a:cubicBezTo>
                <a:cubicBezTo>
                  <a:pt x="1308447" y="98971"/>
                  <a:pt x="1302296" y="100335"/>
                  <a:pt x="1297633" y="103063"/>
                </a:cubicBezTo>
                <a:cubicBezTo>
                  <a:pt x="1292969" y="105792"/>
                  <a:pt x="1290638" y="109389"/>
                  <a:pt x="1290638" y="113853"/>
                </a:cubicBezTo>
                <a:cubicBezTo>
                  <a:pt x="1290638" y="121394"/>
                  <a:pt x="1297583" y="127496"/>
                  <a:pt x="1311474" y="132159"/>
                </a:cubicBezTo>
                <a:cubicBezTo>
                  <a:pt x="1326356" y="137120"/>
                  <a:pt x="1337543" y="141635"/>
                  <a:pt x="1345034" y="145703"/>
                </a:cubicBezTo>
                <a:cubicBezTo>
                  <a:pt x="1352525" y="149771"/>
                  <a:pt x="1358230" y="155128"/>
                  <a:pt x="1362150" y="161776"/>
                </a:cubicBezTo>
                <a:cubicBezTo>
                  <a:pt x="1366069" y="168424"/>
                  <a:pt x="1368028" y="176113"/>
                  <a:pt x="1368028" y="184844"/>
                </a:cubicBezTo>
                <a:cubicBezTo>
                  <a:pt x="1368028" y="201811"/>
                  <a:pt x="1361232" y="214982"/>
                  <a:pt x="1347639" y="224358"/>
                </a:cubicBezTo>
                <a:cubicBezTo>
                  <a:pt x="1334046" y="233735"/>
                  <a:pt x="1315889" y="238423"/>
                  <a:pt x="1293168" y="238423"/>
                </a:cubicBezTo>
                <a:cubicBezTo>
                  <a:pt x="1275308" y="238423"/>
                  <a:pt x="1258788" y="235595"/>
                  <a:pt x="1243608" y="229939"/>
                </a:cubicBezTo>
                <a:lnTo>
                  <a:pt x="1243608" y="190202"/>
                </a:lnTo>
                <a:cubicBezTo>
                  <a:pt x="1260078" y="200223"/>
                  <a:pt x="1276201" y="205234"/>
                  <a:pt x="1291977" y="205234"/>
                </a:cubicBezTo>
                <a:cubicBezTo>
                  <a:pt x="1311821" y="205234"/>
                  <a:pt x="1321743" y="199926"/>
                  <a:pt x="1321743" y="189309"/>
                </a:cubicBezTo>
                <a:cubicBezTo>
                  <a:pt x="1321743" y="181769"/>
                  <a:pt x="1313557" y="175468"/>
                  <a:pt x="1297186" y="170408"/>
                </a:cubicBezTo>
                <a:cubicBezTo>
                  <a:pt x="1276747" y="164058"/>
                  <a:pt x="1262707" y="156989"/>
                  <a:pt x="1255068" y="149200"/>
                </a:cubicBezTo>
                <a:cubicBezTo>
                  <a:pt x="1247428" y="141411"/>
                  <a:pt x="1243608" y="130869"/>
                  <a:pt x="1243608" y="117574"/>
                </a:cubicBezTo>
                <a:cubicBezTo>
                  <a:pt x="1243608" y="101401"/>
                  <a:pt x="1250156" y="88726"/>
                  <a:pt x="1263253" y="79549"/>
                </a:cubicBezTo>
                <a:cubicBezTo>
                  <a:pt x="1276350" y="70371"/>
                  <a:pt x="1293515" y="65782"/>
                  <a:pt x="1314748" y="65782"/>
                </a:cubicBezTo>
                <a:close/>
                <a:moveTo>
                  <a:pt x="1025724" y="65782"/>
                </a:moveTo>
                <a:cubicBezTo>
                  <a:pt x="1062236" y="65782"/>
                  <a:pt x="1080492" y="88404"/>
                  <a:pt x="1080492" y="133648"/>
                </a:cubicBezTo>
                <a:lnTo>
                  <a:pt x="1080492" y="234404"/>
                </a:lnTo>
                <a:lnTo>
                  <a:pt x="1032718" y="234404"/>
                </a:lnTo>
                <a:lnTo>
                  <a:pt x="1032718" y="142577"/>
                </a:lnTo>
                <a:cubicBezTo>
                  <a:pt x="1032718" y="115987"/>
                  <a:pt x="1023144" y="102691"/>
                  <a:pt x="1003995" y="102691"/>
                </a:cubicBezTo>
                <a:cubicBezTo>
                  <a:pt x="994866" y="102691"/>
                  <a:pt x="987276" y="106238"/>
                  <a:pt x="981224" y="113333"/>
                </a:cubicBezTo>
                <a:cubicBezTo>
                  <a:pt x="975172" y="120427"/>
                  <a:pt x="972145" y="129480"/>
                  <a:pt x="972145" y="140494"/>
                </a:cubicBezTo>
                <a:lnTo>
                  <a:pt x="972145" y="234404"/>
                </a:lnTo>
                <a:lnTo>
                  <a:pt x="924074" y="234404"/>
                </a:lnTo>
                <a:lnTo>
                  <a:pt x="924074" y="69800"/>
                </a:lnTo>
                <a:lnTo>
                  <a:pt x="972145" y="69800"/>
                </a:lnTo>
                <a:lnTo>
                  <a:pt x="972145" y="95994"/>
                </a:lnTo>
                <a:lnTo>
                  <a:pt x="972741" y="95994"/>
                </a:lnTo>
                <a:cubicBezTo>
                  <a:pt x="984746" y="75853"/>
                  <a:pt x="1002407" y="65782"/>
                  <a:pt x="1025724" y="65782"/>
                </a:cubicBezTo>
                <a:close/>
                <a:moveTo>
                  <a:pt x="814834" y="65782"/>
                </a:moveTo>
                <a:cubicBezTo>
                  <a:pt x="838150" y="65782"/>
                  <a:pt x="856382" y="72851"/>
                  <a:pt x="869528" y="86990"/>
                </a:cubicBezTo>
                <a:cubicBezTo>
                  <a:pt x="882675" y="101129"/>
                  <a:pt x="889248" y="120551"/>
                  <a:pt x="889248" y="145256"/>
                </a:cubicBezTo>
                <a:lnTo>
                  <a:pt x="889248" y="165646"/>
                </a:lnTo>
                <a:lnTo>
                  <a:pt x="780901" y="165646"/>
                </a:lnTo>
                <a:cubicBezTo>
                  <a:pt x="782588" y="191145"/>
                  <a:pt x="797967" y="203894"/>
                  <a:pt x="827038" y="203894"/>
                </a:cubicBezTo>
                <a:cubicBezTo>
                  <a:pt x="845195" y="203894"/>
                  <a:pt x="861219" y="199430"/>
                  <a:pt x="875109" y="190500"/>
                </a:cubicBezTo>
                <a:lnTo>
                  <a:pt x="875109" y="225772"/>
                </a:lnTo>
                <a:cubicBezTo>
                  <a:pt x="860127" y="234206"/>
                  <a:pt x="840482" y="238423"/>
                  <a:pt x="816173" y="238423"/>
                </a:cubicBezTo>
                <a:cubicBezTo>
                  <a:pt x="789980" y="238423"/>
                  <a:pt x="769615" y="231031"/>
                  <a:pt x="755079" y="216247"/>
                </a:cubicBezTo>
                <a:cubicBezTo>
                  <a:pt x="740544" y="201464"/>
                  <a:pt x="733276" y="180876"/>
                  <a:pt x="733276" y="154484"/>
                </a:cubicBezTo>
                <a:cubicBezTo>
                  <a:pt x="733276" y="128191"/>
                  <a:pt x="741015" y="106834"/>
                  <a:pt x="756493" y="90413"/>
                </a:cubicBezTo>
                <a:cubicBezTo>
                  <a:pt x="771971" y="73992"/>
                  <a:pt x="791418" y="65782"/>
                  <a:pt x="814834" y="65782"/>
                </a:cubicBezTo>
                <a:close/>
                <a:moveTo>
                  <a:pt x="520898" y="65782"/>
                </a:moveTo>
                <a:cubicBezTo>
                  <a:pt x="557411" y="65782"/>
                  <a:pt x="575667" y="88404"/>
                  <a:pt x="575667" y="133648"/>
                </a:cubicBezTo>
                <a:lnTo>
                  <a:pt x="575667" y="234404"/>
                </a:lnTo>
                <a:lnTo>
                  <a:pt x="527893" y="234404"/>
                </a:lnTo>
                <a:lnTo>
                  <a:pt x="527893" y="142577"/>
                </a:lnTo>
                <a:cubicBezTo>
                  <a:pt x="527893" y="115987"/>
                  <a:pt x="518319" y="102691"/>
                  <a:pt x="499170" y="102691"/>
                </a:cubicBezTo>
                <a:cubicBezTo>
                  <a:pt x="490041" y="102691"/>
                  <a:pt x="482451" y="106238"/>
                  <a:pt x="476399" y="113333"/>
                </a:cubicBezTo>
                <a:cubicBezTo>
                  <a:pt x="470346" y="120427"/>
                  <a:pt x="467320" y="129480"/>
                  <a:pt x="467320" y="140494"/>
                </a:cubicBezTo>
                <a:lnTo>
                  <a:pt x="467320" y="234404"/>
                </a:lnTo>
                <a:lnTo>
                  <a:pt x="419249" y="234404"/>
                </a:lnTo>
                <a:lnTo>
                  <a:pt x="419249" y="69800"/>
                </a:lnTo>
                <a:lnTo>
                  <a:pt x="467320" y="69800"/>
                </a:lnTo>
                <a:lnTo>
                  <a:pt x="467320" y="95994"/>
                </a:lnTo>
                <a:lnTo>
                  <a:pt x="467916" y="95994"/>
                </a:lnTo>
                <a:cubicBezTo>
                  <a:pt x="479921" y="75853"/>
                  <a:pt x="497582" y="65782"/>
                  <a:pt x="520898" y="65782"/>
                </a:cubicBezTo>
                <a:close/>
                <a:moveTo>
                  <a:pt x="299145" y="65782"/>
                </a:moveTo>
                <a:cubicBezTo>
                  <a:pt x="325636" y="65782"/>
                  <a:pt x="346670" y="73397"/>
                  <a:pt x="362248" y="88627"/>
                </a:cubicBezTo>
                <a:cubicBezTo>
                  <a:pt x="377825" y="103857"/>
                  <a:pt x="385614" y="124321"/>
                  <a:pt x="385614" y="150019"/>
                </a:cubicBezTo>
                <a:cubicBezTo>
                  <a:pt x="385614" y="177006"/>
                  <a:pt x="377627" y="198487"/>
                  <a:pt x="361652" y="214461"/>
                </a:cubicBezTo>
                <a:cubicBezTo>
                  <a:pt x="345678" y="230435"/>
                  <a:pt x="324048" y="238423"/>
                  <a:pt x="296763" y="238423"/>
                </a:cubicBezTo>
                <a:cubicBezTo>
                  <a:pt x="269974" y="238423"/>
                  <a:pt x="248717" y="230758"/>
                  <a:pt x="232990" y="215429"/>
                </a:cubicBezTo>
                <a:cubicBezTo>
                  <a:pt x="217264" y="200099"/>
                  <a:pt x="209401" y="179239"/>
                  <a:pt x="209401" y="152846"/>
                </a:cubicBezTo>
                <a:cubicBezTo>
                  <a:pt x="209401" y="125760"/>
                  <a:pt x="217512" y="104477"/>
                  <a:pt x="233735" y="88999"/>
                </a:cubicBezTo>
                <a:cubicBezTo>
                  <a:pt x="249957" y="73521"/>
                  <a:pt x="271760" y="65782"/>
                  <a:pt x="299145" y="65782"/>
                </a:cubicBezTo>
                <a:close/>
                <a:moveTo>
                  <a:pt x="1183481" y="19943"/>
                </a:moveTo>
                <a:lnTo>
                  <a:pt x="1183481" y="69800"/>
                </a:lnTo>
                <a:lnTo>
                  <a:pt x="1220986" y="69800"/>
                </a:lnTo>
                <a:lnTo>
                  <a:pt x="1220986" y="105668"/>
                </a:lnTo>
                <a:lnTo>
                  <a:pt x="1183481" y="105668"/>
                </a:lnTo>
                <a:lnTo>
                  <a:pt x="1183481" y="175022"/>
                </a:lnTo>
                <a:cubicBezTo>
                  <a:pt x="1183481" y="192584"/>
                  <a:pt x="1190427" y="201364"/>
                  <a:pt x="1204317" y="201364"/>
                </a:cubicBezTo>
                <a:cubicBezTo>
                  <a:pt x="1209675" y="201364"/>
                  <a:pt x="1215231" y="199777"/>
                  <a:pt x="1220986" y="196602"/>
                </a:cubicBezTo>
                <a:lnTo>
                  <a:pt x="1220986" y="232469"/>
                </a:lnTo>
                <a:cubicBezTo>
                  <a:pt x="1213743" y="236438"/>
                  <a:pt x="1202779" y="238423"/>
                  <a:pt x="1188095" y="238423"/>
                </a:cubicBezTo>
                <a:cubicBezTo>
                  <a:pt x="1153170" y="238423"/>
                  <a:pt x="1135708" y="220067"/>
                  <a:pt x="1135708" y="183356"/>
                </a:cubicBezTo>
                <a:lnTo>
                  <a:pt x="1135708" y="105668"/>
                </a:lnTo>
                <a:lnTo>
                  <a:pt x="1108621" y="105668"/>
                </a:lnTo>
                <a:lnTo>
                  <a:pt x="1108621" y="69800"/>
                </a:lnTo>
                <a:lnTo>
                  <a:pt x="1135708" y="69800"/>
                </a:lnTo>
                <a:lnTo>
                  <a:pt x="1135708" y="33635"/>
                </a:lnTo>
                <a:close/>
                <a:moveTo>
                  <a:pt x="678656" y="19943"/>
                </a:moveTo>
                <a:lnTo>
                  <a:pt x="678656" y="69800"/>
                </a:lnTo>
                <a:lnTo>
                  <a:pt x="716161" y="69800"/>
                </a:lnTo>
                <a:lnTo>
                  <a:pt x="716161" y="105668"/>
                </a:lnTo>
                <a:lnTo>
                  <a:pt x="678656" y="105668"/>
                </a:lnTo>
                <a:lnTo>
                  <a:pt x="678656" y="175022"/>
                </a:lnTo>
                <a:cubicBezTo>
                  <a:pt x="678656" y="192584"/>
                  <a:pt x="685602" y="201364"/>
                  <a:pt x="699492" y="201364"/>
                </a:cubicBezTo>
                <a:cubicBezTo>
                  <a:pt x="704850" y="201364"/>
                  <a:pt x="710406" y="199777"/>
                  <a:pt x="716161" y="196602"/>
                </a:cubicBezTo>
                <a:lnTo>
                  <a:pt x="716161" y="232469"/>
                </a:lnTo>
                <a:cubicBezTo>
                  <a:pt x="708918" y="236438"/>
                  <a:pt x="697954" y="238423"/>
                  <a:pt x="683270" y="238423"/>
                </a:cubicBezTo>
                <a:cubicBezTo>
                  <a:pt x="648345" y="238423"/>
                  <a:pt x="630882" y="220067"/>
                  <a:pt x="630882" y="183356"/>
                </a:cubicBezTo>
                <a:lnTo>
                  <a:pt x="630882" y="105668"/>
                </a:lnTo>
                <a:lnTo>
                  <a:pt x="603796" y="105668"/>
                </a:lnTo>
                <a:lnTo>
                  <a:pt x="603796" y="69800"/>
                </a:lnTo>
                <a:lnTo>
                  <a:pt x="630882" y="69800"/>
                </a:lnTo>
                <a:lnTo>
                  <a:pt x="630882" y="33635"/>
                </a:lnTo>
                <a:close/>
                <a:moveTo>
                  <a:pt x="122337" y="0"/>
                </a:moveTo>
                <a:cubicBezTo>
                  <a:pt x="144859" y="0"/>
                  <a:pt x="163711" y="2927"/>
                  <a:pt x="178891" y="8781"/>
                </a:cubicBezTo>
                <a:lnTo>
                  <a:pt x="178891" y="56257"/>
                </a:lnTo>
                <a:cubicBezTo>
                  <a:pt x="163314" y="47129"/>
                  <a:pt x="145653" y="42565"/>
                  <a:pt x="125909" y="42565"/>
                </a:cubicBezTo>
                <a:cubicBezTo>
                  <a:pt x="103386" y="42565"/>
                  <a:pt x="85378" y="49758"/>
                  <a:pt x="71884" y="64145"/>
                </a:cubicBezTo>
                <a:cubicBezTo>
                  <a:pt x="58390" y="78532"/>
                  <a:pt x="51643" y="97334"/>
                  <a:pt x="51643" y="120551"/>
                </a:cubicBezTo>
                <a:cubicBezTo>
                  <a:pt x="51643" y="143173"/>
                  <a:pt x="58043" y="161379"/>
                  <a:pt x="70842" y="175171"/>
                </a:cubicBezTo>
                <a:cubicBezTo>
                  <a:pt x="83641" y="188962"/>
                  <a:pt x="100955" y="195858"/>
                  <a:pt x="122783" y="195858"/>
                </a:cubicBezTo>
                <a:cubicBezTo>
                  <a:pt x="143321" y="195858"/>
                  <a:pt x="162024" y="190897"/>
                  <a:pt x="178891" y="180975"/>
                </a:cubicBezTo>
                <a:lnTo>
                  <a:pt x="178891" y="226070"/>
                </a:lnTo>
                <a:cubicBezTo>
                  <a:pt x="162123" y="234305"/>
                  <a:pt x="140246" y="238423"/>
                  <a:pt x="113258" y="238423"/>
                </a:cubicBezTo>
                <a:cubicBezTo>
                  <a:pt x="78532" y="238423"/>
                  <a:pt x="50974" y="228029"/>
                  <a:pt x="30584" y="207243"/>
                </a:cubicBezTo>
                <a:cubicBezTo>
                  <a:pt x="10195" y="186457"/>
                  <a:pt x="0" y="158750"/>
                  <a:pt x="0" y="124123"/>
                </a:cubicBezTo>
                <a:cubicBezTo>
                  <a:pt x="0" y="87709"/>
                  <a:pt x="11385" y="57919"/>
                  <a:pt x="34156" y="34751"/>
                </a:cubicBezTo>
                <a:cubicBezTo>
                  <a:pt x="56927" y="11584"/>
                  <a:pt x="86320" y="0"/>
                  <a:pt x="1223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indent="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  <a:latin typeface="+mn-ea"/>
                <a:cs typeface="+mn-ea"/>
                <a:sym typeface="+mn-ea"/>
              </a:defRPr>
            </a:lvl1pPr>
            <a:lvl2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2pPr>
            <a:lvl3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3pPr>
            <a:lvl4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4pPr>
            <a:lvl5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 userDrawn="1"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square" anchor="b">
            <a:normAutofit/>
          </a:bodyPr>
          <a:lstStyle>
            <a:lvl1pPr marL="0" indent="0" algn="l">
              <a:buNone/>
              <a:defRPr sz="60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 userDrawn="1"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图片 8" descr="C:/Users/kingsoft/AppData/Local/Temp/fig2wpp/@svg_UnionUnion_#color-2113&amp;643.svg"/>
          <p:cNvSpPr/>
          <p:nvPr userDrawn="1"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9" Type="http://schemas.openxmlformats.org/officeDocument/2006/relationships/slideLayout" Target="../slideLayouts/slideLayout3.xml"/><Relationship Id="rId18" Type="http://schemas.openxmlformats.org/officeDocument/2006/relationships/tags" Target="../tags/tag88.xml"/><Relationship Id="rId17" Type="http://schemas.openxmlformats.org/officeDocument/2006/relationships/tags" Target="../tags/tag87.xml"/><Relationship Id="rId16" Type="http://schemas.openxmlformats.org/officeDocument/2006/relationships/tags" Target="../tags/tag86.xml"/><Relationship Id="rId15" Type="http://schemas.openxmlformats.org/officeDocument/2006/relationships/tags" Target="../tags/tag85.xml"/><Relationship Id="rId14" Type="http://schemas.openxmlformats.org/officeDocument/2006/relationships/tags" Target="../tags/tag84.xml"/><Relationship Id="rId13" Type="http://schemas.openxmlformats.org/officeDocument/2006/relationships/tags" Target="../tags/tag83.xml"/><Relationship Id="rId12" Type="http://schemas.openxmlformats.org/officeDocument/2006/relationships/tags" Target="../tags/tag8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tags" Target="../tags/tag7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4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0" Type="http://schemas.openxmlformats.org/officeDocument/2006/relationships/slideLayout" Target="../slideLayouts/slideLayout4.xml"/><Relationship Id="rId1" Type="http://schemas.openxmlformats.org/officeDocument/2006/relationships/tags" Target="../tags/tag12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tags" Target="../tags/tag13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tags" Target="../tags/tag14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67.xml"/><Relationship Id="rId13" Type="http://schemas.openxmlformats.org/officeDocument/2006/relationships/tags" Target="../tags/tag166.xml"/><Relationship Id="rId12" Type="http://schemas.openxmlformats.org/officeDocument/2006/relationships/tags" Target="../tags/tag165.xml"/><Relationship Id="rId11" Type="http://schemas.openxmlformats.org/officeDocument/2006/relationships/tags" Target="../tags/tag164.xml"/><Relationship Id="rId10" Type="http://schemas.openxmlformats.org/officeDocument/2006/relationships/tags" Target="../tags/tag163.xml"/><Relationship Id="rId1" Type="http://schemas.openxmlformats.org/officeDocument/2006/relationships/tags" Target="../tags/tag154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2.xml"/><Relationship Id="rId1" Type="http://schemas.openxmlformats.org/officeDocument/2006/relationships/tags" Target="../tags/tag171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0.xml"/><Relationship Id="rId1" Type="http://schemas.openxmlformats.org/officeDocument/2006/relationships/tags" Target="../tags/tag179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" Type="http://schemas.openxmlformats.org/officeDocument/2006/relationships/tags" Target="../tags/tag181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" Type="http://schemas.openxmlformats.org/officeDocument/2006/relationships/tags" Target="../tags/tag184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tags" Target="../tags/tag187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tags" Target="../tags/tag190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tags" Target="../tags/tag19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1005" y="2878833"/>
            <a:ext cx="10043122" cy="1800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上财易</a:t>
            </a:r>
            <a:r>
              <a:rPr lang="zh-CN" altLang="en-US" dirty="0"/>
              <a:t>物</a:t>
            </a:r>
            <a:endParaRPr lang="zh-CN" altLang="en-US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146555" y="5259829"/>
            <a:ext cx="10043122" cy="579632"/>
          </a:xfrm>
        </p:spPr>
        <p:txBody>
          <a:bodyPr wrap="square">
            <a:normAutofit/>
          </a:bodyPr>
          <a:lstStyle/>
          <a:p>
            <a:pPr algn="l"/>
            <a:r>
              <a:rPr lang="en-US" altLang="zh-CN" dirty="0">
                <a:latin typeface="华文行楷" panose="02010800040101010101" charset="-122"/>
                <a:ea typeface="华文行楷" panose="02010800040101010101" charset="-122"/>
              </a:rPr>
              <a:t> </a:t>
            </a:r>
            <a:r>
              <a:rPr lang="zh-CN" altLang="en-US" dirty="0">
                <a:latin typeface="华文行楷" panose="02010800040101010101" charset="-122"/>
                <a:ea typeface="华文行楷" panose="02010800040101010101" charset="-122"/>
              </a:rPr>
              <a:t>汇</a:t>
            </a:r>
            <a:r>
              <a:rPr lang="en-US" altLang="zh-CN" dirty="0">
                <a:latin typeface="华文行楷" panose="02010800040101010101" charset="-122"/>
                <a:ea typeface="华文行楷" panose="02010800040101010101" charset="-122"/>
              </a:rPr>
              <a:t>  </a:t>
            </a:r>
            <a:r>
              <a:rPr lang="zh-CN" altLang="en-US" dirty="0">
                <a:latin typeface="华文行楷" panose="02010800040101010101" charset="-122"/>
                <a:ea typeface="华文行楷" panose="02010800040101010101" charset="-122"/>
              </a:rPr>
              <a:t>报</a:t>
            </a:r>
            <a:r>
              <a:rPr lang="en-US" altLang="zh-CN" dirty="0">
                <a:latin typeface="华文行楷" panose="02010800040101010101" charset="-122"/>
                <a:ea typeface="华文行楷" panose="02010800040101010101" charset="-122"/>
              </a:rPr>
              <a:t> </a:t>
            </a:r>
            <a:r>
              <a:rPr lang="zh-CN" altLang="en-US" dirty="0">
                <a:latin typeface="华文行楷" panose="02010800040101010101" charset="-122"/>
                <a:ea typeface="华文行楷" panose="02010800040101010101" charset="-122"/>
              </a:rPr>
              <a:t>：张睿桐、唐</a:t>
            </a:r>
            <a:r>
              <a:rPr lang="en-US" altLang="zh-CN" dirty="0">
                <a:latin typeface="华文行楷" panose="02010800040101010101" charset="-122"/>
                <a:ea typeface="华文行楷" panose="02010800040101010101" charset="-122"/>
              </a:rPr>
              <a:t>    </a:t>
            </a:r>
            <a:r>
              <a:rPr lang="zh-CN" altLang="en-US" dirty="0">
                <a:latin typeface="华文行楷" panose="02010800040101010101" charset="-122"/>
                <a:ea typeface="华文行楷" panose="02010800040101010101" charset="-122"/>
              </a:rPr>
              <a:t>燕</a:t>
            </a:r>
            <a:endParaRPr lang="zh-CN" altLang="en-US" dirty="0"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9944100" y="4494530"/>
            <a:ext cx="2729230" cy="2691765"/>
          </a:xfrm>
          <a:prstGeom prst="ellipse">
            <a:avLst/>
          </a:prstGeom>
          <a:solidFill>
            <a:schemeClr val="accent1">
              <a:alpha val="64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184255" y="3321685"/>
            <a:ext cx="914400" cy="914400"/>
          </a:xfrm>
          <a:prstGeom prst="ellipse">
            <a:avLst/>
          </a:prstGeom>
          <a:solidFill>
            <a:schemeClr val="accent1">
              <a:alpha val="46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748395" y="5577205"/>
            <a:ext cx="798830" cy="777875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alpha val="46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94105" y="594106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2400" dirty="0">
                <a:solidFill>
                  <a:schemeClr val="accent1"/>
                </a:solidFill>
                <a:latin typeface="华文行楷" panose="02010800040101010101" charset="-122"/>
                <a:ea typeface="华文行楷" panose="02010800040101010101" charset="-122"/>
                <a:cs typeface="+mn-ea"/>
                <a:sym typeface="+mn-ea"/>
              </a:rPr>
              <a:t>文</a:t>
            </a:r>
            <a:r>
              <a:rPr lang="en-US" altLang="zh-CN" sz="2400" dirty="0">
                <a:solidFill>
                  <a:schemeClr val="accent1"/>
                </a:solidFill>
                <a:latin typeface="华文行楷" panose="02010800040101010101" charset="-122"/>
                <a:ea typeface="华文行楷" panose="02010800040101010101" charset="-122"/>
                <a:cs typeface="+mn-ea"/>
                <a:sym typeface="+mn-ea"/>
              </a:rPr>
              <a:t>  </a:t>
            </a:r>
            <a:r>
              <a:rPr lang="zh-CN" altLang="en-US" sz="2400" dirty="0">
                <a:solidFill>
                  <a:schemeClr val="accent1"/>
                </a:solidFill>
                <a:latin typeface="华文行楷" panose="02010800040101010101" charset="-122"/>
                <a:ea typeface="华文行楷" panose="02010800040101010101" charset="-122"/>
                <a:cs typeface="+mn-ea"/>
                <a:sym typeface="+mn-ea"/>
              </a:rPr>
              <a:t>稿</a:t>
            </a:r>
            <a:r>
              <a:rPr lang="en-US" altLang="zh-CN" sz="2400" dirty="0">
                <a:solidFill>
                  <a:schemeClr val="accent1"/>
                </a:solidFill>
                <a:latin typeface="华文行楷" panose="02010800040101010101" charset="-122"/>
                <a:ea typeface="华文行楷" panose="02010800040101010101" charset="-122"/>
                <a:cs typeface="+mn-ea"/>
                <a:sym typeface="+mn-ea"/>
              </a:rPr>
              <a:t> </a:t>
            </a:r>
            <a:r>
              <a:rPr lang="zh-CN" altLang="en-US" sz="2400" dirty="0">
                <a:solidFill>
                  <a:schemeClr val="accent1"/>
                </a:solidFill>
                <a:latin typeface="华文行楷" panose="02010800040101010101" charset="-122"/>
                <a:ea typeface="华文行楷" panose="02010800040101010101" charset="-122"/>
                <a:cs typeface="+mn-ea"/>
                <a:sym typeface="+mn-ea"/>
              </a:rPr>
              <a:t>：</a:t>
            </a:r>
            <a:r>
              <a:rPr lang="en-US" altLang="zh-CN" sz="2400" dirty="0">
                <a:solidFill>
                  <a:schemeClr val="accent1"/>
                </a:solidFill>
                <a:latin typeface="华文行楷" panose="02010800040101010101" charset="-122"/>
                <a:ea typeface="华文行楷" panose="02010800040101010101" charset="-122"/>
                <a:cs typeface="+mn-ea"/>
                <a:sym typeface="+mn-ea"/>
              </a:rPr>
              <a:t> </a:t>
            </a:r>
            <a:r>
              <a:rPr lang="zh-CN" altLang="en-US" sz="2400" dirty="0">
                <a:solidFill>
                  <a:schemeClr val="accent1"/>
                </a:solidFill>
                <a:latin typeface="华文行楷" panose="02010800040101010101" charset="-122"/>
                <a:ea typeface="华文行楷" panose="02010800040101010101" charset="-122"/>
                <a:cs typeface="+mn-ea"/>
                <a:sym typeface="+mn-ea"/>
              </a:rPr>
              <a:t>廖依凡、孙星怡</a:t>
            </a:r>
            <a:endParaRPr lang="zh-CN" altLang="en-US" sz="2400" dirty="0">
              <a:solidFill>
                <a:schemeClr val="accent1"/>
              </a:solidFill>
              <a:latin typeface="华文行楷" panose="02010800040101010101" charset="-122"/>
              <a:ea typeface="华文行楷" panose="02010800040101010101" charset="-122"/>
              <a:cs typeface="+mn-ea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94105" y="557720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en-US" altLang="zh-CN" sz="2400" dirty="0">
                <a:solidFill>
                  <a:schemeClr val="accent1"/>
                </a:solidFill>
                <a:latin typeface="华文行楷" panose="02010800040101010101" charset="-122"/>
                <a:ea typeface="华文行楷" panose="02010800040101010101" charset="-122"/>
                <a:cs typeface="+mn-ea"/>
                <a:sym typeface="+mn-ea"/>
              </a:rPr>
              <a:t> </a:t>
            </a:r>
            <a:r>
              <a:rPr lang="zh-CN" altLang="en-US" sz="2400" dirty="0">
                <a:solidFill>
                  <a:schemeClr val="accent1"/>
                </a:solidFill>
                <a:latin typeface="华文行楷" panose="02010800040101010101" charset="-122"/>
                <a:ea typeface="华文行楷" panose="02010800040101010101" charset="-122"/>
                <a:cs typeface="+mn-ea"/>
                <a:sym typeface="+mn-ea"/>
              </a:rPr>
              <a:t>P</a:t>
            </a:r>
            <a:r>
              <a:rPr lang="en-US" altLang="zh-CN" sz="2400" dirty="0">
                <a:solidFill>
                  <a:schemeClr val="accent1"/>
                </a:solidFill>
                <a:latin typeface="华文行楷" panose="02010800040101010101" charset="-122"/>
                <a:ea typeface="华文行楷" panose="02010800040101010101" charset="-122"/>
                <a:cs typeface="+mn-ea"/>
                <a:sym typeface="+mn-ea"/>
              </a:rPr>
              <a:t> </a:t>
            </a:r>
            <a:r>
              <a:rPr lang="zh-CN" altLang="en-US" sz="2400" dirty="0">
                <a:solidFill>
                  <a:schemeClr val="accent1"/>
                </a:solidFill>
                <a:latin typeface="华文行楷" panose="02010800040101010101" charset="-122"/>
                <a:ea typeface="华文行楷" panose="02010800040101010101" charset="-122"/>
                <a:cs typeface="+mn-ea"/>
                <a:sym typeface="+mn-ea"/>
              </a:rPr>
              <a:t>P</a:t>
            </a:r>
            <a:r>
              <a:rPr lang="en-US" altLang="zh-CN" sz="2400" dirty="0">
                <a:solidFill>
                  <a:schemeClr val="accent1"/>
                </a:solidFill>
                <a:latin typeface="华文行楷" panose="02010800040101010101" charset="-122"/>
                <a:ea typeface="华文行楷" panose="02010800040101010101" charset="-122"/>
                <a:cs typeface="+mn-ea"/>
                <a:sym typeface="+mn-ea"/>
              </a:rPr>
              <a:t> </a:t>
            </a:r>
            <a:r>
              <a:rPr lang="zh-CN" altLang="en-US" sz="2400" dirty="0">
                <a:solidFill>
                  <a:schemeClr val="accent1"/>
                </a:solidFill>
                <a:latin typeface="华文行楷" panose="02010800040101010101" charset="-122"/>
                <a:ea typeface="华文行楷" panose="02010800040101010101" charset="-122"/>
                <a:cs typeface="+mn-ea"/>
                <a:sym typeface="+mn-ea"/>
              </a:rPr>
              <a:t>T</a:t>
            </a:r>
            <a:r>
              <a:rPr lang="en-US" altLang="zh-CN" sz="2400" dirty="0">
                <a:solidFill>
                  <a:schemeClr val="accent1"/>
                </a:solidFill>
                <a:latin typeface="华文行楷" panose="02010800040101010101" charset="-122"/>
                <a:ea typeface="华文行楷" panose="02010800040101010101" charset="-122"/>
                <a:cs typeface="+mn-ea"/>
                <a:sym typeface="+mn-ea"/>
              </a:rPr>
              <a:t> </a:t>
            </a:r>
            <a:r>
              <a:rPr lang="zh-CN" altLang="en-US" sz="2400" dirty="0">
                <a:solidFill>
                  <a:schemeClr val="accent1"/>
                </a:solidFill>
                <a:latin typeface="华文行楷" panose="02010800040101010101" charset="-122"/>
                <a:ea typeface="华文行楷" panose="02010800040101010101" charset="-122"/>
                <a:cs typeface="+mn-ea"/>
                <a:sym typeface="+mn-ea"/>
              </a:rPr>
              <a:t>:</a:t>
            </a:r>
            <a:r>
              <a:rPr lang="en-US" altLang="zh-CN" sz="2400" dirty="0">
                <a:solidFill>
                  <a:schemeClr val="accent1"/>
                </a:solidFill>
                <a:latin typeface="华文行楷" panose="02010800040101010101" charset="-122"/>
                <a:ea typeface="华文行楷" panose="02010800040101010101" charset="-122"/>
                <a:cs typeface="+mn-ea"/>
                <a:sym typeface="+mn-ea"/>
              </a:rPr>
              <a:t>   </a:t>
            </a:r>
            <a:r>
              <a:rPr lang="zh-CN" altLang="en-US" sz="2400" dirty="0">
                <a:solidFill>
                  <a:schemeClr val="accent1"/>
                </a:solidFill>
                <a:latin typeface="华文行楷" panose="02010800040101010101" charset="-122"/>
                <a:ea typeface="华文行楷" panose="02010800040101010101" charset="-122"/>
                <a:cs typeface="+mn-ea"/>
                <a:sym typeface="+mn-ea"/>
              </a:rPr>
              <a:t>刘</a:t>
            </a:r>
            <a:r>
              <a:rPr lang="en-US" altLang="zh-CN" sz="2400" dirty="0">
                <a:solidFill>
                  <a:schemeClr val="accent1"/>
                </a:solidFill>
                <a:latin typeface="华文行楷" panose="02010800040101010101" charset="-122"/>
                <a:ea typeface="华文行楷" panose="02010800040101010101" charset="-122"/>
                <a:cs typeface="+mn-ea"/>
                <a:sym typeface="+mn-ea"/>
              </a:rPr>
              <a:t>    </a:t>
            </a:r>
            <a:r>
              <a:rPr lang="zh-CN" altLang="en-US" sz="2400" dirty="0">
                <a:solidFill>
                  <a:schemeClr val="accent1"/>
                </a:solidFill>
                <a:latin typeface="华文行楷" panose="02010800040101010101" charset="-122"/>
                <a:ea typeface="华文行楷" panose="02010800040101010101" charset="-122"/>
                <a:cs typeface="+mn-ea"/>
                <a:sym typeface="+mn-ea"/>
              </a:rPr>
              <a:t>涵、兰云迪</a:t>
            </a:r>
            <a:endParaRPr lang="zh-CN" altLang="en-US" sz="2400" dirty="0">
              <a:solidFill>
                <a:schemeClr val="accent1"/>
              </a:solidFill>
              <a:latin typeface="华文行楷" panose="02010800040101010101" charset="-122"/>
              <a:ea typeface="华文行楷" panose="02010800040101010101" charset="-122"/>
              <a:cs typeface="+mn-ea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4025265" y="0"/>
            <a:ext cx="7887970" cy="6858000"/>
          </a:xfrm>
          <a:prstGeom prst="ellipse">
            <a:avLst/>
          </a:prstGeom>
          <a:solidFill>
            <a:schemeClr val="accent1">
              <a:alpha val="14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6" name="序号"/>
          <p:cNvSpPr txBox="1"/>
          <p:nvPr>
            <p:custDataLst>
              <p:tags r:id="rId2"/>
            </p:custDataLst>
          </p:nvPr>
        </p:nvSpPr>
        <p:spPr>
          <a:xfrm>
            <a:off x="6495229" y="3447764"/>
            <a:ext cx="539847" cy="4133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fontScale="90000"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01</a:t>
            </a:r>
            <a:endParaRPr lang="en-US" sz="28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7167361" y="3447841"/>
            <a:ext cx="2870085" cy="41318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CN" altLang="en-US" sz="2800" spc="300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项目概要</a:t>
            </a:r>
            <a:endParaRPr lang="zh-CN" altLang="en-US" sz="2800" spc="300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序号"/>
          <p:cNvSpPr txBox="1"/>
          <p:nvPr>
            <p:custDataLst>
              <p:tags r:id="rId4"/>
            </p:custDataLst>
          </p:nvPr>
        </p:nvSpPr>
        <p:spPr>
          <a:xfrm>
            <a:off x="6495229" y="4235036"/>
            <a:ext cx="539847" cy="4133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fontScale="90000"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02</a:t>
            </a:r>
            <a:endParaRPr lang="en-US" sz="28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项标题"/>
          <p:cNvSpPr txBox="1"/>
          <p:nvPr>
            <p:custDataLst>
              <p:tags r:id="rId5"/>
            </p:custDataLst>
          </p:nvPr>
        </p:nvSpPr>
        <p:spPr>
          <a:xfrm>
            <a:off x="7167361" y="4235114"/>
            <a:ext cx="2870085" cy="41318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CN" altLang="en-US" sz="2800" spc="300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项目背景</a:t>
            </a:r>
            <a:endParaRPr lang="zh-CN" altLang="en-US" sz="2800" spc="300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7" name="序号"/>
          <p:cNvSpPr txBox="1"/>
          <p:nvPr>
            <p:custDataLst>
              <p:tags r:id="rId6"/>
            </p:custDataLst>
          </p:nvPr>
        </p:nvSpPr>
        <p:spPr>
          <a:xfrm>
            <a:off x="6495229" y="5022309"/>
            <a:ext cx="539847" cy="4133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fontScale="90000"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03</a:t>
            </a:r>
            <a:endParaRPr lang="en-US" sz="28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项标题"/>
          <p:cNvSpPr txBox="1"/>
          <p:nvPr>
            <p:custDataLst>
              <p:tags r:id="rId7"/>
            </p:custDataLst>
          </p:nvPr>
        </p:nvSpPr>
        <p:spPr>
          <a:xfrm>
            <a:off x="7167361" y="5022387"/>
            <a:ext cx="2870085" cy="41318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CN" altLang="en-US" sz="2800" spc="300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调研分析</a:t>
            </a:r>
            <a:endParaRPr lang="zh-CN" altLang="en-US" sz="2800" spc="300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0" name="序号"/>
          <p:cNvSpPr txBox="1"/>
          <p:nvPr>
            <p:custDataLst>
              <p:tags r:id="rId8"/>
            </p:custDataLst>
          </p:nvPr>
        </p:nvSpPr>
        <p:spPr>
          <a:xfrm>
            <a:off x="6495229" y="5809582"/>
            <a:ext cx="539847" cy="4133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fontScale="90000"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04</a:t>
            </a:r>
            <a:endParaRPr lang="en-US" sz="28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1" name="项标题"/>
          <p:cNvSpPr txBox="1"/>
          <p:nvPr>
            <p:custDataLst>
              <p:tags r:id="rId9"/>
            </p:custDataLst>
          </p:nvPr>
        </p:nvSpPr>
        <p:spPr>
          <a:xfrm>
            <a:off x="7167361" y="5809660"/>
            <a:ext cx="2870085" cy="41318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CN" altLang="en-US" sz="2800" spc="300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目标群体</a:t>
            </a:r>
            <a:endParaRPr lang="zh-CN" altLang="en-US" sz="2800" spc="300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2" name="序号"/>
          <p:cNvSpPr txBox="1"/>
          <p:nvPr>
            <p:custDataLst>
              <p:tags r:id="rId10"/>
            </p:custDataLst>
          </p:nvPr>
        </p:nvSpPr>
        <p:spPr>
          <a:xfrm>
            <a:off x="8774244" y="3488404"/>
            <a:ext cx="539847" cy="4133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fontScale="90000"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05</a:t>
            </a:r>
            <a:endParaRPr lang="en-US" sz="28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3" name="项标题"/>
          <p:cNvSpPr txBox="1"/>
          <p:nvPr>
            <p:custDataLst>
              <p:tags r:id="rId11"/>
            </p:custDataLst>
          </p:nvPr>
        </p:nvSpPr>
        <p:spPr>
          <a:xfrm>
            <a:off x="9446376" y="3488481"/>
            <a:ext cx="2870085" cy="41318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CN" altLang="en-US" sz="2800" spc="300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产品功能</a:t>
            </a:r>
            <a:endParaRPr lang="zh-CN" altLang="en-US" sz="2800" spc="300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4" name="序号"/>
          <p:cNvSpPr txBox="1"/>
          <p:nvPr>
            <p:custDataLst>
              <p:tags r:id="rId12"/>
            </p:custDataLst>
          </p:nvPr>
        </p:nvSpPr>
        <p:spPr>
          <a:xfrm>
            <a:off x="8774244" y="4275676"/>
            <a:ext cx="539847" cy="4133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fontScale="90000"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06</a:t>
            </a:r>
            <a:endParaRPr lang="en-US" sz="28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5" name="项标题"/>
          <p:cNvSpPr txBox="1"/>
          <p:nvPr>
            <p:custDataLst>
              <p:tags r:id="rId13"/>
            </p:custDataLst>
          </p:nvPr>
        </p:nvSpPr>
        <p:spPr>
          <a:xfrm>
            <a:off x="9446376" y="4252894"/>
            <a:ext cx="2870085" cy="41318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CN" altLang="en-US" sz="2800" spc="300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盈利模式</a:t>
            </a:r>
            <a:endParaRPr lang="zh-CN" altLang="en-US" sz="2800" spc="300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6" name="序号"/>
          <p:cNvSpPr txBox="1"/>
          <p:nvPr>
            <p:custDataLst>
              <p:tags r:id="rId14"/>
            </p:custDataLst>
          </p:nvPr>
        </p:nvSpPr>
        <p:spPr>
          <a:xfrm>
            <a:off x="8774244" y="5040089"/>
            <a:ext cx="539847" cy="4133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fontScale="90000"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07</a:t>
            </a:r>
            <a:endParaRPr lang="en-US" sz="28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7" name="项标题"/>
          <p:cNvSpPr txBox="1"/>
          <p:nvPr>
            <p:custDataLst>
              <p:tags r:id="rId15"/>
            </p:custDataLst>
          </p:nvPr>
        </p:nvSpPr>
        <p:spPr>
          <a:xfrm>
            <a:off x="9446376" y="5040167"/>
            <a:ext cx="2870085" cy="41318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CN" altLang="en-US" sz="2800" spc="300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风险应对</a:t>
            </a:r>
            <a:endParaRPr lang="zh-CN" altLang="en-US" sz="2800" spc="300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8" name="序号"/>
          <p:cNvSpPr txBox="1"/>
          <p:nvPr>
            <p:custDataLst>
              <p:tags r:id="rId16"/>
            </p:custDataLst>
          </p:nvPr>
        </p:nvSpPr>
        <p:spPr>
          <a:xfrm>
            <a:off x="8774244" y="5827362"/>
            <a:ext cx="539847" cy="41334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fontScale="90000"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08</a:t>
            </a:r>
            <a:endParaRPr lang="en-US" sz="28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9" name="项标题"/>
          <p:cNvSpPr txBox="1"/>
          <p:nvPr>
            <p:custDataLst>
              <p:tags r:id="rId17"/>
            </p:custDataLst>
          </p:nvPr>
        </p:nvSpPr>
        <p:spPr>
          <a:xfrm>
            <a:off x="9446376" y="5827440"/>
            <a:ext cx="2870085" cy="41318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zh-CN" altLang="en-US" sz="2800" spc="300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进度安排</a:t>
            </a:r>
            <a:endParaRPr lang="zh-CN" altLang="en-US" sz="2800" spc="300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8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项目概要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10417810" y="1221105"/>
            <a:ext cx="935990" cy="918845"/>
          </a:xfrm>
          <a:prstGeom prst="ellipse">
            <a:avLst/>
          </a:prstGeom>
          <a:solidFill>
            <a:schemeClr val="accent1">
              <a:alpha val="5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7228840" y="3385185"/>
            <a:ext cx="1791970" cy="1784350"/>
          </a:xfrm>
          <a:prstGeom prst="ellips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项目概要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411604"/>
            <a:ext cx="10800000" cy="4873625"/>
          </a:xfrm>
        </p:spPr>
        <p:txBody>
          <a:bodyPr>
            <a:normAutofit fontScale="70000"/>
          </a:bodyPr>
          <a:lstStyle/>
          <a:p>
            <a:r>
              <a:rPr lang="zh-CN" altLang="en-US" sz="40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项目愿景</a:t>
            </a:r>
            <a:r>
              <a:rPr lang="zh-CN" altLang="en-US" sz="4000" b="1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</a:t>
            </a:r>
            <a:r>
              <a:rPr lang="zh-CN" altLang="en-US" sz="4000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打造一个专注于本校学生闲置物品交易的微信小程序。我们旨在解决学生群体中数码产品、生活用品、文体用品等物品的流转问题，构建一个安全、便捷、有趣的校园闲置物品循环社区。</a:t>
            </a:r>
            <a:endParaRPr lang="zh-CN" altLang="en-US" sz="4000">
              <a:solidFill>
                <a:srgbClr val="477D7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40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项目定位</a:t>
            </a:r>
            <a:r>
              <a:rPr lang="zh-CN" altLang="en-US" sz="4000" b="1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</a:t>
            </a:r>
            <a:r>
              <a:rPr lang="zh-CN" altLang="en-US" sz="4000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区别于</a:t>
            </a:r>
            <a:r>
              <a:rPr lang="en-US" altLang="zh-CN" sz="4000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4000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闲鱼</a:t>
            </a:r>
            <a:r>
              <a:rPr lang="en-US" altLang="zh-CN" sz="4000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4000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等大型平台，我们聚焦于本校弱实名社区，强化信任基础。与微信群、</a:t>
            </a:r>
            <a:r>
              <a:rPr lang="en-US" altLang="zh-CN" sz="4000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QQ</a:t>
            </a:r>
            <a:r>
              <a:rPr lang="zh-CN" altLang="en-US" sz="4000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群相比，我们提供标准化的信息发布与检索流程，提升交易效率。</a:t>
            </a:r>
            <a:r>
              <a:rPr lang="zh-CN" altLang="en-US" sz="4000" b="1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不仅有常规的教材、教辅等学习资料交易，而且拓展其他更具通用性的闲置物品的交易渠道。</a:t>
            </a:r>
            <a:endParaRPr lang="zh-CN" altLang="en-US" sz="4000">
              <a:solidFill>
                <a:srgbClr val="477D7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 sz="4000">
              <a:solidFill>
                <a:srgbClr val="477D7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项目背景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10221595" y="1214755"/>
            <a:ext cx="1149350" cy="1096010"/>
          </a:xfrm>
          <a:prstGeom prst="ellipse">
            <a:avLst/>
          </a:prstGeom>
          <a:ln>
            <a:solidFill>
              <a:schemeClr val="accent1">
                <a:alpha val="36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11192510" y="2569845"/>
            <a:ext cx="386715" cy="362585"/>
          </a:xfrm>
          <a:prstGeom prst="ellipse">
            <a:avLst/>
          </a:prstGeom>
          <a:ln>
            <a:solidFill>
              <a:schemeClr val="accent1">
                <a:alpha val="36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椭圆 6"/>
          <p:cNvSpPr/>
          <p:nvPr/>
        </p:nvSpPr>
        <p:spPr>
          <a:xfrm>
            <a:off x="-941070" y="3836035"/>
            <a:ext cx="4995545" cy="4895215"/>
          </a:xfrm>
          <a:prstGeom prst="ellipse">
            <a:avLst/>
          </a:prstGeom>
          <a:solidFill>
            <a:schemeClr val="accent1">
              <a:alpha val="27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469515" y="5659120"/>
            <a:ext cx="2630805" cy="2798445"/>
          </a:xfrm>
          <a:prstGeom prst="ellipse">
            <a:avLst/>
          </a:prstGeom>
          <a:ln>
            <a:solidFill>
              <a:schemeClr val="accent1">
                <a:alpha val="36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21335" y="389255"/>
            <a:ext cx="5828665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3600" b="1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市场潜力与供需关系</a:t>
            </a:r>
            <a:endParaRPr lang="zh-CN" altLang="en-US" sz="4800" b="1">
              <a:solidFill>
                <a:schemeClr val="accent1"/>
              </a:solidFill>
              <a:latin typeface="华文行楷" panose="02010800040101010101" charset="-122"/>
              <a:ea typeface="华文行楷" panose="02010800040101010101" charset="-122"/>
              <a:cs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28700" y="1659890"/>
            <a:ext cx="10539730" cy="423989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286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0"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altLang="en-US" sz="2400" b="0">
                <a:solidFill>
                  <a:srgbClr val="477D7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高校学生</a:t>
            </a:r>
            <a:r>
              <a:rPr lang="zh-CN" altLang="en-US" sz="2400" b="1">
                <a:solidFill>
                  <a:srgbClr val="477D7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群体庞大，消费能力强</a:t>
            </a:r>
            <a:r>
              <a:rPr lang="zh-CN" altLang="en-US" sz="2400" b="0">
                <a:solidFill>
                  <a:srgbClr val="477D7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，且具有明显的周期性流动特征（入学、升学、毕业）。每年毕业季会产生大量带不走的闲置物品，而新生入学又需要购置大量生活学习用品，形成了</a:t>
            </a:r>
            <a:r>
              <a:rPr lang="zh-CN" altLang="en-US" sz="2400" b="1">
                <a:solidFill>
                  <a:srgbClr val="477D7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天然的供需关系</a:t>
            </a:r>
            <a:r>
              <a:rPr lang="zh-CN" altLang="en-US" sz="2400" b="0">
                <a:solidFill>
                  <a:srgbClr val="477D7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。</a:t>
            </a:r>
            <a:endParaRPr lang="zh-CN" altLang="en-US" sz="2400" b="0">
              <a:solidFill>
                <a:srgbClr val="477D7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0" indent="2286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0">
                <a:solidFill>
                  <a:srgbClr val="477D7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</a:t>
            </a:r>
            <a:r>
              <a:rPr lang="zh-CN" altLang="en-US" sz="2400" b="0">
                <a:solidFill>
                  <a:srgbClr val="477D7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项目的核心需求源于校园内非学习类闲置物品的“</a:t>
            </a:r>
            <a:r>
              <a:rPr lang="zh-CN" altLang="en-US" sz="2400" b="1">
                <a:solidFill>
                  <a:srgbClr val="477D7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处置难”与“求购难”</a:t>
            </a:r>
            <a:r>
              <a:rPr lang="zh-CN" altLang="en-US" sz="2400" b="0">
                <a:solidFill>
                  <a:srgbClr val="477D7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矛盾。一方面，学生面临闲置物品“处置难”问题，特别是毕业季，大量数码产品（如耳机、键盘）、小家电、自行车、体育器材等物品因携带不便或升级换代而被闲置或丢弃，造成资源浪费和经济损失。另一方面，在校生存在</a:t>
            </a:r>
            <a:r>
              <a:rPr lang="zh-CN" altLang="en-US" sz="2400" b="1">
                <a:solidFill>
                  <a:srgbClr val="477D7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“购新贵”</a:t>
            </a:r>
            <a:r>
              <a:rPr lang="zh-CN" altLang="en-US" sz="2400" b="0">
                <a:solidFill>
                  <a:srgbClr val="477D7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现象，学生对电子产品、品牌衣物、高品质生活用品等有需求，但新品价格高昂，性价比高的二手物品成为理想选择，这符合学生群体价格敏感、追求品质和个性化的消费特点。</a:t>
            </a:r>
            <a:endParaRPr lang="zh-CN" altLang="en-US" sz="2400" b="0">
              <a:solidFill>
                <a:srgbClr val="477D7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椭圆 6"/>
          <p:cNvSpPr/>
          <p:nvPr/>
        </p:nvSpPr>
        <p:spPr>
          <a:xfrm>
            <a:off x="10130155" y="2031365"/>
            <a:ext cx="4995545" cy="4895215"/>
          </a:xfrm>
          <a:prstGeom prst="ellipse">
            <a:avLst/>
          </a:prstGeom>
          <a:solidFill>
            <a:schemeClr val="accent1">
              <a:alpha val="27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229090" y="4752340"/>
            <a:ext cx="2094230" cy="2105660"/>
          </a:xfrm>
          <a:prstGeom prst="ellipse">
            <a:avLst/>
          </a:prstGeom>
          <a:ln>
            <a:solidFill>
              <a:schemeClr val="accent1">
                <a:alpha val="36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21335" y="389255"/>
            <a:ext cx="804545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3600" b="1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现有交易渠道的痛点分析</a:t>
            </a:r>
            <a:endParaRPr lang="zh-CN" altLang="en-US" sz="4800" b="1">
              <a:solidFill>
                <a:schemeClr val="accent1"/>
              </a:solidFill>
              <a:latin typeface="华文行楷" panose="02010800040101010101" charset="-122"/>
              <a:ea typeface="华文行楷" panose="02010800040101010101" charset="-122"/>
              <a:cs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2935" y="1309370"/>
            <a:ext cx="10539730" cy="423989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2860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目前校园二手交易存在明显的渠道碎片化与信任难题。</a:t>
            </a:r>
            <a:endParaRPr lang="zh-CN" altLang="en-US" sz="2400" b="1">
              <a:solidFill>
                <a:srgbClr val="477D7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228600" algn="ctr" defTabSz="266700"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477D7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2286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0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传统交易渠道主要有三种形式，但均存在明显缺陷：</a:t>
            </a:r>
            <a:endParaRPr lang="zh-CN" altLang="en-US" sz="2400" b="0">
              <a:solidFill>
                <a:srgbClr val="477D7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22860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2400" b="0">
              <a:solidFill>
                <a:srgbClr val="477D7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2286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微信群</a:t>
            </a:r>
            <a:r>
              <a:rPr lang="en-US" altLang="zh-CN" sz="2400" b="1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/QQ</a:t>
            </a:r>
            <a:r>
              <a:rPr lang="zh-CN" altLang="en-US" sz="2400" b="1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群：</a:t>
            </a:r>
            <a:r>
              <a:rPr lang="zh-CN" altLang="en-US" sz="2400" b="0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信息杂乱，容易被刷屏覆盖，无法分类搜索，交易记录难以追溯，易产生纠纷。</a:t>
            </a:r>
            <a:endParaRPr lang="zh-CN" altLang="en-US" sz="2400" b="0">
              <a:solidFill>
                <a:srgbClr val="477D7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22860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2400" b="0">
              <a:solidFill>
                <a:srgbClr val="477D7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2286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闲鱼等大型平台：</a:t>
            </a:r>
            <a:r>
              <a:rPr lang="zh-CN" altLang="en-US" sz="2400" b="0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受众太广，难以聚焦校内，同城面交地域范围大、时间成本高，且存在一定安全风险。</a:t>
            </a:r>
            <a:endParaRPr lang="zh-CN" altLang="en-US" sz="2400" b="0">
              <a:solidFill>
                <a:srgbClr val="477D7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22860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 sz="2400" b="0">
              <a:solidFill>
                <a:srgbClr val="477D7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22860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校园论坛</a:t>
            </a:r>
            <a:r>
              <a:rPr lang="en-US" altLang="zh-CN" sz="2400" b="1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/</a:t>
            </a:r>
            <a:r>
              <a:rPr lang="zh-CN" altLang="en-US" sz="2400" b="1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布告栏：</a:t>
            </a:r>
            <a:r>
              <a:rPr lang="zh-CN" altLang="en-US" sz="2400" b="0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信息更新不及时，交互性差，沟通不便。这些现有渠道普遍存在信息不对称、商品状况描述不清、缺乏信任保障机制等问题。交易渠道的</a:t>
            </a:r>
            <a:r>
              <a:rPr lang="en-US" altLang="zh-CN" sz="2400" b="0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2400" b="0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碎片化</a:t>
            </a:r>
            <a:r>
              <a:rPr lang="en-US" altLang="zh-CN" sz="2400" b="0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2400" b="0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与</a:t>
            </a:r>
            <a:r>
              <a:rPr lang="en-US" altLang="zh-CN" sz="2400" b="0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2400" b="0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信任难</a:t>
            </a:r>
            <a:r>
              <a:rPr lang="en-US" altLang="zh-CN" sz="2400" b="0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2400" b="0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已成为制约校园二手交易发展的主要障碍。</a:t>
            </a:r>
            <a:endParaRPr lang="zh-CN" altLang="en-US" sz="2400" b="0">
              <a:solidFill>
                <a:srgbClr val="477D7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椭圆 6"/>
          <p:cNvSpPr/>
          <p:nvPr/>
        </p:nvSpPr>
        <p:spPr>
          <a:xfrm>
            <a:off x="2357120" y="2649220"/>
            <a:ext cx="8159750" cy="7397750"/>
          </a:xfrm>
          <a:prstGeom prst="ellipse">
            <a:avLst/>
          </a:prstGeom>
          <a:solidFill>
            <a:schemeClr val="accent1">
              <a:alpha val="27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-1303020" y="4674235"/>
            <a:ext cx="4364355" cy="4385945"/>
          </a:xfrm>
          <a:prstGeom prst="ellipse">
            <a:avLst/>
          </a:prstGeom>
          <a:ln>
            <a:solidFill>
              <a:schemeClr val="accent1">
                <a:alpha val="36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21335" y="389255"/>
            <a:ext cx="804545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3600" b="1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技术门槛与机遇</a:t>
            </a:r>
            <a:endParaRPr lang="zh-CN" altLang="en-US" sz="4800" b="1">
              <a:solidFill>
                <a:schemeClr val="accent1"/>
              </a:solidFill>
              <a:latin typeface="华文行楷" panose="02010800040101010101" charset="-122"/>
              <a:ea typeface="华文行楷" panose="02010800040101010101" charset="-122"/>
              <a:cs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0410" y="1837055"/>
            <a:ext cx="10539730" cy="423989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p>
            <a:pPr marL="0" indent="22860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4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华文行楷" panose="02010800040101010101" charset="-122"/>
                <a:ea typeface="华文行楷" panose="02010800040101010101" charset="-122"/>
              </a:rPr>
              <a:t>小程序无需下载、即用即走</a:t>
            </a:r>
            <a:endParaRPr lang="zh-CN" altLang="en-US" sz="4400">
              <a:solidFill>
                <a:schemeClr val="tx1">
                  <a:lumMod val="75000"/>
                  <a:lumOff val="25000"/>
                </a:schemeClr>
              </a:solidFill>
              <a:effectLst/>
              <a:latin typeface="华文行楷" panose="02010800040101010101" charset="-122"/>
              <a:ea typeface="华文行楷" panose="02010800040101010101" charset="-122"/>
            </a:endParaRPr>
          </a:p>
          <a:p>
            <a:pPr marL="0" indent="228600" algn="ctr" defTabSz="266700">
              <a:spcBef>
                <a:spcPct val="0"/>
              </a:spcBef>
              <a:spcAft>
                <a:spcPct val="0"/>
              </a:spcAft>
            </a:pPr>
            <a:endParaRPr lang="zh-CN" altLang="en-US" sz="4400">
              <a:solidFill>
                <a:schemeClr val="tx1">
                  <a:lumMod val="75000"/>
                  <a:lumOff val="25000"/>
                </a:schemeClr>
              </a:solidFill>
              <a:effectLst/>
              <a:latin typeface="华文行楷" panose="02010800040101010101" charset="-122"/>
              <a:ea typeface="华文行楷" panose="02010800040101010101" charset="-122"/>
              <a:sym typeface="+mn-ea"/>
            </a:endParaRPr>
          </a:p>
          <a:p>
            <a:pPr marL="0" indent="22860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4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华文行楷" panose="02010800040101010101" charset="-122"/>
                <a:ea typeface="华文行楷" panose="02010800040101010101" charset="-122"/>
                <a:sym typeface="+mn-ea"/>
              </a:rPr>
              <a:t>实名认证体系</a:t>
            </a:r>
            <a:endParaRPr lang="zh-CN" altLang="en-US" sz="4400">
              <a:solidFill>
                <a:schemeClr val="tx1">
                  <a:lumMod val="75000"/>
                  <a:lumOff val="25000"/>
                </a:schemeClr>
              </a:solidFill>
              <a:effectLst/>
              <a:latin typeface="华文行楷" panose="02010800040101010101" charset="-122"/>
              <a:ea typeface="华文行楷" panose="02010800040101010101" charset="-122"/>
            </a:endParaRPr>
          </a:p>
          <a:p>
            <a:pPr marL="0" indent="228600" algn="ctr" defTabSz="266700">
              <a:spcBef>
                <a:spcPct val="0"/>
              </a:spcBef>
              <a:spcAft>
                <a:spcPct val="0"/>
              </a:spcAft>
            </a:pPr>
            <a:endParaRPr lang="zh-CN" altLang="en-US" sz="4400">
              <a:solidFill>
                <a:schemeClr val="tx1">
                  <a:lumMod val="75000"/>
                  <a:lumOff val="25000"/>
                </a:schemeClr>
              </a:solidFill>
              <a:effectLst/>
              <a:latin typeface="华文行楷" panose="02010800040101010101" charset="-122"/>
              <a:ea typeface="华文行楷" panose="02010800040101010101" charset="-122"/>
            </a:endParaRPr>
          </a:p>
          <a:p>
            <a:pPr marL="0" indent="22860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4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华文行楷" panose="02010800040101010101" charset="-122"/>
                <a:ea typeface="华文行楷" panose="02010800040101010101" charset="-122"/>
              </a:rPr>
              <a:t>天然的社交关系链</a:t>
            </a:r>
            <a:endParaRPr lang="zh-CN" altLang="en-US" sz="4400">
              <a:solidFill>
                <a:schemeClr val="tx1">
                  <a:lumMod val="75000"/>
                  <a:lumOff val="25000"/>
                </a:schemeClr>
              </a:solidFill>
              <a:effectLst/>
              <a:latin typeface="华文行楷" panose="02010800040101010101" charset="-122"/>
              <a:ea typeface="华文行楷" panose="02010800040101010101" charset="-122"/>
            </a:endParaRPr>
          </a:p>
          <a:p>
            <a:pPr marL="0" indent="228600" algn="ctr" defTabSz="266700">
              <a:spcBef>
                <a:spcPct val="0"/>
              </a:spcBef>
              <a:spcAft>
                <a:spcPct val="0"/>
              </a:spcAft>
            </a:pPr>
            <a:endParaRPr lang="zh-CN" altLang="en-US" sz="4400">
              <a:solidFill>
                <a:schemeClr val="tx1">
                  <a:lumMod val="75000"/>
                  <a:lumOff val="25000"/>
                </a:schemeClr>
              </a:solidFill>
              <a:effectLst/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调研分析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3" name="椭圆 12"/>
          <p:cNvSpPr/>
          <p:nvPr/>
        </p:nvSpPr>
        <p:spPr>
          <a:xfrm rot="13500000">
            <a:off x="10196830" y="1249045"/>
            <a:ext cx="1178560" cy="1200150"/>
          </a:xfrm>
          <a:prstGeom prst="ellipse">
            <a:avLst/>
          </a:prstGeom>
          <a:solidFill>
            <a:schemeClr val="accent1">
              <a:alpha val="27000"/>
            </a:schemeClr>
          </a:solidFill>
          <a:ln>
            <a:solidFill>
              <a:schemeClr val="accent1">
                <a:alpha val="36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10176510" y="6191885"/>
            <a:ext cx="385445" cy="400050"/>
          </a:xfrm>
          <a:prstGeom prst="ellipse">
            <a:avLst/>
          </a:prstGeom>
          <a:solidFill>
            <a:schemeClr val="accent1">
              <a:alpha val="3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 rot="13500000">
            <a:off x="3220085" y="212725"/>
            <a:ext cx="6697980" cy="6615430"/>
          </a:xfrm>
          <a:prstGeom prst="ellipse">
            <a:avLst/>
          </a:pr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8510905" y="132715"/>
            <a:ext cx="6548120" cy="6592570"/>
          </a:xfrm>
          <a:prstGeom prst="ellipse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 rot="13500000">
            <a:off x="5728970" y="235585"/>
            <a:ext cx="6697980" cy="6615430"/>
          </a:xfrm>
          <a:prstGeom prst="ellipse">
            <a:avLst/>
          </a:pr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标题 4"/>
          <p:cNvSpPr/>
          <p:nvPr>
            <p:ph type="title"/>
            <p:custDataLst>
              <p:tags r:id="rId1"/>
            </p:custDataLst>
          </p:nvPr>
        </p:nvSpPr>
        <p:spPr>
          <a:xfrm>
            <a:off x="9053195" y="668655"/>
            <a:ext cx="2574925" cy="6247130"/>
          </a:xfrm>
        </p:spPr>
        <p:txBody>
          <a:bodyPr vert="mongolianVert">
            <a:normAutofit/>
          </a:bodyPr>
          <a:p>
            <a:pPr algn="ctr"/>
            <a:r>
              <a:rPr lang="zh-CN" altLang="en-US"/>
              <a:t>新兴需求的发现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6" name="标题 4"/>
          <p:cNvSpPr/>
          <p:nvPr>
            <p:custDataLst>
              <p:tags r:id="rId2"/>
            </p:custDataLst>
          </p:nvPr>
        </p:nvSpPr>
        <p:spPr>
          <a:xfrm>
            <a:off x="5935980" y="617220"/>
            <a:ext cx="2574925" cy="6247130"/>
          </a:xfrm>
          <a:prstGeom prst="rect">
            <a:avLst/>
          </a:prstGeom>
        </p:spPr>
        <p:txBody>
          <a:bodyPr vert="mongolianVert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algn="ctr"/>
            <a:r>
              <a:rPr lang="zh-CN" altLang="en-US"/>
              <a:t>核心关切点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7" name="标题 4"/>
          <p:cNvSpPr/>
          <p:nvPr>
            <p:custDataLst>
              <p:tags r:id="rId3"/>
            </p:custDataLst>
          </p:nvPr>
        </p:nvSpPr>
        <p:spPr>
          <a:xfrm>
            <a:off x="3826510" y="468630"/>
            <a:ext cx="2574925" cy="6247130"/>
          </a:xfrm>
          <a:prstGeom prst="rect">
            <a:avLst/>
          </a:prstGeom>
        </p:spPr>
        <p:txBody>
          <a:bodyPr vert="mongolianVert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algn="ctr"/>
            <a:r>
              <a:rPr lang="zh-CN" altLang="en-US"/>
              <a:t>高闲置率与强交易意愿</a:t>
            </a:r>
            <a:br>
              <a:rPr lang="zh-CN" altLang="en-US"/>
            </a:br>
            <a:br>
              <a:rPr lang="zh-CN" altLang="en-US"/>
            </a:br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4"/>
          <p:cNvSpPr/>
          <p:nvPr>
            <p:custDataLst>
              <p:tags r:id="rId1"/>
            </p:custDataLst>
          </p:nvPr>
        </p:nvSpPr>
        <p:spPr>
          <a:xfrm>
            <a:off x="10661015" y="317500"/>
            <a:ext cx="2018665" cy="4683760"/>
          </a:xfrm>
          <a:prstGeom prst="rect">
            <a:avLst/>
          </a:prstGeom>
        </p:spPr>
        <p:txBody>
          <a:bodyPr vert="mongolianVert" wrap="square" lIns="269875" tIns="136525" rIns="269875" bIns="136525" rtlCol="0" anchor="t" anchorCtr="0">
            <a:normAutofit fontScale="900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algn="ctr"/>
            <a:r>
              <a:rPr lang="zh-CN" altLang="en-US">
                <a:solidFill>
                  <a:schemeClr val="accent1">
                    <a:alpha val="0"/>
                  </a:schemeClr>
                </a:solidFill>
              </a:rPr>
              <a:t>高闲置率与强交易意愿</a:t>
            </a:r>
            <a:br>
              <a:rPr lang="zh-CN" altLang="en-US">
                <a:solidFill>
                  <a:schemeClr val="accent1">
                    <a:alpha val="0"/>
                  </a:schemeClr>
                </a:solidFill>
              </a:rPr>
            </a:br>
            <a:br>
              <a:rPr lang="zh-CN" altLang="en-US">
                <a:solidFill>
                  <a:schemeClr val="accent1">
                    <a:alpha val="0"/>
                  </a:schemeClr>
                </a:solidFill>
              </a:rPr>
            </a:br>
            <a:endParaRPr lang="zh-CN" altLang="en-US">
              <a:solidFill>
                <a:schemeClr val="accent1">
                  <a:alpha val="0"/>
                </a:schemeClr>
              </a:solidFill>
            </a:endParaRPr>
          </a:p>
        </p:txBody>
      </p:sp>
      <p:sp>
        <p:nvSpPr>
          <p:cNvPr id="2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931035" y="1402715"/>
            <a:ext cx="7396480" cy="436118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1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大多数同学表示自己拥有</a:t>
            </a:r>
            <a:r>
              <a:rPr lang="en-US" altLang="zh-CN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</a:t>
            </a:r>
            <a:r>
              <a:rPr lang="zh-CN" altLang="en-US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件以上的闲置物品，其中教材、课外书、电子产品、体育用品、文创周边位列前五。</a:t>
            </a:r>
            <a:br>
              <a:rPr lang="zh-CN" altLang="en-US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</a:br>
            <a:br>
              <a:rPr lang="zh-CN" altLang="en-US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</a:br>
            <a:r>
              <a:rPr lang="en-US" altLang="zh-CN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同时，很多同学愿意购买二手商品，主要原因是</a:t>
            </a:r>
            <a:r>
              <a:rPr lang="en-US" altLang="zh-CN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“</a:t>
            </a:r>
            <a:r>
              <a:rPr lang="zh-CN" altLang="en-US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性价比高</a:t>
            </a:r>
            <a:r>
              <a:rPr lang="en-US" altLang="zh-CN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”</a:t>
            </a:r>
            <a:r>
              <a:rPr lang="zh-CN" altLang="en-US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和</a:t>
            </a:r>
            <a:r>
              <a:rPr lang="en-US" altLang="zh-CN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“</a:t>
            </a:r>
            <a:r>
              <a:rPr lang="zh-CN" altLang="en-US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环保</a:t>
            </a:r>
            <a:r>
              <a:rPr lang="en-US" altLang="zh-CN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”</a:t>
            </a:r>
            <a:r>
              <a:rPr lang="zh-CN" altLang="en-US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；同学愿意出售自己的闲置物品，主要目的是</a:t>
            </a:r>
            <a:r>
              <a:rPr lang="en-US" altLang="zh-CN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“</a:t>
            </a:r>
            <a:r>
              <a:rPr lang="zh-CN" altLang="en-US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回血</a:t>
            </a:r>
            <a:r>
              <a:rPr lang="en-US" altLang="zh-CN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”</a:t>
            </a:r>
            <a:r>
              <a:rPr lang="zh-CN" altLang="en-US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和</a:t>
            </a:r>
            <a:r>
              <a:rPr lang="en-US" altLang="zh-CN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“</a:t>
            </a:r>
            <a:r>
              <a:rPr lang="zh-CN" altLang="en-US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腾出空间</a:t>
            </a:r>
            <a:r>
              <a:rPr lang="en-US" altLang="zh-CN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”</a:t>
            </a:r>
            <a:r>
              <a:rPr lang="zh-CN" altLang="en-US" sz="31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。</a:t>
            </a:r>
            <a:br>
              <a:rPr lang="zh-CN" altLang="en-US" sz="31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</a:br>
            <a:br>
              <a:rPr lang="zh-CN" altLang="en-US" sz="31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</a:br>
            <a:endParaRPr lang="zh-CN" altLang="en-US" sz="2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标题 4"/>
          <p:cNvSpPr/>
          <p:nvPr>
            <p:custDataLst>
              <p:tags r:id="rId3"/>
            </p:custDataLst>
          </p:nvPr>
        </p:nvSpPr>
        <p:spPr>
          <a:xfrm flipH="1">
            <a:off x="10108084" y="-343063"/>
            <a:ext cx="4148781" cy="498364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534" h="7848">
                <a:moveTo>
                  <a:pt x="5124" y="7689"/>
                </a:moveTo>
                <a:lnTo>
                  <a:pt x="5191" y="7689"/>
                </a:lnTo>
                <a:lnTo>
                  <a:pt x="5191" y="7772"/>
                </a:lnTo>
                <a:cubicBezTo>
                  <a:pt x="5191" y="7814"/>
                  <a:pt x="5168" y="7834"/>
                  <a:pt x="5122" y="7834"/>
                </a:cubicBezTo>
                <a:lnTo>
                  <a:pt x="5046" y="7834"/>
                </a:lnTo>
                <a:cubicBezTo>
                  <a:pt x="5021" y="7834"/>
                  <a:pt x="5001" y="7829"/>
                  <a:pt x="4986" y="7818"/>
                </a:cubicBezTo>
                <a:cubicBezTo>
                  <a:pt x="4972" y="7807"/>
                  <a:pt x="4959" y="7781"/>
                  <a:pt x="4948" y="7739"/>
                </a:cubicBezTo>
                <a:cubicBezTo>
                  <a:pt x="4965" y="7732"/>
                  <a:pt x="4985" y="7719"/>
                  <a:pt x="5011" y="7702"/>
                </a:cubicBezTo>
                <a:cubicBezTo>
                  <a:pt x="5015" y="7736"/>
                  <a:pt x="5020" y="7757"/>
                  <a:pt x="5028" y="7765"/>
                </a:cubicBezTo>
                <a:cubicBezTo>
                  <a:pt x="5035" y="7773"/>
                  <a:pt x="5048" y="7777"/>
                  <a:pt x="5066" y="7777"/>
                </a:cubicBezTo>
                <a:lnTo>
                  <a:pt x="5093" y="7777"/>
                </a:lnTo>
                <a:cubicBezTo>
                  <a:pt x="5114" y="7777"/>
                  <a:pt x="5124" y="7768"/>
                  <a:pt x="5124" y="7749"/>
                </a:cubicBezTo>
                <a:lnTo>
                  <a:pt x="5124" y="7689"/>
                </a:lnTo>
                <a:close/>
                <a:moveTo>
                  <a:pt x="5264" y="7687"/>
                </a:moveTo>
                <a:cubicBezTo>
                  <a:pt x="5272" y="7729"/>
                  <a:pt x="5282" y="7768"/>
                  <a:pt x="5296" y="7802"/>
                </a:cubicBezTo>
                <a:lnTo>
                  <a:pt x="5237" y="7823"/>
                </a:lnTo>
                <a:cubicBezTo>
                  <a:pt x="5225" y="7790"/>
                  <a:pt x="5213" y="7750"/>
                  <a:pt x="5201" y="7702"/>
                </a:cubicBezTo>
                <a:lnTo>
                  <a:pt x="5264" y="7687"/>
                </a:lnTo>
                <a:close/>
                <a:moveTo>
                  <a:pt x="4906" y="7679"/>
                </a:moveTo>
                <a:lnTo>
                  <a:pt x="4962" y="7706"/>
                </a:lnTo>
                <a:cubicBezTo>
                  <a:pt x="4938" y="7747"/>
                  <a:pt x="4919" y="7783"/>
                  <a:pt x="4905" y="7814"/>
                </a:cubicBezTo>
                <a:lnTo>
                  <a:pt x="4847" y="7783"/>
                </a:lnTo>
                <a:cubicBezTo>
                  <a:pt x="4864" y="7749"/>
                  <a:pt x="4884" y="7715"/>
                  <a:pt x="4906" y="7679"/>
                </a:cubicBezTo>
                <a:close/>
                <a:moveTo>
                  <a:pt x="5088" y="7576"/>
                </a:moveTo>
                <a:lnTo>
                  <a:pt x="5088" y="7608"/>
                </a:lnTo>
                <a:cubicBezTo>
                  <a:pt x="5088" y="7616"/>
                  <a:pt x="5090" y="7621"/>
                  <a:pt x="5094" y="7623"/>
                </a:cubicBezTo>
                <a:cubicBezTo>
                  <a:pt x="5098" y="7626"/>
                  <a:pt x="5106" y="7627"/>
                  <a:pt x="5118" y="7627"/>
                </a:cubicBezTo>
                <a:cubicBezTo>
                  <a:pt x="5128" y="7627"/>
                  <a:pt x="5137" y="7627"/>
                  <a:pt x="5146" y="7626"/>
                </a:cubicBezTo>
                <a:cubicBezTo>
                  <a:pt x="5138" y="7621"/>
                  <a:pt x="5131" y="7616"/>
                  <a:pt x="5123" y="7611"/>
                </a:cubicBezTo>
                <a:lnTo>
                  <a:pt x="5157" y="7576"/>
                </a:lnTo>
                <a:lnTo>
                  <a:pt x="5088" y="7576"/>
                </a:lnTo>
                <a:close/>
                <a:moveTo>
                  <a:pt x="4956" y="7509"/>
                </a:moveTo>
                <a:lnTo>
                  <a:pt x="4956" y="7532"/>
                </a:lnTo>
                <a:lnTo>
                  <a:pt x="5175" y="7532"/>
                </a:lnTo>
                <a:lnTo>
                  <a:pt x="5175" y="7509"/>
                </a:lnTo>
                <a:lnTo>
                  <a:pt x="4956" y="7509"/>
                </a:lnTo>
                <a:close/>
                <a:moveTo>
                  <a:pt x="4956" y="7451"/>
                </a:moveTo>
                <a:lnTo>
                  <a:pt x="4956" y="7474"/>
                </a:lnTo>
                <a:lnTo>
                  <a:pt x="5175" y="7474"/>
                </a:lnTo>
                <a:lnTo>
                  <a:pt x="5175" y="7451"/>
                </a:lnTo>
                <a:lnTo>
                  <a:pt x="4956" y="7451"/>
                </a:lnTo>
                <a:close/>
                <a:moveTo>
                  <a:pt x="4858" y="7322"/>
                </a:moveTo>
                <a:lnTo>
                  <a:pt x="5350" y="7322"/>
                </a:lnTo>
                <a:lnTo>
                  <a:pt x="5350" y="7580"/>
                </a:lnTo>
                <a:cubicBezTo>
                  <a:pt x="5350" y="7666"/>
                  <a:pt x="5364" y="7733"/>
                  <a:pt x="5393" y="7783"/>
                </a:cubicBezTo>
                <a:cubicBezTo>
                  <a:pt x="5386" y="7791"/>
                  <a:pt x="5370" y="7813"/>
                  <a:pt x="5343" y="7848"/>
                </a:cubicBezTo>
                <a:cubicBezTo>
                  <a:pt x="5300" y="7777"/>
                  <a:pt x="5278" y="7687"/>
                  <a:pt x="5278" y="7577"/>
                </a:cubicBezTo>
                <a:lnTo>
                  <a:pt x="5278" y="7379"/>
                </a:lnTo>
                <a:lnTo>
                  <a:pt x="5133" y="7379"/>
                </a:lnTo>
                <a:lnTo>
                  <a:pt x="5140" y="7407"/>
                </a:lnTo>
                <a:lnTo>
                  <a:pt x="5243" y="7407"/>
                </a:lnTo>
                <a:lnTo>
                  <a:pt x="5243" y="7576"/>
                </a:lnTo>
                <a:lnTo>
                  <a:pt x="5176" y="7576"/>
                </a:lnTo>
                <a:cubicBezTo>
                  <a:pt x="5204" y="7598"/>
                  <a:pt x="5237" y="7617"/>
                  <a:pt x="5274" y="7633"/>
                </a:cubicBezTo>
                <a:cubicBezTo>
                  <a:pt x="5258" y="7654"/>
                  <a:pt x="5246" y="7670"/>
                  <a:pt x="5239" y="7681"/>
                </a:cubicBezTo>
                <a:cubicBezTo>
                  <a:pt x="5209" y="7665"/>
                  <a:pt x="5181" y="7649"/>
                  <a:pt x="5155" y="7633"/>
                </a:cubicBezTo>
                <a:cubicBezTo>
                  <a:pt x="5149" y="7652"/>
                  <a:pt x="5144" y="7668"/>
                  <a:pt x="5142" y="7679"/>
                </a:cubicBezTo>
                <a:cubicBezTo>
                  <a:pt x="5135" y="7679"/>
                  <a:pt x="5128" y="7679"/>
                  <a:pt x="5120" y="7679"/>
                </a:cubicBezTo>
                <a:cubicBezTo>
                  <a:pt x="5104" y="7700"/>
                  <a:pt x="5090" y="7723"/>
                  <a:pt x="5076" y="7747"/>
                </a:cubicBezTo>
                <a:lnTo>
                  <a:pt x="5023" y="7709"/>
                </a:lnTo>
                <a:cubicBezTo>
                  <a:pt x="5033" y="7696"/>
                  <a:pt x="5042" y="7684"/>
                  <a:pt x="5050" y="7673"/>
                </a:cubicBezTo>
                <a:cubicBezTo>
                  <a:pt x="5030" y="7666"/>
                  <a:pt x="5020" y="7650"/>
                  <a:pt x="5020" y="7625"/>
                </a:cubicBezTo>
                <a:lnTo>
                  <a:pt x="5020" y="7576"/>
                </a:lnTo>
                <a:lnTo>
                  <a:pt x="4974" y="7576"/>
                </a:lnTo>
                <a:lnTo>
                  <a:pt x="5006" y="7623"/>
                </a:lnTo>
                <a:cubicBezTo>
                  <a:pt x="4963" y="7645"/>
                  <a:pt x="4923" y="7667"/>
                  <a:pt x="4888" y="7689"/>
                </a:cubicBezTo>
                <a:lnTo>
                  <a:pt x="4852" y="7638"/>
                </a:lnTo>
                <a:cubicBezTo>
                  <a:pt x="4893" y="7614"/>
                  <a:pt x="4932" y="7594"/>
                  <a:pt x="4970" y="7576"/>
                </a:cubicBezTo>
                <a:lnTo>
                  <a:pt x="4888" y="7576"/>
                </a:lnTo>
                <a:lnTo>
                  <a:pt x="4888" y="7407"/>
                </a:lnTo>
                <a:lnTo>
                  <a:pt x="5066" y="7407"/>
                </a:lnTo>
                <a:lnTo>
                  <a:pt x="5056" y="7379"/>
                </a:lnTo>
                <a:lnTo>
                  <a:pt x="4858" y="7379"/>
                </a:lnTo>
                <a:lnTo>
                  <a:pt x="4858" y="7322"/>
                </a:lnTo>
                <a:close/>
                <a:moveTo>
                  <a:pt x="5189" y="7155"/>
                </a:moveTo>
                <a:lnTo>
                  <a:pt x="5261" y="7155"/>
                </a:lnTo>
                <a:lnTo>
                  <a:pt x="5261" y="7226"/>
                </a:lnTo>
                <a:cubicBezTo>
                  <a:pt x="5261" y="7270"/>
                  <a:pt x="5234" y="7292"/>
                  <a:pt x="5178" y="7292"/>
                </a:cubicBezTo>
                <a:lnTo>
                  <a:pt x="5067" y="7292"/>
                </a:lnTo>
                <a:cubicBezTo>
                  <a:pt x="5040" y="7292"/>
                  <a:pt x="5019" y="7287"/>
                  <a:pt x="5003" y="7276"/>
                </a:cubicBezTo>
                <a:cubicBezTo>
                  <a:pt x="4988" y="7265"/>
                  <a:pt x="4975" y="7238"/>
                  <a:pt x="4965" y="7196"/>
                </a:cubicBezTo>
                <a:cubicBezTo>
                  <a:pt x="4994" y="7185"/>
                  <a:pt x="5017" y="7174"/>
                  <a:pt x="5034" y="7164"/>
                </a:cubicBezTo>
                <a:cubicBezTo>
                  <a:pt x="5037" y="7195"/>
                  <a:pt x="5042" y="7214"/>
                  <a:pt x="5049" y="7221"/>
                </a:cubicBezTo>
                <a:cubicBezTo>
                  <a:pt x="5057" y="7229"/>
                  <a:pt x="5070" y="7232"/>
                  <a:pt x="5090" y="7232"/>
                </a:cubicBezTo>
                <a:lnTo>
                  <a:pt x="5160" y="7232"/>
                </a:lnTo>
                <a:cubicBezTo>
                  <a:pt x="5179" y="7232"/>
                  <a:pt x="5189" y="7224"/>
                  <a:pt x="5189" y="7206"/>
                </a:cubicBezTo>
                <a:lnTo>
                  <a:pt x="5189" y="7155"/>
                </a:lnTo>
                <a:close/>
                <a:moveTo>
                  <a:pt x="4903" y="7155"/>
                </a:moveTo>
                <a:lnTo>
                  <a:pt x="4963" y="7188"/>
                </a:lnTo>
                <a:cubicBezTo>
                  <a:pt x="4944" y="7214"/>
                  <a:pt x="4925" y="7244"/>
                  <a:pt x="4907" y="7278"/>
                </a:cubicBezTo>
                <a:lnTo>
                  <a:pt x="4846" y="7242"/>
                </a:lnTo>
                <a:cubicBezTo>
                  <a:pt x="4860" y="7215"/>
                  <a:pt x="4879" y="7186"/>
                  <a:pt x="4903" y="7155"/>
                </a:cubicBezTo>
                <a:close/>
                <a:moveTo>
                  <a:pt x="5348" y="7153"/>
                </a:moveTo>
                <a:cubicBezTo>
                  <a:pt x="5358" y="7184"/>
                  <a:pt x="5373" y="7218"/>
                  <a:pt x="5393" y="7253"/>
                </a:cubicBezTo>
                <a:lnTo>
                  <a:pt x="5332" y="7283"/>
                </a:lnTo>
                <a:cubicBezTo>
                  <a:pt x="5314" y="7251"/>
                  <a:pt x="5298" y="7216"/>
                  <a:pt x="5283" y="7178"/>
                </a:cubicBezTo>
                <a:lnTo>
                  <a:pt x="5348" y="7153"/>
                </a:lnTo>
                <a:close/>
                <a:moveTo>
                  <a:pt x="4981" y="7071"/>
                </a:moveTo>
                <a:lnTo>
                  <a:pt x="4981" y="7099"/>
                </a:lnTo>
                <a:lnTo>
                  <a:pt x="5261" y="7099"/>
                </a:lnTo>
                <a:lnTo>
                  <a:pt x="5261" y="7071"/>
                </a:lnTo>
                <a:lnTo>
                  <a:pt x="4981" y="7071"/>
                </a:lnTo>
                <a:close/>
                <a:moveTo>
                  <a:pt x="4981" y="7006"/>
                </a:moveTo>
                <a:lnTo>
                  <a:pt x="4981" y="7032"/>
                </a:lnTo>
                <a:lnTo>
                  <a:pt x="5261" y="7032"/>
                </a:lnTo>
                <a:lnTo>
                  <a:pt x="5261" y="7006"/>
                </a:lnTo>
                <a:lnTo>
                  <a:pt x="4981" y="7006"/>
                </a:lnTo>
                <a:close/>
                <a:moveTo>
                  <a:pt x="4911" y="6961"/>
                </a:moveTo>
                <a:lnTo>
                  <a:pt x="5331" y="6961"/>
                </a:lnTo>
                <a:lnTo>
                  <a:pt x="5331" y="7144"/>
                </a:lnTo>
                <a:lnTo>
                  <a:pt x="5144" y="7144"/>
                </a:lnTo>
                <a:lnTo>
                  <a:pt x="5169" y="7165"/>
                </a:lnTo>
                <a:cubicBezTo>
                  <a:pt x="5144" y="7187"/>
                  <a:pt x="5125" y="7207"/>
                  <a:pt x="5110" y="7224"/>
                </a:cubicBezTo>
                <a:lnTo>
                  <a:pt x="5059" y="7178"/>
                </a:lnTo>
                <a:cubicBezTo>
                  <a:pt x="5069" y="7169"/>
                  <a:pt x="5083" y="7157"/>
                  <a:pt x="5100" y="7144"/>
                </a:cubicBezTo>
                <a:lnTo>
                  <a:pt x="4911" y="7144"/>
                </a:lnTo>
                <a:lnTo>
                  <a:pt x="4911" y="6961"/>
                </a:lnTo>
                <a:close/>
                <a:moveTo>
                  <a:pt x="5042" y="6847"/>
                </a:moveTo>
                <a:cubicBezTo>
                  <a:pt x="5049" y="6858"/>
                  <a:pt x="5058" y="6871"/>
                  <a:pt x="5069" y="6887"/>
                </a:cubicBezTo>
                <a:lnTo>
                  <a:pt x="5175" y="6887"/>
                </a:lnTo>
                <a:cubicBezTo>
                  <a:pt x="5185" y="6875"/>
                  <a:pt x="5195" y="6861"/>
                  <a:pt x="5207" y="6847"/>
                </a:cubicBezTo>
                <a:lnTo>
                  <a:pt x="5042" y="6847"/>
                </a:lnTo>
                <a:close/>
                <a:moveTo>
                  <a:pt x="5083" y="6759"/>
                </a:moveTo>
                <a:lnTo>
                  <a:pt x="5176" y="6767"/>
                </a:lnTo>
                <a:lnTo>
                  <a:pt x="5162" y="6799"/>
                </a:lnTo>
                <a:lnTo>
                  <a:pt x="5358" y="6799"/>
                </a:lnTo>
                <a:lnTo>
                  <a:pt x="5358" y="6847"/>
                </a:lnTo>
                <a:lnTo>
                  <a:pt x="5235" y="6847"/>
                </a:lnTo>
                <a:lnTo>
                  <a:pt x="5278" y="6863"/>
                </a:lnTo>
                <a:cubicBezTo>
                  <a:pt x="5273" y="6869"/>
                  <a:pt x="5266" y="6877"/>
                  <a:pt x="5259" y="6887"/>
                </a:cubicBezTo>
                <a:lnTo>
                  <a:pt x="5385" y="6887"/>
                </a:lnTo>
                <a:lnTo>
                  <a:pt x="5385" y="6936"/>
                </a:lnTo>
                <a:lnTo>
                  <a:pt x="4855" y="6936"/>
                </a:lnTo>
                <a:lnTo>
                  <a:pt x="4855" y="6887"/>
                </a:lnTo>
                <a:lnTo>
                  <a:pt x="4987" y="6887"/>
                </a:lnTo>
                <a:lnTo>
                  <a:pt x="4967" y="6864"/>
                </a:lnTo>
                <a:lnTo>
                  <a:pt x="5016" y="6847"/>
                </a:lnTo>
                <a:lnTo>
                  <a:pt x="4886" y="6847"/>
                </a:lnTo>
                <a:lnTo>
                  <a:pt x="4886" y="6799"/>
                </a:lnTo>
                <a:lnTo>
                  <a:pt x="5067" y="6799"/>
                </a:lnTo>
                <a:cubicBezTo>
                  <a:pt x="5073" y="6783"/>
                  <a:pt x="5078" y="6770"/>
                  <a:pt x="5083" y="6759"/>
                </a:cubicBezTo>
                <a:close/>
                <a:moveTo>
                  <a:pt x="4953" y="6531"/>
                </a:moveTo>
                <a:cubicBezTo>
                  <a:pt x="4954" y="6550"/>
                  <a:pt x="4955" y="6570"/>
                  <a:pt x="4957" y="6592"/>
                </a:cubicBezTo>
                <a:cubicBezTo>
                  <a:pt x="4959" y="6614"/>
                  <a:pt x="4962" y="6627"/>
                  <a:pt x="4965" y="6633"/>
                </a:cubicBezTo>
                <a:cubicBezTo>
                  <a:pt x="4968" y="6639"/>
                  <a:pt x="4972" y="6643"/>
                  <a:pt x="4977" y="6645"/>
                </a:cubicBezTo>
                <a:cubicBezTo>
                  <a:pt x="4981" y="6647"/>
                  <a:pt x="4990" y="6648"/>
                  <a:pt x="5003" y="6648"/>
                </a:cubicBezTo>
                <a:cubicBezTo>
                  <a:pt x="5020" y="6648"/>
                  <a:pt x="5039" y="6647"/>
                  <a:pt x="5058" y="6645"/>
                </a:cubicBezTo>
                <a:cubicBezTo>
                  <a:pt x="5030" y="6612"/>
                  <a:pt x="5007" y="6574"/>
                  <a:pt x="4989" y="6531"/>
                </a:cubicBezTo>
                <a:lnTo>
                  <a:pt x="4953" y="6531"/>
                </a:lnTo>
                <a:close/>
                <a:moveTo>
                  <a:pt x="4982" y="6347"/>
                </a:moveTo>
                <a:lnTo>
                  <a:pt x="4982" y="6380"/>
                </a:lnTo>
                <a:lnTo>
                  <a:pt x="5254" y="6380"/>
                </a:lnTo>
                <a:lnTo>
                  <a:pt x="5254" y="6347"/>
                </a:lnTo>
                <a:lnTo>
                  <a:pt x="4982" y="6347"/>
                </a:lnTo>
                <a:close/>
                <a:moveTo>
                  <a:pt x="4982" y="6263"/>
                </a:moveTo>
                <a:lnTo>
                  <a:pt x="4982" y="6296"/>
                </a:lnTo>
                <a:lnTo>
                  <a:pt x="5254" y="6296"/>
                </a:lnTo>
                <a:lnTo>
                  <a:pt x="5254" y="6263"/>
                </a:lnTo>
                <a:lnTo>
                  <a:pt x="4982" y="6263"/>
                </a:lnTo>
                <a:close/>
                <a:moveTo>
                  <a:pt x="4906" y="6203"/>
                </a:moveTo>
                <a:lnTo>
                  <a:pt x="5330" y="6203"/>
                </a:lnTo>
                <a:lnTo>
                  <a:pt x="5330" y="6440"/>
                </a:lnTo>
                <a:lnTo>
                  <a:pt x="5274" y="6440"/>
                </a:lnTo>
                <a:cubicBezTo>
                  <a:pt x="5307" y="6480"/>
                  <a:pt x="5346" y="6511"/>
                  <a:pt x="5393" y="6535"/>
                </a:cubicBezTo>
                <a:cubicBezTo>
                  <a:pt x="5369" y="6556"/>
                  <a:pt x="5351" y="6573"/>
                  <a:pt x="5339" y="6586"/>
                </a:cubicBezTo>
                <a:cubicBezTo>
                  <a:pt x="5313" y="6570"/>
                  <a:pt x="5290" y="6551"/>
                  <a:pt x="5268" y="6531"/>
                </a:cubicBezTo>
                <a:lnTo>
                  <a:pt x="5213" y="6531"/>
                </a:lnTo>
                <a:cubicBezTo>
                  <a:pt x="5247" y="6580"/>
                  <a:pt x="5307" y="6621"/>
                  <a:pt x="5395" y="6655"/>
                </a:cubicBezTo>
                <a:cubicBezTo>
                  <a:pt x="5372" y="6675"/>
                  <a:pt x="5354" y="6694"/>
                  <a:pt x="5341" y="6709"/>
                </a:cubicBezTo>
                <a:cubicBezTo>
                  <a:pt x="5238" y="6665"/>
                  <a:pt x="5166" y="6606"/>
                  <a:pt x="5124" y="6531"/>
                </a:cubicBezTo>
                <a:lnTo>
                  <a:pt x="5070" y="6531"/>
                </a:lnTo>
                <a:cubicBezTo>
                  <a:pt x="5096" y="6590"/>
                  <a:pt x="5147" y="6641"/>
                  <a:pt x="5224" y="6682"/>
                </a:cubicBezTo>
                <a:cubicBezTo>
                  <a:pt x="5198" y="6698"/>
                  <a:pt x="5176" y="6713"/>
                  <a:pt x="5158" y="6727"/>
                </a:cubicBezTo>
                <a:cubicBezTo>
                  <a:pt x="5121" y="6705"/>
                  <a:pt x="5088" y="6678"/>
                  <a:pt x="5061" y="6647"/>
                </a:cubicBezTo>
                <a:cubicBezTo>
                  <a:pt x="5053" y="6673"/>
                  <a:pt x="5046" y="6697"/>
                  <a:pt x="5041" y="6720"/>
                </a:cubicBezTo>
                <a:cubicBezTo>
                  <a:pt x="4985" y="6720"/>
                  <a:pt x="4951" y="6719"/>
                  <a:pt x="4938" y="6716"/>
                </a:cubicBezTo>
                <a:cubicBezTo>
                  <a:pt x="4926" y="6713"/>
                  <a:pt x="4914" y="6704"/>
                  <a:pt x="4903" y="6689"/>
                </a:cubicBezTo>
                <a:cubicBezTo>
                  <a:pt x="4892" y="6673"/>
                  <a:pt x="4885" y="6651"/>
                  <a:pt x="4883" y="6620"/>
                </a:cubicBezTo>
                <a:lnTo>
                  <a:pt x="4873" y="6469"/>
                </a:lnTo>
                <a:lnTo>
                  <a:pt x="5210" y="6469"/>
                </a:lnTo>
                <a:cubicBezTo>
                  <a:pt x="5203" y="6460"/>
                  <a:pt x="5196" y="6450"/>
                  <a:pt x="5189" y="6440"/>
                </a:cubicBezTo>
                <a:lnTo>
                  <a:pt x="4906" y="6440"/>
                </a:lnTo>
                <a:lnTo>
                  <a:pt x="4906" y="6203"/>
                </a:lnTo>
                <a:close/>
                <a:moveTo>
                  <a:pt x="5206" y="5888"/>
                </a:moveTo>
                <a:lnTo>
                  <a:pt x="5261" y="5929"/>
                </a:lnTo>
                <a:cubicBezTo>
                  <a:pt x="5239" y="5967"/>
                  <a:pt x="5213" y="6003"/>
                  <a:pt x="5183" y="6034"/>
                </a:cubicBezTo>
                <a:cubicBezTo>
                  <a:pt x="5239" y="6066"/>
                  <a:pt x="5309" y="6087"/>
                  <a:pt x="5393" y="6098"/>
                </a:cubicBezTo>
                <a:cubicBezTo>
                  <a:pt x="5373" y="6129"/>
                  <a:pt x="5358" y="6155"/>
                  <a:pt x="5349" y="6175"/>
                </a:cubicBezTo>
                <a:cubicBezTo>
                  <a:pt x="5259" y="6161"/>
                  <a:pt x="5183" y="6132"/>
                  <a:pt x="5120" y="6089"/>
                </a:cubicBezTo>
                <a:cubicBezTo>
                  <a:pt x="5057" y="6133"/>
                  <a:pt x="4982" y="6161"/>
                  <a:pt x="4895" y="6173"/>
                </a:cubicBezTo>
                <a:cubicBezTo>
                  <a:pt x="4886" y="6157"/>
                  <a:pt x="4875" y="6139"/>
                  <a:pt x="4863" y="6117"/>
                </a:cubicBezTo>
                <a:lnTo>
                  <a:pt x="4860" y="6113"/>
                </a:lnTo>
                <a:lnTo>
                  <a:pt x="4886" y="6098"/>
                </a:lnTo>
                <a:lnTo>
                  <a:pt x="4905" y="6087"/>
                </a:lnTo>
                <a:lnTo>
                  <a:pt x="4911" y="6086"/>
                </a:lnTo>
                <a:cubicBezTo>
                  <a:pt x="4970" y="6075"/>
                  <a:pt x="5019" y="6058"/>
                  <a:pt x="5059" y="6035"/>
                </a:cubicBezTo>
                <a:cubicBezTo>
                  <a:pt x="5051" y="6027"/>
                  <a:pt x="5044" y="6019"/>
                  <a:pt x="5037" y="6010"/>
                </a:cubicBezTo>
                <a:lnTo>
                  <a:pt x="5035" y="6007"/>
                </a:lnTo>
                <a:lnTo>
                  <a:pt x="5059" y="5992"/>
                </a:lnTo>
                <a:cubicBezTo>
                  <a:pt x="5070" y="5984"/>
                  <a:pt x="5081" y="5977"/>
                  <a:pt x="5092" y="5969"/>
                </a:cubicBezTo>
                <a:lnTo>
                  <a:pt x="5098" y="5965"/>
                </a:lnTo>
                <a:lnTo>
                  <a:pt x="5109" y="5976"/>
                </a:lnTo>
                <a:cubicBezTo>
                  <a:pt x="5113" y="5980"/>
                  <a:pt x="5117" y="5984"/>
                  <a:pt x="5120" y="5988"/>
                </a:cubicBezTo>
                <a:cubicBezTo>
                  <a:pt x="5142" y="5966"/>
                  <a:pt x="5163" y="5942"/>
                  <a:pt x="5182" y="5913"/>
                </a:cubicBezTo>
                <a:lnTo>
                  <a:pt x="5190" y="5900"/>
                </a:lnTo>
                <a:lnTo>
                  <a:pt x="5193" y="5898"/>
                </a:lnTo>
                <a:lnTo>
                  <a:pt x="5206" y="5888"/>
                </a:lnTo>
                <a:close/>
                <a:moveTo>
                  <a:pt x="5286" y="5827"/>
                </a:moveTo>
                <a:lnTo>
                  <a:pt x="5298" y="5837"/>
                </a:lnTo>
                <a:cubicBezTo>
                  <a:pt x="5325" y="5859"/>
                  <a:pt x="5353" y="5879"/>
                  <a:pt x="5383" y="5900"/>
                </a:cubicBezTo>
                <a:cubicBezTo>
                  <a:pt x="5361" y="5924"/>
                  <a:pt x="5344" y="5945"/>
                  <a:pt x="5332" y="5962"/>
                </a:cubicBezTo>
                <a:cubicBezTo>
                  <a:pt x="5303" y="5941"/>
                  <a:pt x="5274" y="5919"/>
                  <a:pt x="5247" y="5897"/>
                </a:cubicBezTo>
                <a:lnTo>
                  <a:pt x="5222" y="5876"/>
                </a:lnTo>
                <a:lnTo>
                  <a:pt x="5226" y="5873"/>
                </a:lnTo>
                <a:cubicBezTo>
                  <a:pt x="5237" y="5865"/>
                  <a:pt x="5248" y="5857"/>
                  <a:pt x="5259" y="5848"/>
                </a:cubicBezTo>
                <a:lnTo>
                  <a:pt x="5286" y="5827"/>
                </a:lnTo>
                <a:close/>
                <a:moveTo>
                  <a:pt x="5387" y="5744"/>
                </a:moveTo>
                <a:lnTo>
                  <a:pt x="5387" y="5771"/>
                </a:lnTo>
                <a:lnTo>
                  <a:pt x="5354" y="5771"/>
                </a:lnTo>
                <a:lnTo>
                  <a:pt x="5355" y="5770"/>
                </a:lnTo>
                <a:lnTo>
                  <a:pt x="5387" y="5744"/>
                </a:lnTo>
                <a:close/>
                <a:moveTo>
                  <a:pt x="5022" y="5775"/>
                </a:moveTo>
                <a:cubicBezTo>
                  <a:pt x="4962" y="5818"/>
                  <a:pt x="4907" y="5857"/>
                  <a:pt x="4859" y="5895"/>
                </a:cubicBezTo>
                <a:lnTo>
                  <a:pt x="4916" y="5957"/>
                </a:lnTo>
                <a:cubicBezTo>
                  <a:pt x="4967" y="5911"/>
                  <a:pt x="5018" y="5868"/>
                  <a:pt x="5072" y="5828"/>
                </a:cubicBezTo>
                <a:lnTo>
                  <a:pt x="5022" y="5775"/>
                </a:lnTo>
                <a:close/>
                <a:moveTo>
                  <a:pt x="4901" y="5458"/>
                </a:moveTo>
                <a:lnTo>
                  <a:pt x="4997" y="5458"/>
                </a:lnTo>
                <a:lnTo>
                  <a:pt x="4997" y="5513"/>
                </a:lnTo>
                <a:lnTo>
                  <a:pt x="4950" y="5508"/>
                </a:lnTo>
                <a:lnTo>
                  <a:pt x="4962" y="5481"/>
                </a:lnTo>
                <a:lnTo>
                  <a:pt x="4901" y="5458"/>
                </a:lnTo>
                <a:close/>
                <a:moveTo>
                  <a:pt x="5067" y="5345"/>
                </a:moveTo>
                <a:lnTo>
                  <a:pt x="5122" y="5345"/>
                </a:lnTo>
                <a:lnTo>
                  <a:pt x="5122" y="5398"/>
                </a:lnTo>
                <a:lnTo>
                  <a:pt x="5067" y="5398"/>
                </a:lnTo>
                <a:lnTo>
                  <a:pt x="5067" y="5345"/>
                </a:lnTo>
                <a:close/>
                <a:moveTo>
                  <a:pt x="4941" y="5345"/>
                </a:moveTo>
                <a:lnTo>
                  <a:pt x="4997" y="5345"/>
                </a:lnTo>
                <a:lnTo>
                  <a:pt x="4997" y="5398"/>
                </a:lnTo>
                <a:lnTo>
                  <a:pt x="4941" y="5398"/>
                </a:lnTo>
                <a:lnTo>
                  <a:pt x="4941" y="5345"/>
                </a:lnTo>
                <a:close/>
                <a:moveTo>
                  <a:pt x="4961" y="5145"/>
                </a:moveTo>
                <a:lnTo>
                  <a:pt x="5103" y="5145"/>
                </a:lnTo>
                <a:lnTo>
                  <a:pt x="5103" y="5187"/>
                </a:lnTo>
                <a:lnTo>
                  <a:pt x="4961" y="5187"/>
                </a:lnTo>
                <a:lnTo>
                  <a:pt x="4961" y="5145"/>
                </a:lnTo>
                <a:close/>
                <a:moveTo>
                  <a:pt x="4892" y="5085"/>
                </a:moveTo>
                <a:lnTo>
                  <a:pt x="4892" y="5247"/>
                </a:lnTo>
                <a:lnTo>
                  <a:pt x="4997" y="5247"/>
                </a:lnTo>
                <a:lnTo>
                  <a:pt x="4997" y="5285"/>
                </a:lnTo>
                <a:lnTo>
                  <a:pt x="4873" y="5285"/>
                </a:lnTo>
                <a:lnTo>
                  <a:pt x="4873" y="5458"/>
                </a:lnTo>
                <a:lnTo>
                  <a:pt x="4901" y="5458"/>
                </a:lnTo>
                <a:cubicBezTo>
                  <a:pt x="4883" y="5495"/>
                  <a:pt x="4864" y="5535"/>
                  <a:pt x="4846" y="5580"/>
                </a:cubicBezTo>
                <a:lnTo>
                  <a:pt x="4909" y="5605"/>
                </a:lnTo>
                <a:lnTo>
                  <a:pt x="4923" y="5570"/>
                </a:lnTo>
                <a:cubicBezTo>
                  <a:pt x="5007" y="5580"/>
                  <a:pt x="5098" y="5590"/>
                  <a:pt x="5197" y="5599"/>
                </a:cubicBezTo>
                <a:lnTo>
                  <a:pt x="5210" y="5529"/>
                </a:lnTo>
                <a:lnTo>
                  <a:pt x="5067" y="5519"/>
                </a:lnTo>
                <a:lnTo>
                  <a:pt x="5067" y="5458"/>
                </a:lnTo>
                <a:lnTo>
                  <a:pt x="5190" y="5458"/>
                </a:lnTo>
                <a:lnTo>
                  <a:pt x="5190" y="5285"/>
                </a:lnTo>
                <a:lnTo>
                  <a:pt x="5067" y="5285"/>
                </a:lnTo>
                <a:lnTo>
                  <a:pt x="5067" y="5247"/>
                </a:lnTo>
                <a:lnTo>
                  <a:pt x="5172" y="5247"/>
                </a:lnTo>
                <a:lnTo>
                  <a:pt x="5172" y="5085"/>
                </a:lnTo>
                <a:lnTo>
                  <a:pt x="4892" y="5085"/>
                </a:lnTo>
                <a:close/>
                <a:moveTo>
                  <a:pt x="5213" y="5084"/>
                </a:moveTo>
                <a:lnTo>
                  <a:pt x="5213" y="5279"/>
                </a:lnTo>
                <a:lnTo>
                  <a:pt x="5309" y="5279"/>
                </a:lnTo>
                <a:lnTo>
                  <a:pt x="5314" y="5342"/>
                </a:lnTo>
                <a:lnTo>
                  <a:pt x="5219" y="5342"/>
                </a:lnTo>
                <a:cubicBezTo>
                  <a:pt x="5220" y="5431"/>
                  <a:pt x="5222" y="5489"/>
                  <a:pt x="5224" y="5516"/>
                </a:cubicBezTo>
                <a:cubicBezTo>
                  <a:pt x="5227" y="5542"/>
                  <a:pt x="5231" y="5561"/>
                  <a:pt x="5239" y="5572"/>
                </a:cubicBezTo>
                <a:cubicBezTo>
                  <a:pt x="5247" y="5584"/>
                  <a:pt x="5257" y="5591"/>
                  <a:pt x="5270" y="5595"/>
                </a:cubicBezTo>
                <a:cubicBezTo>
                  <a:pt x="5283" y="5599"/>
                  <a:pt x="5315" y="5600"/>
                  <a:pt x="5367" y="5599"/>
                </a:cubicBezTo>
                <a:cubicBezTo>
                  <a:pt x="5370" y="5581"/>
                  <a:pt x="5376" y="5557"/>
                  <a:pt x="5383" y="5526"/>
                </a:cubicBezTo>
                <a:cubicBezTo>
                  <a:pt x="5356" y="5527"/>
                  <a:pt x="5336" y="5527"/>
                  <a:pt x="5325" y="5527"/>
                </a:cubicBezTo>
                <a:cubicBezTo>
                  <a:pt x="5311" y="5527"/>
                  <a:pt x="5301" y="5522"/>
                  <a:pt x="5297" y="5513"/>
                </a:cubicBezTo>
                <a:cubicBezTo>
                  <a:pt x="5293" y="5503"/>
                  <a:pt x="5291" y="5468"/>
                  <a:pt x="5289" y="5408"/>
                </a:cubicBezTo>
                <a:lnTo>
                  <a:pt x="5387" y="5408"/>
                </a:lnTo>
                <a:lnTo>
                  <a:pt x="5372" y="5213"/>
                </a:lnTo>
                <a:lnTo>
                  <a:pt x="5280" y="5213"/>
                </a:lnTo>
                <a:lnTo>
                  <a:pt x="5280" y="5150"/>
                </a:lnTo>
                <a:lnTo>
                  <a:pt x="5384" y="5150"/>
                </a:lnTo>
                <a:lnTo>
                  <a:pt x="5384" y="5084"/>
                </a:lnTo>
                <a:lnTo>
                  <a:pt x="5213" y="5084"/>
                </a:lnTo>
                <a:close/>
                <a:moveTo>
                  <a:pt x="5011" y="4844"/>
                </a:moveTo>
                <a:lnTo>
                  <a:pt x="5011" y="4915"/>
                </a:lnTo>
                <a:lnTo>
                  <a:pt x="5385" y="4915"/>
                </a:lnTo>
                <a:lnTo>
                  <a:pt x="5385" y="4844"/>
                </a:lnTo>
                <a:lnTo>
                  <a:pt x="5011" y="4844"/>
                </a:lnTo>
                <a:close/>
                <a:moveTo>
                  <a:pt x="5218" y="4521"/>
                </a:moveTo>
                <a:lnTo>
                  <a:pt x="5221" y="4583"/>
                </a:lnTo>
                <a:lnTo>
                  <a:pt x="4864" y="4583"/>
                </a:lnTo>
                <a:lnTo>
                  <a:pt x="4864" y="4654"/>
                </a:lnTo>
                <a:lnTo>
                  <a:pt x="5226" y="4654"/>
                </a:lnTo>
                <a:lnTo>
                  <a:pt x="5230" y="4716"/>
                </a:lnTo>
                <a:lnTo>
                  <a:pt x="4890" y="4716"/>
                </a:lnTo>
                <a:lnTo>
                  <a:pt x="4899" y="4935"/>
                </a:lnTo>
                <a:cubicBezTo>
                  <a:pt x="4900" y="4976"/>
                  <a:pt x="4912" y="5005"/>
                  <a:pt x="4932" y="5022"/>
                </a:cubicBezTo>
                <a:cubicBezTo>
                  <a:pt x="4953" y="5039"/>
                  <a:pt x="4982" y="5047"/>
                  <a:pt x="5017" y="5047"/>
                </a:cubicBezTo>
                <a:lnTo>
                  <a:pt x="5136" y="5047"/>
                </a:lnTo>
                <a:cubicBezTo>
                  <a:pt x="5140" y="5025"/>
                  <a:pt x="5146" y="4999"/>
                  <a:pt x="5155" y="4968"/>
                </a:cubicBezTo>
                <a:cubicBezTo>
                  <a:pt x="5117" y="4970"/>
                  <a:pt x="5080" y="4971"/>
                  <a:pt x="5044" y="4971"/>
                </a:cubicBezTo>
                <a:cubicBezTo>
                  <a:pt x="5006" y="4971"/>
                  <a:pt x="4985" y="4960"/>
                  <a:pt x="4982" y="4937"/>
                </a:cubicBezTo>
                <a:cubicBezTo>
                  <a:pt x="4979" y="4914"/>
                  <a:pt x="4977" y="4864"/>
                  <a:pt x="4975" y="4787"/>
                </a:cubicBezTo>
                <a:lnTo>
                  <a:pt x="5316" y="4787"/>
                </a:lnTo>
                <a:lnTo>
                  <a:pt x="5301" y="4521"/>
                </a:lnTo>
                <a:lnTo>
                  <a:pt x="5218" y="4521"/>
                </a:lnTo>
                <a:close/>
                <a:moveTo>
                  <a:pt x="5082" y="4303"/>
                </a:moveTo>
                <a:lnTo>
                  <a:pt x="5082" y="4328"/>
                </a:lnTo>
                <a:lnTo>
                  <a:pt x="4851" y="4328"/>
                </a:lnTo>
                <a:lnTo>
                  <a:pt x="4851" y="4392"/>
                </a:lnTo>
                <a:lnTo>
                  <a:pt x="5082" y="4392"/>
                </a:lnTo>
                <a:lnTo>
                  <a:pt x="5082" y="4497"/>
                </a:lnTo>
                <a:lnTo>
                  <a:pt x="5159" y="4497"/>
                </a:lnTo>
                <a:lnTo>
                  <a:pt x="5159" y="4392"/>
                </a:lnTo>
                <a:lnTo>
                  <a:pt x="5393" y="4392"/>
                </a:lnTo>
                <a:lnTo>
                  <a:pt x="5393" y="4328"/>
                </a:lnTo>
                <a:lnTo>
                  <a:pt x="5159" y="4328"/>
                </a:lnTo>
                <a:lnTo>
                  <a:pt x="5159" y="4303"/>
                </a:lnTo>
                <a:lnTo>
                  <a:pt x="5082" y="4303"/>
                </a:lnTo>
                <a:close/>
                <a:moveTo>
                  <a:pt x="5263" y="4164"/>
                </a:moveTo>
                <a:lnTo>
                  <a:pt x="5230" y="4213"/>
                </a:lnTo>
                <a:lnTo>
                  <a:pt x="5353" y="4301"/>
                </a:lnTo>
                <a:lnTo>
                  <a:pt x="5385" y="4235"/>
                </a:lnTo>
                <a:cubicBezTo>
                  <a:pt x="5355" y="4219"/>
                  <a:pt x="5314" y="4196"/>
                  <a:pt x="5263" y="4164"/>
                </a:cubicBezTo>
                <a:close/>
                <a:moveTo>
                  <a:pt x="5326" y="4075"/>
                </a:moveTo>
                <a:cubicBezTo>
                  <a:pt x="5304" y="4092"/>
                  <a:pt x="5281" y="4112"/>
                  <a:pt x="5256" y="4135"/>
                </a:cubicBezTo>
                <a:lnTo>
                  <a:pt x="5301" y="4179"/>
                </a:lnTo>
                <a:cubicBezTo>
                  <a:pt x="5326" y="4154"/>
                  <a:pt x="5348" y="4133"/>
                  <a:pt x="5368" y="4117"/>
                </a:cubicBezTo>
                <a:lnTo>
                  <a:pt x="5326" y="4075"/>
                </a:lnTo>
                <a:close/>
                <a:moveTo>
                  <a:pt x="4925" y="4073"/>
                </a:moveTo>
                <a:lnTo>
                  <a:pt x="4881" y="4115"/>
                </a:lnTo>
                <a:lnTo>
                  <a:pt x="4953" y="4175"/>
                </a:lnTo>
                <a:cubicBezTo>
                  <a:pt x="4924" y="4192"/>
                  <a:pt x="4893" y="4212"/>
                  <a:pt x="4859" y="4234"/>
                </a:cubicBezTo>
                <a:lnTo>
                  <a:pt x="4900" y="4292"/>
                </a:lnTo>
                <a:cubicBezTo>
                  <a:pt x="4935" y="4263"/>
                  <a:pt x="4971" y="4235"/>
                  <a:pt x="5008" y="4209"/>
                </a:cubicBezTo>
                <a:lnTo>
                  <a:pt x="4981" y="4171"/>
                </a:lnTo>
                <a:lnTo>
                  <a:pt x="5007" y="4139"/>
                </a:lnTo>
                <a:cubicBezTo>
                  <a:pt x="4975" y="4116"/>
                  <a:pt x="4948" y="4094"/>
                  <a:pt x="4925" y="4073"/>
                </a:cubicBezTo>
                <a:close/>
                <a:moveTo>
                  <a:pt x="5087" y="3954"/>
                </a:moveTo>
                <a:cubicBezTo>
                  <a:pt x="5084" y="3967"/>
                  <a:pt x="5081" y="3984"/>
                  <a:pt x="5078" y="4004"/>
                </a:cubicBezTo>
                <a:lnTo>
                  <a:pt x="4858" y="4004"/>
                </a:lnTo>
                <a:lnTo>
                  <a:pt x="4858" y="4068"/>
                </a:lnTo>
                <a:lnTo>
                  <a:pt x="5099" y="4068"/>
                </a:lnTo>
                <a:lnTo>
                  <a:pt x="5158" y="4124"/>
                </a:lnTo>
                <a:lnTo>
                  <a:pt x="5104" y="4123"/>
                </a:lnTo>
                <a:cubicBezTo>
                  <a:pt x="5088" y="4107"/>
                  <a:pt x="5071" y="4090"/>
                  <a:pt x="5053" y="4071"/>
                </a:cubicBezTo>
                <a:lnTo>
                  <a:pt x="4998" y="4104"/>
                </a:lnTo>
                <a:cubicBezTo>
                  <a:pt x="5039" y="4144"/>
                  <a:pt x="5088" y="4188"/>
                  <a:pt x="5145" y="4235"/>
                </a:cubicBezTo>
                <a:lnTo>
                  <a:pt x="5078" y="4231"/>
                </a:lnTo>
                <a:cubicBezTo>
                  <a:pt x="5084" y="4222"/>
                  <a:pt x="5089" y="4214"/>
                  <a:pt x="5095" y="4207"/>
                </a:cubicBezTo>
                <a:lnTo>
                  <a:pt x="5045" y="4178"/>
                </a:lnTo>
                <a:cubicBezTo>
                  <a:pt x="5019" y="4211"/>
                  <a:pt x="4995" y="4246"/>
                  <a:pt x="4973" y="4281"/>
                </a:cubicBezTo>
                <a:lnTo>
                  <a:pt x="5028" y="4311"/>
                </a:lnTo>
                <a:lnTo>
                  <a:pt x="5045" y="4282"/>
                </a:lnTo>
                <a:cubicBezTo>
                  <a:pt x="5123" y="4288"/>
                  <a:pt x="5185" y="4293"/>
                  <a:pt x="5231" y="4298"/>
                </a:cubicBezTo>
                <a:lnTo>
                  <a:pt x="5254" y="4241"/>
                </a:lnTo>
                <a:cubicBezTo>
                  <a:pt x="5226" y="4225"/>
                  <a:pt x="5195" y="4203"/>
                  <a:pt x="5163" y="4176"/>
                </a:cubicBezTo>
                <a:cubicBezTo>
                  <a:pt x="5186" y="4178"/>
                  <a:pt x="5207" y="4180"/>
                  <a:pt x="5225" y="4182"/>
                </a:cubicBezTo>
                <a:lnTo>
                  <a:pt x="5250" y="4132"/>
                </a:lnTo>
                <a:cubicBezTo>
                  <a:pt x="5231" y="4123"/>
                  <a:pt x="5208" y="4101"/>
                  <a:pt x="5180" y="4068"/>
                </a:cubicBezTo>
                <a:lnTo>
                  <a:pt x="5382" y="4068"/>
                </a:lnTo>
                <a:lnTo>
                  <a:pt x="5382" y="4004"/>
                </a:lnTo>
                <a:lnTo>
                  <a:pt x="5163" y="4004"/>
                </a:lnTo>
                <a:lnTo>
                  <a:pt x="5172" y="3957"/>
                </a:lnTo>
                <a:lnTo>
                  <a:pt x="5087" y="3954"/>
                </a:lnTo>
                <a:close/>
                <a:moveTo>
                  <a:pt x="4985" y="3847"/>
                </a:moveTo>
                <a:lnTo>
                  <a:pt x="5257" y="3847"/>
                </a:lnTo>
                <a:lnTo>
                  <a:pt x="5257" y="3867"/>
                </a:lnTo>
                <a:lnTo>
                  <a:pt x="4985" y="3867"/>
                </a:lnTo>
                <a:lnTo>
                  <a:pt x="4985" y="3847"/>
                </a:lnTo>
                <a:close/>
                <a:moveTo>
                  <a:pt x="4985" y="3791"/>
                </a:moveTo>
                <a:lnTo>
                  <a:pt x="5257" y="3791"/>
                </a:lnTo>
                <a:lnTo>
                  <a:pt x="5257" y="3811"/>
                </a:lnTo>
                <a:lnTo>
                  <a:pt x="4985" y="3811"/>
                </a:lnTo>
                <a:lnTo>
                  <a:pt x="4985" y="3791"/>
                </a:lnTo>
                <a:close/>
                <a:moveTo>
                  <a:pt x="4985" y="3735"/>
                </a:moveTo>
                <a:lnTo>
                  <a:pt x="5257" y="3735"/>
                </a:lnTo>
                <a:lnTo>
                  <a:pt x="5257" y="3755"/>
                </a:lnTo>
                <a:lnTo>
                  <a:pt x="4985" y="3755"/>
                </a:lnTo>
                <a:lnTo>
                  <a:pt x="4985" y="3735"/>
                </a:lnTo>
                <a:close/>
                <a:moveTo>
                  <a:pt x="4985" y="3678"/>
                </a:moveTo>
                <a:lnTo>
                  <a:pt x="5257" y="3678"/>
                </a:lnTo>
                <a:lnTo>
                  <a:pt x="5257" y="3699"/>
                </a:lnTo>
                <a:lnTo>
                  <a:pt x="4985" y="3699"/>
                </a:lnTo>
                <a:lnTo>
                  <a:pt x="4985" y="3678"/>
                </a:lnTo>
                <a:close/>
                <a:moveTo>
                  <a:pt x="5219" y="3457"/>
                </a:moveTo>
                <a:lnTo>
                  <a:pt x="5288" y="3457"/>
                </a:lnTo>
                <a:lnTo>
                  <a:pt x="5288" y="3491"/>
                </a:lnTo>
                <a:lnTo>
                  <a:pt x="5219" y="3491"/>
                </a:lnTo>
                <a:lnTo>
                  <a:pt x="5219" y="3457"/>
                </a:lnTo>
                <a:close/>
                <a:moveTo>
                  <a:pt x="5086" y="3457"/>
                </a:moveTo>
                <a:lnTo>
                  <a:pt x="5155" y="3457"/>
                </a:lnTo>
                <a:lnTo>
                  <a:pt x="5155" y="3491"/>
                </a:lnTo>
                <a:lnTo>
                  <a:pt x="5086" y="3491"/>
                </a:lnTo>
                <a:lnTo>
                  <a:pt x="5086" y="3457"/>
                </a:lnTo>
                <a:close/>
                <a:moveTo>
                  <a:pt x="4953" y="3457"/>
                </a:moveTo>
                <a:lnTo>
                  <a:pt x="5022" y="3457"/>
                </a:lnTo>
                <a:lnTo>
                  <a:pt x="5022" y="3491"/>
                </a:lnTo>
                <a:lnTo>
                  <a:pt x="4953" y="3491"/>
                </a:lnTo>
                <a:lnTo>
                  <a:pt x="4953" y="3457"/>
                </a:lnTo>
                <a:close/>
                <a:moveTo>
                  <a:pt x="4882" y="3412"/>
                </a:moveTo>
                <a:lnTo>
                  <a:pt x="4882" y="3536"/>
                </a:lnTo>
                <a:lnTo>
                  <a:pt x="5086" y="3536"/>
                </a:lnTo>
                <a:lnTo>
                  <a:pt x="5086" y="3559"/>
                </a:lnTo>
                <a:lnTo>
                  <a:pt x="4860" y="3559"/>
                </a:lnTo>
                <a:lnTo>
                  <a:pt x="4860" y="3608"/>
                </a:lnTo>
                <a:lnTo>
                  <a:pt x="5086" y="3608"/>
                </a:lnTo>
                <a:lnTo>
                  <a:pt x="5086" y="3630"/>
                </a:lnTo>
                <a:lnTo>
                  <a:pt x="4909" y="3630"/>
                </a:lnTo>
                <a:lnTo>
                  <a:pt x="4909" y="3867"/>
                </a:lnTo>
                <a:lnTo>
                  <a:pt x="4848" y="3867"/>
                </a:lnTo>
                <a:lnTo>
                  <a:pt x="4848" y="3918"/>
                </a:lnTo>
                <a:lnTo>
                  <a:pt x="5394" y="3918"/>
                </a:lnTo>
                <a:lnTo>
                  <a:pt x="5394" y="3867"/>
                </a:lnTo>
                <a:lnTo>
                  <a:pt x="5333" y="3867"/>
                </a:lnTo>
                <a:lnTo>
                  <a:pt x="5333" y="3630"/>
                </a:lnTo>
                <a:lnTo>
                  <a:pt x="5169" y="3630"/>
                </a:lnTo>
                <a:lnTo>
                  <a:pt x="5169" y="3608"/>
                </a:lnTo>
                <a:lnTo>
                  <a:pt x="5382" y="3608"/>
                </a:lnTo>
                <a:lnTo>
                  <a:pt x="5382" y="3559"/>
                </a:lnTo>
                <a:lnTo>
                  <a:pt x="5169" y="3559"/>
                </a:lnTo>
                <a:lnTo>
                  <a:pt x="5169" y="3536"/>
                </a:lnTo>
                <a:lnTo>
                  <a:pt x="5359" y="3536"/>
                </a:lnTo>
                <a:lnTo>
                  <a:pt x="5359" y="3412"/>
                </a:lnTo>
                <a:lnTo>
                  <a:pt x="4882" y="3412"/>
                </a:lnTo>
                <a:close/>
                <a:moveTo>
                  <a:pt x="5295" y="2907"/>
                </a:moveTo>
                <a:lnTo>
                  <a:pt x="5295" y="3215"/>
                </a:lnTo>
                <a:cubicBezTo>
                  <a:pt x="5251" y="3176"/>
                  <a:pt x="5212" y="3130"/>
                  <a:pt x="5180" y="3076"/>
                </a:cubicBezTo>
                <a:lnTo>
                  <a:pt x="5270" y="3076"/>
                </a:lnTo>
                <a:lnTo>
                  <a:pt x="5270" y="3008"/>
                </a:lnTo>
                <a:lnTo>
                  <a:pt x="5158" y="3008"/>
                </a:lnTo>
                <a:lnTo>
                  <a:pt x="5158" y="2953"/>
                </a:lnTo>
                <a:lnTo>
                  <a:pt x="5084" y="2953"/>
                </a:lnTo>
                <a:lnTo>
                  <a:pt x="5084" y="3008"/>
                </a:lnTo>
                <a:lnTo>
                  <a:pt x="4972" y="3008"/>
                </a:lnTo>
                <a:lnTo>
                  <a:pt x="4972" y="3076"/>
                </a:lnTo>
                <a:lnTo>
                  <a:pt x="5084" y="3076"/>
                </a:lnTo>
                <a:lnTo>
                  <a:pt x="5084" y="3133"/>
                </a:lnTo>
                <a:lnTo>
                  <a:pt x="5064" y="3112"/>
                </a:lnTo>
                <a:cubicBezTo>
                  <a:pt x="5014" y="3148"/>
                  <a:pt x="4976" y="3178"/>
                  <a:pt x="4948" y="3204"/>
                </a:cubicBezTo>
                <a:lnTo>
                  <a:pt x="5000" y="3256"/>
                </a:lnTo>
                <a:cubicBezTo>
                  <a:pt x="5026" y="3231"/>
                  <a:pt x="5054" y="3206"/>
                  <a:pt x="5084" y="3181"/>
                </a:cubicBezTo>
                <a:lnTo>
                  <a:pt x="5084" y="3323"/>
                </a:lnTo>
                <a:lnTo>
                  <a:pt x="5158" y="3323"/>
                </a:lnTo>
                <a:lnTo>
                  <a:pt x="5158" y="3165"/>
                </a:lnTo>
                <a:cubicBezTo>
                  <a:pt x="5185" y="3211"/>
                  <a:pt x="5217" y="3251"/>
                  <a:pt x="5252" y="3286"/>
                </a:cubicBezTo>
                <a:cubicBezTo>
                  <a:pt x="5267" y="3266"/>
                  <a:pt x="5282" y="3247"/>
                  <a:pt x="5295" y="3231"/>
                </a:cubicBezTo>
                <a:lnTo>
                  <a:pt x="5295" y="3374"/>
                </a:lnTo>
                <a:lnTo>
                  <a:pt x="5371" y="3374"/>
                </a:lnTo>
                <a:lnTo>
                  <a:pt x="5371" y="2907"/>
                </a:lnTo>
                <a:lnTo>
                  <a:pt x="5295" y="2907"/>
                </a:lnTo>
                <a:close/>
                <a:moveTo>
                  <a:pt x="4871" y="2861"/>
                </a:moveTo>
                <a:lnTo>
                  <a:pt x="4871" y="3273"/>
                </a:lnTo>
                <a:cubicBezTo>
                  <a:pt x="4871" y="3299"/>
                  <a:pt x="4875" y="3320"/>
                  <a:pt x="4883" y="3335"/>
                </a:cubicBezTo>
                <a:cubicBezTo>
                  <a:pt x="4891" y="3351"/>
                  <a:pt x="4904" y="3361"/>
                  <a:pt x="4921" y="3367"/>
                </a:cubicBezTo>
                <a:cubicBezTo>
                  <a:pt x="4939" y="3372"/>
                  <a:pt x="4974" y="3375"/>
                  <a:pt x="5027" y="3375"/>
                </a:cubicBezTo>
                <a:cubicBezTo>
                  <a:pt x="5031" y="3348"/>
                  <a:pt x="5037" y="3322"/>
                  <a:pt x="5045" y="3298"/>
                </a:cubicBezTo>
                <a:cubicBezTo>
                  <a:pt x="5021" y="3300"/>
                  <a:pt x="5001" y="3301"/>
                  <a:pt x="4983" y="3301"/>
                </a:cubicBezTo>
                <a:cubicBezTo>
                  <a:pt x="4959" y="3301"/>
                  <a:pt x="4946" y="3290"/>
                  <a:pt x="4946" y="3268"/>
                </a:cubicBezTo>
                <a:lnTo>
                  <a:pt x="4946" y="2929"/>
                </a:lnTo>
                <a:lnTo>
                  <a:pt x="5163" y="2929"/>
                </a:lnTo>
                <a:lnTo>
                  <a:pt x="5163" y="2861"/>
                </a:lnTo>
                <a:lnTo>
                  <a:pt x="4871" y="2861"/>
                </a:lnTo>
                <a:close/>
                <a:moveTo>
                  <a:pt x="5234" y="2835"/>
                </a:moveTo>
                <a:cubicBezTo>
                  <a:pt x="5217" y="2862"/>
                  <a:pt x="5200" y="2892"/>
                  <a:pt x="5181" y="2924"/>
                </a:cubicBezTo>
                <a:lnTo>
                  <a:pt x="5257" y="2953"/>
                </a:lnTo>
                <a:cubicBezTo>
                  <a:pt x="5274" y="2918"/>
                  <a:pt x="5290" y="2888"/>
                  <a:pt x="5306" y="2860"/>
                </a:cubicBezTo>
                <a:lnTo>
                  <a:pt x="5234" y="2835"/>
                </a:lnTo>
                <a:close/>
                <a:moveTo>
                  <a:pt x="5062" y="2670"/>
                </a:moveTo>
                <a:lnTo>
                  <a:pt x="5177" y="2670"/>
                </a:lnTo>
                <a:lnTo>
                  <a:pt x="5177" y="2702"/>
                </a:lnTo>
                <a:lnTo>
                  <a:pt x="5062" y="2702"/>
                </a:lnTo>
                <a:lnTo>
                  <a:pt x="5062" y="2670"/>
                </a:lnTo>
                <a:close/>
                <a:moveTo>
                  <a:pt x="4997" y="2624"/>
                </a:moveTo>
                <a:lnTo>
                  <a:pt x="4997" y="2748"/>
                </a:lnTo>
                <a:lnTo>
                  <a:pt x="5177" y="2748"/>
                </a:lnTo>
                <a:lnTo>
                  <a:pt x="5177" y="2765"/>
                </a:lnTo>
                <a:lnTo>
                  <a:pt x="5243" y="2765"/>
                </a:lnTo>
                <a:lnTo>
                  <a:pt x="5243" y="2624"/>
                </a:lnTo>
                <a:lnTo>
                  <a:pt x="4997" y="2624"/>
                </a:lnTo>
                <a:close/>
                <a:moveTo>
                  <a:pt x="4876" y="2545"/>
                </a:moveTo>
                <a:lnTo>
                  <a:pt x="4876" y="2726"/>
                </a:lnTo>
                <a:cubicBezTo>
                  <a:pt x="4876" y="2752"/>
                  <a:pt x="4881" y="2773"/>
                  <a:pt x="4891" y="2787"/>
                </a:cubicBezTo>
                <a:cubicBezTo>
                  <a:pt x="4901" y="2801"/>
                  <a:pt x="4915" y="2810"/>
                  <a:pt x="4932" y="2813"/>
                </a:cubicBezTo>
                <a:cubicBezTo>
                  <a:pt x="4949" y="2816"/>
                  <a:pt x="4984" y="2817"/>
                  <a:pt x="5037" y="2817"/>
                </a:cubicBezTo>
                <a:cubicBezTo>
                  <a:pt x="5041" y="2795"/>
                  <a:pt x="5046" y="2773"/>
                  <a:pt x="5051" y="2752"/>
                </a:cubicBezTo>
                <a:cubicBezTo>
                  <a:pt x="5031" y="2754"/>
                  <a:pt x="5008" y="2755"/>
                  <a:pt x="4985" y="2755"/>
                </a:cubicBezTo>
                <a:cubicBezTo>
                  <a:pt x="4960" y="2755"/>
                  <a:pt x="4948" y="2743"/>
                  <a:pt x="4948" y="2720"/>
                </a:cubicBezTo>
                <a:lnTo>
                  <a:pt x="4948" y="2600"/>
                </a:lnTo>
                <a:lnTo>
                  <a:pt x="5290" y="2600"/>
                </a:lnTo>
                <a:lnTo>
                  <a:pt x="5290" y="2816"/>
                </a:lnTo>
                <a:lnTo>
                  <a:pt x="5362" y="2816"/>
                </a:lnTo>
                <a:lnTo>
                  <a:pt x="5362" y="2545"/>
                </a:lnTo>
                <a:lnTo>
                  <a:pt x="4876" y="2545"/>
                </a:lnTo>
                <a:close/>
                <a:moveTo>
                  <a:pt x="5002" y="2445"/>
                </a:moveTo>
                <a:lnTo>
                  <a:pt x="5237" y="2445"/>
                </a:lnTo>
                <a:lnTo>
                  <a:pt x="5237" y="2474"/>
                </a:lnTo>
                <a:lnTo>
                  <a:pt x="5002" y="2474"/>
                </a:lnTo>
                <a:lnTo>
                  <a:pt x="5002" y="2445"/>
                </a:lnTo>
                <a:close/>
                <a:moveTo>
                  <a:pt x="4929" y="2399"/>
                </a:moveTo>
                <a:lnTo>
                  <a:pt x="4929" y="2520"/>
                </a:lnTo>
                <a:lnTo>
                  <a:pt x="5311" y="2520"/>
                </a:lnTo>
                <a:lnTo>
                  <a:pt x="5311" y="2399"/>
                </a:lnTo>
                <a:lnTo>
                  <a:pt x="4929" y="2399"/>
                </a:lnTo>
                <a:close/>
                <a:moveTo>
                  <a:pt x="5088" y="2274"/>
                </a:moveTo>
                <a:cubicBezTo>
                  <a:pt x="5081" y="2290"/>
                  <a:pt x="5075" y="2306"/>
                  <a:pt x="5070" y="2320"/>
                </a:cubicBezTo>
                <a:lnTo>
                  <a:pt x="4852" y="2320"/>
                </a:lnTo>
                <a:lnTo>
                  <a:pt x="4852" y="2376"/>
                </a:lnTo>
                <a:lnTo>
                  <a:pt x="5389" y="2376"/>
                </a:lnTo>
                <a:lnTo>
                  <a:pt x="5389" y="2320"/>
                </a:lnTo>
                <a:lnTo>
                  <a:pt x="5161" y="2320"/>
                </a:lnTo>
                <a:cubicBezTo>
                  <a:pt x="5167" y="2308"/>
                  <a:pt x="5171" y="2297"/>
                  <a:pt x="5176" y="2287"/>
                </a:cubicBezTo>
                <a:lnTo>
                  <a:pt x="5088" y="2274"/>
                </a:lnTo>
                <a:close/>
                <a:moveTo>
                  <a:pt x="3274" y="0"/>
                </a:moveTo>
                <a:cubicBezTo>
                  <a:pt x="4110" y="-2"/>
                  <a:pt x="4945" y="315"/>
                  <a:pt x="5581" y="952"/>
                </a:cubicBezTo>
                <a:cubicBezTo>
                  <a:pt x="6855" y="2225"/>
                  <a:pt x="6850" y="4294"/>
                  <a:pt x="5572" y="5572"/>
                </a:cubicBezTo>
                <a:cubicBezTo>
                  <a:pt x="5512" y="5632"/>
                  <a:pt x="5450" y="5689"/>
                  <a:pt x="5387" y="5743"/>
                </a:cubicBezTo>
                <a:lnTo>
                  <a:pt x="5387" y="5744"/>
                </a:lnTo>
                <a:lnTo>
                  <a:pt x="5387" y="5703"/>
                </a:lnTo>
                <a:lnTo>
                  <a:pt x="5166" y="5703"/>
                </a:lnTo>
                <a:cubicBezTo>
                  <a:pt x="5173" y="5686"/>
                  <a:pt x="5180" y="5671"/>
                  <a:pt x="5185" y="5659"/>
                </a:cubicBezTo>
                <a:lnTo>
                  <a:pt x="5104" y="5634"/>
                </a:lnTo>
                <a:cubicBezTo>
                  <a:pt x="5096" y="5651"/>
                  <a:pt x="5084" y="5674"/>
                  <a:pt x="5070" y="5703"/>
                </a:cubicBezTo>
                <a:lnTo>
                  <a:pt x="4859" y="5703"/>
                </a:lnTo>
                <a:lnTo>
                  <a:pt x="4859" y="5771"/>
                </a:lnTo>
                <a:lnTo>
                  <a:pt x="5354" y="5771"/>
                </a:lnTo>
                <a:lnTo>
                  <a:pt x="5323" y="5797"/>
                </a:lnTo>
                <a:cubicBezTo>
                  <a:pt x="5313" y="5805"/>
                  <a:pt x="5302" y="5814"/>
                  <a:pt x="5291" y="5823"/>
                </a:cubicBezTo>
                <a:lnTo>
                  <a:pt x="5286" y="5827"/>
                </a:lnTo>
                <a:lnTo>
                  <a:pt x="5279" y="5822"/>
                </a:lnTo>
                <a:cubicBezTo>
                  <a:pt x="5260" y="5806"/>
                  <a:pt x="5242" y="5790"/>
                  <a:pt x="5225" y="5773"/>
                </a:cubicBezTo>
                <a:lnTo>
                  <a:pt x="5166" y="5827"/>
                </a:lnTo>
                <a:cubicBezTo>
                  <a:pt x="5179" y="5839"/>
                  <a:pt x="5192" y="5851"/>
                  <a:pt x="5206" y="5862"/>
                </a:cubicBezTo>
                <a:lnTo>
                  <a:pt x="5222" y="5876"/>
                </a:lnTo>
                <a:lnTo>
                  <a:pt x="5206" y="5888"/>
                </a:lnTo>
                <a:lnTo>
                  <a:pt x="5200" y="5883"/>
                </a:lnTo>
                <a:cubicBezTo>
                  <a:pt x="5197" y="5888"/>
                  <a:pt x="5194" y="5893"/>
                  <a:pt x="5191" y="5898"/>
                </a:cubicBezTo>
                <a:lnTo>
                  <a:pt x="5190" y="5900"/>
                </a:lnTo>
                <a:lnTo>
                  <a:pt x="5160" y="5922"/>
                </a:lnTo>
                <a:cubicBezTo>
                  <a:pt x="5149" y="5930"/>
                  <a:pt x="5137" y="5938"/>
                  <a:pt x="5126" y="5946"/>
                </a:cubicBezTo>
                <a:lnTo>
                  <a:pt x="5098" y="5965"/>
                </a:lnTo>
                <a:lnTo>
                  <a:pt x="5098" y="5964"/>
                </a:lnTo>
                <a:cubicBezTo>
                  <a:pt x="5077" y="5940"/>
                  <a:pt x="5059" y="5913"/>
                  <a:pt x="5044" y="5882"/>
                </a:cubicBezTo>
                <a:lnTo>
                  <a:pt x="4980" y="5925"/>
                </a:lnTo>
                <a:cubicBezTo>
                  <a:pt x="4994" y="5951"/>
                  <a:pt x="5010" y="5975"/>
                  <a:pt x="5027" y="5997"/>
                </a:cubicBezTo>
                <a:lnTo>
                  <a:pt x="5035" y="6007"/>
                </a:lnTo>
                <a:lnTo>
                  <a:pt x="5024" y="6014"/>
                </a:lnTo>
                <a:cubicBezTo>
                  <a:pt x="4990" y="6036"/>
                  <a:pt x="4956" y="6057"/>
                  <a:pt x="4921" y="6078"/>
                </a:cubicBezTo>
                <a:lnTo>
                  <a:pt x="4905" y="6087"/>
                </a:lnTo>
                <a:lnTo>
                  <a:pt x="4896" y="6089"/>
                </a:lnTo>
                <a:cubicBezTo>
                  <a:pt x="4881" y="6091"/>
                  <a:pt x="4866" y="6094"/>
                  <a:pt x="4850" y="6096"/>
                </a:cubicBezTo>
                <a:cubicBezTo>
                  <a:pt x="4852" y="6099"/>
                  <a:pt x="4854" y="6103"/>
                  <a:pt x="4856" y="6107"/>
                </a:cubicBezTo>
                <a:lnTo>
                  <a:pt x="4860" y="6113"/>
                </a:lnTo>
                <a:lnTo>
                  <a:pt x="4851" y="6118"/>
                </a:lnTo>
                <a:cubicBezTo>
                  <a:pt x="3606" y="6814"/>
                  <a:pt x="2006" y="6636"/>
                  <a:pt x="952" y="5581"/>
                </a:cubicBezTo>
                <a:cubicBezTo>
                  <a:pt x="-321" y="4308"/>
                  <a:pt x="-317" y="2240"/>
                  <a:pt x="962" y="962"/>
                </a:cubicBezTo>
                <a:cubicBezTo>
                  <a:pt x="1601" y="322"/>
                  <a:pt x="2437" y="2"/>
                  <a:pt x="3274" y="0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vert="mongolianVert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 rot="13500000">
            <a:off x="12877165" y="-278765"/>
            <a:ext cx="4194810" cy="4247515"/>
          </a:xfrm>
          <a:prstGeom prst="ellipse">
            <a:avLst/>
          </a:pr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 rot="13500000">
            <a:off x="12877165" y="-186055"/>
            <a:ext cx="4194810" cy="4247515"/>
          </a:xfrm>
          <a:prstGeom prst="ellipse">
            <a:avLst/>
          </a:pr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 rot="13500000">
            <a:off x="10085070" y="-349885"/>
            <a:ext cx="4194810" cy="4247515"/>
          </a:xfrm>
          <a:prstGeom prst="ellipse">
            <a:avLst/>
          </a:prstGeom>
          <a:solidFill>
            <a:schemeClr val="accent1">
              <a:alpha val="7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270" y="514350"/>
            <a:ext cx="7574915" cy="5123180"/>
          </a:xfrm>
        </p:spPr>
        <p:txBody>
          <a:bodyPr>
            <a:normAutofit/>
          </a:bodyPr>
          <a:lstStyle/>
          <a:p>
            <a:pPr algn="ctr"/>
            <a:r>
              <a:rPr lang="zh-CN" altLang="en-US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信任与安全：</a:t>
            </a:r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br>
              <a:rPr lang="en-US" altLang="zh-CN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最担心遇到虚假信息、商品与描述不符、交易欺诈等问题。</a:t>
            </a:r>
            <a:b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b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便捷性：</a:t>
            </a:r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b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希望发布和查找商品简单快捷，沟通顺畅，支付方便。</a:t>
            </a:r>
            <a:b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b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物流与价值痛点：</a:t>
            </a:r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b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倾向于</a:t>
            </a:r>
            <a:r>
              <a:rPr lang="en-US" altLang="zh-CN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校内面交</a:t>
            </a:r>
            <a:r>
              <a:rPr lang="en-US" altLang="zh-CN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。同时，对于低值物品，很多同学觉得</a:t>
            </a:r>
            <a:r>
              <a:rPr lang="en-US" altLang="zh-CN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卖了不值钱，丢了又可惜</a:t>
            </a:r>
            <a:r>
              <a:rPr lang="en-US" altLang="zh-CN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zh-CN" altLang="en-US" sz="2800" b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任意多边形 12"/>
          <p:cNvSpPr/>
          <p:nvPr/>
        </p:nvSpPr>
        <p:spPr>
          <a:xfrm rot="8100000" flipH="1">
            <a:off x="-2067560" y="3042920"/>
            <a:ext cx="5762625" cy="531368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170" h="6269">
                <a:moveTo>
                  <a:pt x="5671" y="3354"/>
                </a:moveTo>
                <a:cubicBezTo>
                  <a:pt x="5604" y="3474"/>
                  <a:pt x="5588" y="3588"/>
                  <a:pt x="5621" y="3695"/>
                </a:cubicBezTo>
                <a:cubicBezTo>
                  <a:pt x="5527" y="3666"/>
                  <a:pt x="5413" y="3680"/>
                  <a:pt x="5277" y="3737"/>
                </a:cubicBezTo>
                <a:cubicBezTo>
                  <a:pt x="5280" y="3771"/>
                  <a:pt x="5283" y="3811"/>
                  <a:pt x="5285" y="3854"/>
                </a:cubicBezTo>
                <a:cubicBezTo>
                  <a:pt x="5422" y="3783"/>
                  <a:pt x="5533" y="3764"/>
                  <a:pt x="5619" y="3797"/>
                </a:cubicBezTo>
                <a:lnTo>
                  <a:pt x="5428" y="3988"/>
                </a:lnTo>
                <a:lnTo>
                  <a:pt x="5492" y="4051"/>
                </a:lnTo>
                <a:lnTo>
                  <a:pt x="5696" y="3847"/>
                </a:lnTo>
                <a:cubicBezTo>
                  <a:pt x="5698" y="3849"/>
                  <a:pt x="5720" y="3870"/>
                  <a:pt x="5762" y="3910"/>
                </a:cubicBezTo>
                <a:lnTo>
                  <a:pt x="5582" y="4090"/>
                </a:lnTo>
                <a:lnTo>
                  <a:pt x="5646" y="4153"/>
                </a:lnTo>
                <a:lnTo>
                  <a:pt x="5754" y="4046"/>
                </a:lnTo>
                <a:cubicBezTo>
                  <a:pt x="5759" y="4090"/>
                  <a:pt x="5763" y="4126"/>
                  <a:pt x="5766" y="4156"/>
                </a:cubicBezTo>
                <a:lnTo>
                  <a:pt x="5862" y="4140"/>
                </a:lnTo>
                <a:cubicBezTo>
                  <a:pt x="5861" y="4110"/>
                  <a:pt x="5858" y="4061"/>
                  <a:pt x="5854" y="3990"/>
                </a:cubicBezTo>
                <a:lnTo>
                  <a:pt x="5799" y="4000"/>
                </a:lnTo>
                <a:lnTo>
                  <a:pt x="5885" y="3914"/>
                </a:lnTo>
                <a:cubicBezTo>
                  <a:pt x="5946" y="3924"/>
                  <a:pt x="6002" y="3935"/>
                  <a:pt x="6053" y="3948"/>
                </a:cubicBezTo>
                <a:lnTo>
                  <a:pt x="6088" y="3839"/>
                </a:lnTo>
                <a:lnTo>
                  <a:pt x="5970" y="3830"/>
                </a:lnTo>
                <a:lnTo>
                  <a:pt x="6080" y="3719"/>
                </a:lnTo>
                <a:lnTo>
                  <a:pt x="6016" y="3656"/>
                </a:lnTo>
                <a:lnTo>
                  <a:pt x="5836" y="3836"/>
                </a:lnTo>
                <a:cubicBezTo>
                  <a:pt x="5822" y="3822"/>
                  <a:pt x="5801" y="3801"/>
                  <a:pt x="5771" y="3772"/>
                </a:cubicBezTo>
                <a:lnTo>
                  <a:pt x="5977" y="3566"/>
                </a:lnTo>
                <a:lnTo>
                  <a:pt x="5913" y="3503"/>
                </a:lnTo>
                <a:lnTo>
                  <a:pt x="5720" y="3696"/>
                </a:lnTo>
                <a:cubicBezTo>
                  <a:pt x="5687" y="3600"/>
                  <a:pt x="5710" y="3492"/>
                  <a:pt x="5790" y="3372"/>
                </a:cubicBezTo>
                <a:cubicBezTo>
                  <a:pt x="5737" y="3365"/>
                  <a:pt x="5697" y="3360"/>
                  <a:pt x="5671" y="3354"/>
                </a:cubicBezTo>
                <a:close/>
                <a:moveTo>
                  <a:pt x="5051" y="3230"/>
                </a:moveTo>
                <a:cubicBezTo>
                  <a:pt x="4941" y="3245"/>
                  <a:pt x="4876" y="3251"/>
                  <a:pt x="4854" y="3248"/>
                </a:cubicBezTo>
                <a:lnTo>
                  <a:pt x="4861" y="3348"/>
                </a:lnTo>
                <a:cubicBezTo>
                  <a:pt x="4881" y="3349"/>
                  <a:pt x="4902" y="3361"/>
                  <a:pt x="4925" y="3384"/>
                </a:cubicBezTo>
                <a:lnTo>
                  <a:pt x="5060" y="3519"/>
                </a:lnTo>
                <a:lnTo>
                  <a:pt x="5005" y="3565"/>
                </a:lnTo>
                <a:lnTo>
                  <a:pt x="5065" y="3634"/>
                </a:lnTo>
                <a:lnTo>
                  <a:pt x="5125" y="3584"/>
                </a:lnTo>
                <a:lnTo>
                  <a:pt x="5260" y="3719"/>
                </a:lnTo>
                <a:lnTo>
                  <a:pt x="5328" y="3651"/>
                </a:lnTo>
                <a:lnTo>
                  <a:pt x="5197" y="3521"/>
                </a:lnTo>
                <a:lnTo>
                  <a:pt x="5280" y="3453"/>
                </a:lnTo>
                <a:lnTo>
                  <a:pt x="5220" y="3386"/>
                </a:lnTo>
                <a:lnTo>
                  <a:pt x="5133" y="3457"/>
                </a:lnTo>
                <a:lnTo>
                  <a:pt x="5004" y="3327"/>
                </a:lnTo>
                <a:cubicBezTo>
                  <a:pt x="5027" y="3322"/>
                  <a:pt x="5066" y="3316"/>
                  <a:pt x="5119" y="3308"/>
                </a:cubicBezTo>
                <a:cubicBezTo>
                  <a:pt x="5091" y="3278"/>
                  <a:pt x="5068" y="3252"/>
                  <a:pt x="5051" y="3230"/>
                </a:cubicBezTo>
                <a:close/>
                <a:moveTo>
                  <a:pt x="5187" y="2883"/>
                </a:moveTo>
                <a:cubicBezTo>
                  <a:pt x="5173" y="2884"/>
                  <a:pt x="5159" y="2888"/>
                  <a:pt x="5147" y="2896"/>
                </a:cubicBezTo>
                <a:cubicBezTo>
                  <a:pt x="5128" y="2909"/>
                  <a:pt x="5090" y="2942"/>
                  <a:pt x="5035" y="2995"/>
                </a:cubicBezTo>
                <a:cubicBezTo>
                  <a:pt x="5053" y="3022"/>
                  <a:pt x="5073" y="3053"/>
                  <a:pt x="5092" y="3088"/>
                </a:cubicBezTo>
                <a:cubicBezTo>
                  <a:pt x="5119" y="3057"/>
                  <a:pt x="5139" y="3035"/>
                  <a:pt x="5154" y="3020"/>
                </a:cubicBezTo>
                <a:cubicBezTo>
                  <a:pt x="5169" y="3005"/>
                  <a:pt x="5182" y="2998"/>
                  <a:pt x="5195" y="2998"/>
                </a:cubicBezTo>
                <a:cubicBezTo>
                  <a:pt x="5207" y="2999"/>
                  <a:pt x="5218" y="3003"/>
                  <a:pt x="5228" y="3011"/>
                </a:cubicBezTo>
                <a:cubicBezTo>
                  <a:pt x="5238" y="3018"/>
                  <a:pt x="5335" y="3111"/>
                  <a:pt x="5516" y="3287"/>
                </a:cubicBezTo>
                <a:lnTo>
                  <a:pt x="5435" y="3369"/>
                </a:lnTo>
                <a:cubicBezTo>
                  <a:pt x="5312" y="3253"/>
                  <a:pt x="5233" y="3182"/>
                  <a:pt x="5195" y="3154"/>
                </a:cubicBezTo>
                <a:cubicBezTo>
                  <a:pt x="5158" y="3127"/>
                  <a:pt x="5116" y="3106"/>
                  <a:pt x="5067" y="3092"/>
                </a:cubicBezTo>
                <a:cubicBezTo>
                  <a:pt x="5019" y="3077"/>
                  <a:pt x="4971" y="3074"/>
                  <a:pt x="4923" y="3082"/>
                </a:cubicBezTo>
                <a:cubicBezTo>
                  <a:pt x="4924" y="3110"/>
                  <a:pt x="4922" y="3146"/>
                  <a:pt x="4918" y="3189"/>
                </a:cubicBezTo>
                <a:cubicBezTo>
                  <a:pt x="5028" y="3174"/>
                  <a:pt x="5129" y="3212"/>
                  <a:pt x="5220" y="3303"/>
                </a:cubicBezTo>
                <a:lnTo>
                  <a:pt x="5365" y="3439"/>
                </a:lnTo>
                <a:lnTo>
                  <a:pt x="5303" y="3500"/>
                </a:lnTo>
                <a:lnTo>
                  <a:pt x="5365" y="3563"/>
                </a:lnTo>
                <a:lnTo>
                  <a:pt x="5650" y="3278"/>
                </a:lnTo>
                <a:lnTo>
                  <a:pt x="5362" y="3001"/>
                </a:lnTo>
                <a:lnTo>
                  <a:pt x="5296" y="2939"/>
                </a:lnTo>
                <a:cubicBezTo>
                  <a:pt x="5266" y="2909"/>
                  <a:pt x="5239" y="2892"/>
                  <a:pt x="5214" y="2886"/>
                </a:cubicBezTo>
                <a:cubicBezTo>
                  <a:pt x="5205" y="2884"/>
                  <a:pt x="5196" y="2883"/>
                  <a:pt x="5187" y="2883"/>
                </a:cubicBezTo>
                <a:close/>
                <a:moveTo>
                  <a:pt x="4265" y="2713"/>
                </a:moveTo>
                <a:lnTo>
                  <a:pt x="4237" y="2802"/>
                </a:lnTo>
                <a:cubicBezTo>
                  <a:pt x="4301" y="2820"/>
                  <a:pt x="4359" y="2839"/>
                  <a:pt x="4412" y="2860"/>
                </a:cubicBezTo>
                <a:lnTo>
                  <a:pt x="4447" y="2773"/>
                </a:lnTo>
                <a:cubicBezTo>
                  <a:pt x="4397" y="2754"/>
                  <a:pt x="4336" y="2734"/>
                  <a:pt x="4265" y="2713"/>
                </a:cubicBezTo>
                <a:close/>
                <a:moveTo>
                  <a:pt x="4799" y="2625"/>
                </a:moveTo>
                <a:lnTo>
                  <a:pt x="4866" y="2692"/>
                </a:lnTo>
                <a:lnTo>
                  <a:pt x="4625" y="2933"/>
                </a:lnTo>
                <a:lnTo>
                  <a:pt x="4558" y="2865"/>
                </a:lnTo>
                <a:lnTo>
                  <a:pt x="4799" y="2625"/>
                </a:lnTo>
                <a:close/>
                <a:moveTo>
                  <a:pt x="4476" y="2565"/>
                </a:moveTo>
                <a:lnTo>
                  <a:pt x="4395" y="2613"/>
                </a:lnTo>
                <a:cubicBezTo>
                  <a:pt x="4425" y="2671"/>
                  <a:pt x="4449" y="2718"/>
                  <a:pt x="4466" y="2755"/>
                </a:cubicBezTo>
                <a:lnTo>
                  <a:pt x="4545" y="2710"/>
                </a:lnTo>
                <a:cubicBezTo>
                  <a:pt x="4520" y="2653"/>
                  <a:pt x="4496" y="2605"/>
                  <a:pt x="4476" y="2565"/>
                </a:cubicBezTo>
                <a:close/>
                <a:moveTo>
                  <a:pt x="4810" y="2491"/>
                </a:moveTo>
                <a:lnTo>
                  <a:pt x="4424" y="2877"/>
                </a:lnTo>
                <a:lnTo>
                  <a:pt x="4613" y="3066"/>
                </a:lnTo>
                <a:lnTo>
                  <a:pt x="4760" y="2919"/>
                </a:lnTo>
                <a:lnTo>
                  <a:pt x="4905" y="3063"/>
                </a:lnTo>
                <a:lnTo>
                  <a:pt x="4975" y="2993"/>
                </a:lnTo>
                <a:lnTo>
                  <a:pt x="4934" y="2951"/>
                </a:lnTo>
                <a:lnTo>
                  <a:pt x="5142" y="2742"/>
                </a:lnTo>
                <a:lnTo>
                  <a:pt x="5080" y="2680"/>
                </a:lnTo>
                <a:lnTo>
                  <a:pt x="4871" y="2889"/>
                </a:lnTo>
                <a:lnTo>
                  <a:pt x="4831" y="2848"/>
                </a:lnTo>
                <a:lnTo>
                  <a:pt x="4999" y="2680"/>
                </a:lnTo>
                <a:lnTo>
                  <a:pt x="4810" y="2491"/>
                </a:lnTo>
                <a:close/>
                <a:moveTo>
                  <a:pt x="4607" y="2449"/>
                </a:moveTo>
                <a:lnTo>
                  <a:pt x="4522" y="2494"/>
                </a:lnTo>
                <a:cubicBezTo>
                  <a:pt x="4546" y="2543"/>
                  <a:pt x="4567" y="2591"/>
                  <a:pt x="4587" y="2639"/>
                </a:cubicBezTo>
                <a:lnTo>
                  <a:pt x="4668" y="2597"/>
                </a:lnTo>
                <a:cubicBezTo>
                  <a:pt x="4650" y="2551"/>
                  <a:pt x="4630" y="2501"/>
                  <a:pt x="4607" y="2449"/>
                </a:cubicBezTo>
                <a:close/>
                <a:moveTo>
                  <a:pt x="4728" y="2313"/>
                </a:moveTo>
                <a:lnTo>
                  <a:pt x="4641" y="2351"/>
                </a:lnTo>
                <a:cubicBezTo>
                  <a:pt x="4666" y="2416"/>
                  <a:pt x="4688" y="2474"/>
                  <a:pt x="4705" y="2526"/>
                </a:cubicBezTo>
                <a:lnTo>
                  <a:pt x="4790" y="2491"/>
                </a:lnTo>
                <a:cubicBezTo>
                  <a:pt x="4771" y="2430"/>
                  <a:pt x="4750" y="2371"/>
                  <a:pt x="4728" y="2313"/>
                </a:cubicBezTo>
                <a:close/>
                <a:moveTo>
                  <a:pt x="3211" y="0"/>
                </a:moveTo>
                <a:cubicBezTo>
                  <a:pt x="4984" y="0"/>
                  <a:pt x="6421" y="1403"/>
                  <a:pt x="6421" y="3135"/>
                </a:cubicBezTo>
                <a:cubicBezTo>
                  <a:pt x="6421" y="3554"/>
                  <a:pt x="6337" y="3954"/>
                  <a:pt x="6184" y="4319"/>
                </a:cubicBezTo>
                <a:lnTo>
                  <a:pt x="6177" y="4335"/>
                </a:lnTo>
                <a:lnTo>
                  <a:pt x="6052" y="4209"/>
                </a:lnTo>
                <a:cubicBezTo>
                  <a:pt x="6023" y="4181"/>
                  <a:pt x="6024" y="4152"/>
                  <a:pt x="6053" y="4122"/>
                </a:cubicBezTo>
                <a:lnTo>
                  <a:pt x="6079" y="4097"/>
                </a:lnTo>
                <a:cubicBezTo>
                  <a:pt x="6093" y="4082"/>
                  <a:pt x="6108" y="4073"/>
                  <a:pt x="6121" y="4070"/>
                </a:cubicBezTo>
                <a:cubicBezTo>
                  <a:pt x="6134" y="4066"/>
                  <a:pt x="6147" y="4069"/>
                  <a:pt x="6158" y="4076"/>
                </a:cubicBezTo>
                <a:cubicBezTo>
                  <a:pt x="6170" y="4084"/>
                  <a:pt x="6197" y="4105"/>
                  <a:pt x="6239" y="4139"/>
                </a:cubicBezTo>
                <a:cubicBezTo>
                  <a:pt x="6256" y="4097"/>
                  <a:pt x="6272" y="4062"/>
                  <a:pt x="6286" y="4035"/>
                </a:cubicBezTo>
                <a:cubicBezTo>
                  <a:pt x="6268" y="4022"/>
                  <a:pt x="6242" y="4005"/>
                  <a:pt x="6210" y="3985"/>
                </a:cubicBezTo>
                <a:cubicBezTo>
                  <a:pt x="6177" y="3965"/>
                  <a:pt x="6153" y="3955"/>
                  <a:pt x="6137" y="3956"/>
                </a:cubicBezTo>
                <a:cubicBezTo>
                  <a:pt x="6120" y="3957"/>
                  <a:pt x="6104" y="3962"/>
                  <a:pt x="6088" y="3970"/>
                </a:cubicBezTo>
                <a:cubicBezTo>
                  <a:pt x="6071" y="3979"/>
                  <a:pt x="6054" y="3993"/>
                  <a:pt x="6036" y="4011"/>
                </a:cubicBezTo>
                <a:lnTo>
                  <a:pt x="5955" y="4092"/>
                </a:lnTo>
                <a:cubicBezTo>
                  <a:pt x="5899" y="4148"/>
                  <a:pt x="5899" y="4204"/>
                  <a:pt x="5956" y="4260"/>
                </a:cubicBezTo>
                <a:lnTo>
                  <a:pt x="6132" y="4436"/>
                </a:lnTo>
                <a:lnTo>
                  <a:pt x="6121" y="4459"/>
                </a:lnTo>
                <a:lnTo>
                  <a:pt x="6118" y="4465"/>
                </a:lnTo>
                <a:lnTo>
                  <a:pt x="6112" y="4461"/>
                </a:lnTo>
                <a:cubicBezTo>
                  <a:pt x="6043" y="4416"/>
                  <a:pt x="5974" y="4377"/>
                  <a:pt x="5907" y="4344"/>
                </a:cubicBezTo>
                <a:lnTo>
                  <a:pt x="5865" y="4434"/>
                </a:lnTo>
                <a:cubicBezTo>
                  <a:pt x="5924" y="4465"/>
                  <a:pt x="5989" y="4502"/>
                  <a:pt x="6058" y="4546"/>
                </a:cubicBezTo>
                <a:lnTo>
                  <a:pt x="6073" y="4555"/>
                </a:lnTo>
                <a:lnTo>
                  <a:pt x="6070" y="4561"/>
                </a:lnTo>
                <a:cubicBezTo>
                  <a:pt x="5538" y="5575"/>
                  <a:pt x="4457" y="6269"/>
                  <a:pt x="3211" y="6269"/>
                </a:cubicBezTo>
                <a:cubicBezTo>
                  <a:pt x="1437" y="6269"/>
                  <a:pt x="0" y="4866"/>
                  <a:pt x="0" y="3135"/>
                </a:cubicBezTo>
                <a:cubicBezTo>
                  <a:pt x="0" y="1403"/>
                  <a:pt x="1437" y="0"/>
                  <a:pt x="3211" y="0"/>
                </a:cubicBezTo>
                <a:close/>
                <a:moveTo>
                  <a:pt x="6369" y="4689"/>
                </a:moveTo>
                <a:lnTo>
                  <a:pt x="6586" y="4906"/>
                </a:lnTo>
                <a:cubicBezTo>
                  <a:pt x="6586" y="4893"/>
                  <a:pt x="6586" y="4880"/>
                  <a:pt x="6585" y="4866"/>
                </a:cubicBezTo>
                <a:lnTo>
                  <a:pt x="6677" y="4868"/>
                </a:lnTo>
                <a:cubicBezTo>
                  <a:pt x="6674" y="4910"/>
                  <a:pt x="6671" y="4950"/>
                  <a:pt x="6667" y="4987"/>
                </a:cubicBezTo>
                <a:lnTo>
                  <a:pt x="6705" y="5026"/>
                </a:lnTo>
                <a:lnTo>
                  <a:pt x="6755" y="4976"/>
                </a:lnTo>
                <a:lnTo>
                  <a:pt x="6819" y="5040"/>
                </a:lnTo>
                <a:lnTo>
                  <a:pt x="6770" y="5090"/>
                </a:lnTo>
                <a:lnTo>
                  <a:pt x="6857" y="5178"/>
                </a:lnTo>
                <a:lnTo>
                  <a:pt x="6794" y="5241"/>
                </a:lnTo>
                <a:lnTo>
                  <a:pt x="6706" y="5153"/>
                </a:lnTo>
                <a:lnTo>
                  <a:pt x="6647" y="5212"/>
                </a:lnTo>
                <a:lnTo>
                  <a:pt x="6583" y="5148"/>
                </a:lnTo>
                <a:lnTo>
                  <a:pt x="6638" y="5093"/>
                </a:lnTo>
                <a:cubicBezTo>
                  <a:pt x="6579" y="5060"/>
                  <a:pt x="6515" y="5035"/>
                  <a:pt x="6445" y="5018"/>
                </a:cubicBezTo>
                <a:cubicBezTo>
                  <a:pt x="6425" y="4987"/>
                  <a:pt x="6400" y="4952"/>
                  <a:pt x="6371" y="4911"/>
                </a:cubicBezTo>
                <a:cubicBezTo>
                  <a:pt x="6420" y="4923"/>
                  <a:pt x="6466" y="4939"/>
                  <a:pt x="6510" y="4957"/>
                </a:cubicBezTo>
                <a:lnTo>
                  <a:pt x="6306" y="4752"/>
                </a:lnTo>
                <a:lnTo>
                  <a:pt x="6369" y="4689"/>
                </a:lnTo>
                <a:close/>
                <a:moveTo>
                  <a:pt x="6813" y="4678"/>
                </a:moveTo>
                <a:cubicBezTo>
                  <a:pt x="6885" y="4679"/>
                  <a:pt x="6956" y="4688"/>
                  <a:pt x="7025" y="4707"/>
                </a:cubicBezTo>
                <a:lnTo>
                  <a:pt x="7000" y="4797"/>
                </a:lnTo>
                <a:cubicBezTo>
                  <a:pt x="6963" y="4787"/>
                  <a:pt x="6924" y="4779"/>
                  <a:pt x="6885" y="4775"/>
                </a:cubicBezTo>
                <a:lnTo>
                  <a:pt x="6820" y="4835"/>
                </a:lnTo>
                <a:cubicBezTo>
                  <a:pt x="6865" y="4842"/>
                  <a:pt x="6908" y="4849"/>
                  <a:pt x="6949" y="4857"/>
                </a:cubicBezTo>
                <a:lnTo>
                  <a:pt x="7111" y="4695"/>
                </a:lnTo>
                <a:lnTo>
                  <a:pt x="7170" y="4754"/>
                </a:lnTo>
                <a:lnTo>
                  <a:pt x="7051" y="4873"/>
                </a:lnTo>
                <a:cubicBezTo>
                  <a:pt x="7063" y="4903"/>
                  <a:pt x="7074" y="4932"/>
                  <a:pt x="7082" y="4958"/>
                </a:cubicBezTo>
                <a:lnTo>
                  <a:pt x="6995" y="5019"/>
                </a:lnTo>
                <a:cubicBezTo>
                  <a:pt x="6987" y="4997"/>
                  <a:pt x="6979" y="4975"/>
                  <a:pt x="6970" y="4954"/>
                </a:cubicBezTo>
                <a:lnTo>
                  <a:pt x="6857" y="5067"/>
                </a:lnTo>
                <a:lnTo>
                  <a:pt x="6798" y="5008"/>
                </a:lnTo>
                <a:lnTo>
                  <a:pt x="6866" y="4940"/>
                </a:lnTo>
                <a:cubicBezTo>
                  <a:pt x="6793" y="4919"/>
                  <a:pt x="6739" y="4911"/>
                  <a:pt x="6705" y="4918"/>
                </a:cubicBezTo>
                <a:lnTo>
                  <a:pt x="6673" y="4850"/>
                </a:lnTo>
                <a:cubicBezTo>
                  <a:pt x="6694" y="4833"/>
                  <a:pt x="6725" y="4806"/>
                  <a:pt x="6766" y="4771"/>
                </a:cubicBezTo>
                <a:cubicBezTo>
                  <a:pt x="6692" y="4774"/>
                  <a:pt x="6614" y="4787"/>
                  <a:pt x="6532" y="4810"/>
                </a:cubicBezTo>
                <a:cubicBezTo>
                  <a:pt x="6532" y="4784"/>
                  <a:pt x="6530" y="4753"/>
                  <a:pt x="6526" y="4717"/>
                </a:cubicBezTo>
                <a:cubicBezTo>
                  <a:pt x="6624" y="4689"/>
                  <a:pt x="6720" y="4676"/>
                  <a:pt x="6813" y="4678"/>
                </a:cubicBezTo>
                <a:close/>
                <a:moveTo>
                  <a:pt x="6118" y="4465"/>
                </a:moveTo>
                <a:lnTo>
                  <a:pt x="6147" y="4483"/>
                </a:lnTo>
                <a:cubicBezTo>
                  <a:pt x="6159" y="4491"/>
                  <a:pt x="6170" y="4499"/>
                  <a:pt x="6182" y="4507"/>
                </a:cubicBezTo>
                <a:lnTo>
                  <a:pt x="6129" y="4591"/>
                </a:lnTo>
                <a:cubicBezTo>
                  <a:pt x="6117" y="4583"/>
                  <a:pt x="6105" y="4575"/>
                  <a:pt x="6093" y="4568"/>
                </a:cubicBezTo>
                <a:lnTo>
                  <a:pt x="6073" y="4555"/>
                </a:lnTo>
                <a:lnTo>
                  <a:pt x="6087" y="4528"/>
                </a:lnTo>
                <a:cubicBezTo>
                  <a:pt x="6093" y="4516"/>
                  <a:pt x="6099" y="4505"/>
                  <a:pt x="6104" y="4493"/>
                </a:cubicBezTo>
                <a:lnTo>
                  <a:pt x="6118" y="4465"/>
                </a:lnTo>
                <a:close/>
                <a:moveTo>
                  <a:pt x="6686" y="4368"/>
                </a:moveTo>
                <a:lnTo>
                  <a:pt x="6791" y="4371"/>
                </a:lnTo>
                <a:cubicBezTo>
                  <a:pt x="6790" y="4422"/>
                  <a:pt x="6786" y="4478"/>
                  <a:pt x="6778" y="4540"/>
                </a:cubicBezTo>
                <a:cubicBezTo>
                  <a:pt x="6844" y="4539"/>
                  <a:pt x="6911" y="4545"/>
                  <a:pt x="6978" y="4557"/>
                </a:cubicBezTo>
                <a:lnTo>
                  <a:pt x="6956" y="4646"/>
                </a:lnTo>
                <a:cubicBezTo>
                  <a:pt x="6804" y="4620"/>
                  <a:pt x="6637" y="4638"/>
                  <a:pt x="6455" y="4701"/>
                </a:cubicBezTo>
                <a:cubicBezTo>
                  <a:pt x="6453" y="4670"/>
                  <a:pt x="6451" y="4638"/>
                  <a:pt x="6447" y="4605"/>
                </a:cubicBezTo>
                <a:cubicBezTo>
                  <a:pt x="6525" y="4576"/>
                  <a:pt x="6604" y="4556"/>
                  <a:pt x="6684" y="4546"/>
                </a:cubicBezTo>
                <a:cubicBezTo>
                  <a:pt x="6689" y="4492"/>
                  <a:pt x="6689" y="4432"/>
                  <a:pt x="6686" y="4368"/>
                </a:cubicBezTo>
                <a:close/>
                <a:moveTo>
                  <a:pt x="6177" y="4335"/>
                </a:moveTo>
                <a:lnTo>
                  <a:pt x="6316" y="4473"/>
                </a:lnTo>
                <a:lnTo>
                  <a:pt x="6242" y="4547"/>
                </a:lnTo>
                <a:lnTo>
                  <a:pt x="6132" y="4436"/>
                </a:lnTo>
                <a:lnTo>
                  <a:pt x="6137" y="4424"/>
                </a:lnTo>
                <a:cubicBezTo>
                  <a:pt x="6148" y="4401"/>
                  <a:pt x="6159" y="4378"/>
                  <a:pt x="6169" y="4355"/>
                </a:cubicBezTo>
                <a:lnTo>
                  <a:pt x="6177" y="4335"/>
                </a:lnTo>
                <a:close/>
                <a:moveTo>
                  <a:pt x="6425" y="4324"/>
                </a:moveTo>
                <a:cubicBezTo>
                  <a:pt x="6442" y="4407"/>
                  <a:pt x="6454" y="4481"/>
                  <a:pt x="6462" y="4547"/>
                </a:cubicBezTo>
                <a:lnTo>
                  <a:pt x="6369" y="4568"/>
                </a:lnTo>
                <a:cubicBezTo>
                  <a:pt x="6358" y="4501"/>
                  <a:pt x="6341" y="4428"/>
                  <a:pt x="6318" y="4349"/>
                </a:cubicBezTo>
                <a:lnTo>
                  <a:pt x="6425" y="4324"/>
                </a:lnTo>
                <a:close/>
                <a:moveTo>
                  <a:pt x="6399" y="3977"/>
                </a:moveTo>
                <a:cubicBezTo>
                  <a:pt x="6434" y="4052"/>
                  <a:pt x="6466" y="4130"/>
                  <a:pt x="6494" y="4211"/>
                </a:cubicBezTo>
                <a:lnTo>
                  <a:pt x="6401" y="4250"/>
                </a:lnTo>
                <a:cubicBezTo>
                  <a:pt x="6371" y="4168"/>
                  <a:pt x="6338" y="4090"/>
                  <a:pt x="6302" y="4017"/>
                </a:cubicBezTo>
                <a:lnTo>
                  <a:pt x="6399" y="3977"/>
                </a:lnTo>
                <a:close/>
              </a:path>
            </a:pathLst>
          </a:custGeom>
          <a:solidFill>
            <a:schemeClr val="accent1">
              <a:alpha val="27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-2870835" y="6858000"/>
            <a:ext cx="2959735" cy="2931795"/>
          </a:xfrm>
          <a:prstGeom prst="ellipse">
            <a:avLst/>
          </a:prstGeom>
          <a:solidFill>
            <a:schemeClr val="accent1">
              <a:alpha val="16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595" y="-33655"/>
            <a:ext cx="9074150" cy="6007735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1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31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以物换物</a:t>
            </a:r>
            <a:r>
              <a:rPr lang="en-US" altLang="zh-CN" sz="31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31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的意愿：</a:t>
            </a:r>
            <a:r>
              <a:rPr lang="en-US" altLang="zh-CN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超过一半的同学，特别是低年级学生和对于书籍、文创、手工艺品等非标品，表现出强烈的</a:t>
            </a:r>
            <a:r>
              <a:rPr lang="en-US" altLang="zh-CN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以物换物</a:t>
            </a:r>
            <a:r>
              <a:rPr lang="en-US" altLang="zh-CN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兴趣。他们认为这不仅是处理闲置的方式，更是一种有趣、低碳且能结识同好的社交行为。</a:t>
            </a:r>
            <a:b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b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31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对商业化行为的警惕：</a:t>
            </a:r>
            <a:r>
              <a:rPr lang="en-US" altLang="zh-CN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在调研中，多数同学明确表示，反感平台出现过多的商业广告或向学生用户收取高额交易佣金，这被视作</a:t>
            </a:r>
            <a:r>
              <a:rPr lang="en-US" altLang="zh-CN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破坏了校园社区的纯粹性</a:t>
            </a:r>
            <a:r>
              <a:rPr lang="en-US" altLang="zh-CN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b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b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31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总结：</a:t>
            </a:r>
            <a: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校内同学对一个安全、便捷、同校、有分类的二手交易平台存在强烈需求。同时，对于</a:t>
            </a:r>
            <a:r>
              <a:rPr lang="en-US" altLang="zh-CN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“</a:t>
            </a:r>
            <a: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以物换物</a:t>
            </a:r>
            <a:r>
              <a:rPr lang="en-US" altLang="zh-CN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 </a:t>
            </a:r>
            <a:r>
              <a:rPr lang="zh-CN" altLang="en-US" sz="2800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这一绿色交易模式有明确的期待。然而，用户对平台的商业化举措非常敏感，这要求我们在设计盈利模式时必须谨慎，以保持社区的良好氛围。</a:t>
            </a:r>
            <a:endParaRPr lang="zh-CN" altLang="en-US" sz="2800" b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标题 4"/>
          <p:cNvSpPr/>
          <p:nvPr>
            <p:custDataLst>
              <p:tags r:id="rId2"/>
            </p:custDataLst>
          </p:nvPr>
        </p:nvSpPr>
        <p:spPr>
          <a:xfrm flipH="1">
            <a:off x="9693910" y="605790"/>
            <a:ext cx="5094605" cy="62522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086" h="9024">
                <a:moveTo>
                  <a:pt x="5623" y="2394"/>
                </a:moveTo>
                <a:lnTo>
                  <a:pt x="5682" y="2456"/>
                </a:lnTo>
                <a:cubicBezTo>
                  <a:pt x="5671" y="2465"/>
                  <a:pt x="5659" y="2475"/>
                  <a:pt x="5647" y="2484"/>
                </a:cubicBezTo>
                <a:lnTo>
                  <a:pt x="5624" y="2504"/>
                </a:lnTo>
                <a:lnTo>
                  <a:pt x="5594" y="2482"/>
                </a:lnTo>
                <a:cubicBezTo>
                  <a:pt x="5582" y="2473"/>
                  <a:pt x="5571" y="2465"/>
                  <a:pt x="5559" y="2457"/>
                </a:cubicBezTo>
                <a:lnTo>
                  <a:pt x="5550" y="2450"/>
                </a:lnTo>
                <a:lnTo>
                  <a:pt x="5552" y="2448"/>
                </a:lnTo>
                <a:cubicBezTo>
                  <a:pt x="5575" y="2430"/>
                  <a:pt x="5599" y="2412"/>
                  <a:pt x="5623" y="2394"/>
                </a:cubicBezTo>
                <a:close/>
                <a:moveTo>
                  <a:pt x="5335" y="2166"/>
                </a:moveTo>
                <a:lnTo>
                  <a:pt x="5433" y="2166"/>
                </a:lnTo>
                <a:lnTo>
                  <a:pt x="5433" y="2283"/>
                </a:lnTo>
                <a:lnTo>
                  <a:pt x="5718" y="2283"/>
                </a:lnTo>
                <a:lnTo>
                  <a:pt x="5718" y="2371"/>
                </a:lnTo>
                <a:lnTo>
                  <a:pt x="5433" y="2371"/>
                </a:lnTo>
                <a:lnTo>
                  <a:pt x="5433" y="2372"/>
                </a:lnTo>
                <a:lnTo>
                  <a:pt x="5417" y="2361"/>
                </a:lnTo>
                <a:cubicBezTo>
                  <a:pt x="5380" y="2338"/>
                  <a:pt x="5344" y="2316"/>
                  <a:pt x="5307" y="2294"/>
                </a:cubicBezTo>
                <a:lnTo>
                  <a:pt x="5287" y="2283"/>
                </a:lnTo>
                <a:lnTo>
                  <a:pt x="5335" y="2283"/>
                </a:lnTo>
                <a:lnTo>
                  <a:pt x="5335" y="2166"/>
                </a:lnTo>
                <a:close/>
                <a:moveTo>
                  <a:pt x="5209" y="2164"/>
                </a:moveTo>
                <a:lnTo>
                  <a:pt x="5271" y="2220"/>
                </a:lnTo>
                <a:cubicBezTo>
                  <a:pt x="5263" y="2225"/>
                  <a:pt x="5256" y="2230"/>
                  <a:pt x="5248" y="2236"/>
                </a:cubicBezTo>
                <a:lnTo>
                  <a:pt x="5228" y="2250"/>
                </a:lnTo>
                <a:lnTo>
                  <a:pt x="5194" y="2231"/>
                </a:lnTo>
                <a:cubicBezTo>
                  <a:pt x="5181" y="2225"/>
                  <a:pt x="5169" y="2218"/>
                  <a:pt x="5156" y="2211"/>
                </a:cubicBezTo>
                <a:lnTo>
                  <a:pt x="5146" y="2206"/>
                </a:lnTo>
                <a:lnTo>
                  <a:pt x="5157" y="2198"/>
                </a:lnTo>
                <a:cubicBezTo>
                  <a:pt x="5175" y="2186"/>
                  <a:pt x="5192" y="2175"/>
                  <a:pt x="5209" y="2164"/>
                </a:cubicBezTo>
                <a:close/>
                <a:moveTo>
                  <a:pt x="5040" y="1789"/>
                </a:moveTo>
                <a:lnTo>
                  <a:pt x="5720" y="1789"/>
                </a:lnTo>
                <a:lnTo>
                  <a:pt x="5720" y="1856"/>
                </a:lnTo>
                <a:lnTo>
                  <a:pt x="5450" y="1856"/>
                </a:lnTo>
                <a:lnTo>
                  <a:pt x="5463" y="1896"/>
                </a:lnTo>
                <a:lnTo>
                  <a:pt x="5665" y="1896"/>
                </a:lnTo>
                <a:lnTo>
                  <a:pt x="5665" y="2121"/>
                </a:lnTo>
                <a:lnTo>
                  <a:pt x="5578" y="2121"/>
                </a:lnTo>
                <a:lnTo>
                  <a:pt x="5578" y="1961"/>
                </a:lnTo>
                <a:lnTo>
                  <a:pt x="5502" y="1961"/>
                </a:lnTo>
                <a:lnTo>
                  <a:pt x="5502" y="2104"/>
                </a:lnTo>
                <a:lnTo>
                  <a:pt x="5417" y="2104"/>
                </a:lnTo>
                <a:lnTo>
                  <a:pt x="5417" y="1961"/>
                </a:lnTo>
                <a:lnTo>
                  <a:pt x="5341" y="1961"/>
                </a:lnTo>
                <a:lnTo>
                  <a:pt x="5341" y="2104"/>
                </a:lnTo>
                <a:lnTo>
                  <a:pt x="5256" y="2104"/>
                </a:lnTo>
                <a:lnTo>
                  <a:pt x="5256" y="1961"/>
                </a:lnTo>
                <a:lnTo>
                  <a:pt x="5180" y="1961"/>
                </a:lnTo>
                <a:lnTo>
                  <a:pt x="5180" y="2014"/>
                </a:lnTo>
                <a:cubicBezTo>
                  <a:pt x="5180" y="2034"/>
                  <a:pt x="5188" y="2044"/>
                  <a:pt x="5204" y="2044"/>
                </a:cubicBezTo>
                <a:cubicBezTo>
                  <a:pt x="5219" y="2044"/>
                  <a:pt x="5235" y="2044"/>
                  <a:pt x="5253" y="2043"/>
                </a:cubicBezTo>
                <a:cubicBezTo>
                  <a:pt x="5248" y="2069"/>
                  <a:pt x="5244" y="2097"/>
                  <a:pt x="5241" y="2125"/>
                </a:cubicBezTo>
                <a:lnTo>
                  <a:pt x="5170" y="2125"/>
                </a:lnTo>
                <a:cubicBezTo>
                  <a:pt x="5119" y="2125"/>
                  <a:pt x="5093" y="2099"/>
                  <a:pt x="5093" y="2046"/>
                </a:cubicBezTo>
                <a:lnTo>
                  <a:pt x="5093" y="1896"/>
                </a:lnTo>
                <a:lnTo>
                  <a:pt x="5380" y="1896"/>
                </a:lnTo>
                <a:lnTo>
                  <a:pt x="5366" y="1856"/>
                </a:lnTo>
                <a:lnTo>
                  <a:pt x="5040" y="1856"/>
                </a:lnTo>
                <a:lnTo>
                  <a:pt x="5040" y="1789"/>
                </a:lnTo>
                <a:close/>
                <a:moveTo>
                  <a:pt x="5455" y="1715"/>
                </a:moveTo>
                <a:lnTo>
                  <a:pt x="5637" y="1715"/>
                </a:lnTo>
                <a:lnTo>
                  <a:pt x="5637" y="1759"/>
                </a:lnTo>
                <a:lnTo>
                  <a:pt x="5455" y="1759"/>
                </a:lnTo>
                <a:lnTo>
                  <a:pt x="5455" y="1715"/>
                </a:lnTo>
                <a:close/>
                <a:moveTo>
                  <a:pt x="5123" y="1715"/>
                </a:moveTo>
                <a:lnTo>
                  <a:pt x="5304" y="1715"/>
                </a:lnTo>
                <a:lnTo>
                  <a:pt x="5304" y="1759"/>
                </a:lnTo>
                <a:lnTo>
                  <a:pt x="5123" y="1759"/>
                </a:lnTo>
                <a:lnTo>
                  <a:pt x="5123" y="1715"/>
                </a:lnTo>
                <a:close/>
                <a:moveTo>
                  <a:pt x="5455" y="1644"/>
                </a:moveTo>
                <a:lnTo>
                  <a:pt x="5609" y="1644"/>
                </a:lnTo>
                <a:lnTo>
                  <a:pt x="5609" y="1688"/>
                </a:lnTo>
                <a:lnTo>
                  <a:pt x="5455" y="1688"/>
                </a:lnTo>
                <a:lnTo>
                  <a:pt x="5455" y="1644"/>
                </a:lnTo>
                <a:close/>
                <a:moveTo>
                  <a:pt x="5151" y="1644"/>
                </a:moveTo>
                <a:lnTo>
                  <a:pt x="5304" y="1644"/>
                </a:lnTo>
                <a:lnTo>
                  <a:pt x="5304" y="1688"/>
                </a:lnTo>
                <a:lnTo>
                  <a:pt x="5151" y="1688"/>
                </a:lnTo>
                <a:lnTo>
                  <a:pt x="5151" y="1644"/>
                </a:lnTo>
                <a:close/>
                <a:moveTo>
                  <a:pt x="5086" y="1455"/>
                </a:moveTo>
                <a:lnTo>
                  <a:pt x="5674" y="1455"/>
                </a:lnTo>
                <a:lnTo>
                  <a:pt x="5674" y="1522"/>
                </a:lnTo>
                <a:lnTo>
                  <a:pt x="5423" y="1522"/>
                </a:lnTo>
                <a:lnTo>
                  <a:pt x="5423" y="1551"/>
                </a:lnTo>
                <a:lnTo>
                  <a:pt x="5705" y="1551"/>
                </a:lnTo>
                <a:lnTo>
                  <a:pt x="5705" y="1697"/>
                </a:lnTo>
                <a:lnTo>
                  <a:pt x="5628" y="1697"/>
                </a:lnTo>
                <a:lnTo>
                  <a:pt x="5628" y="1616"/>
                </a:lnTo>
                <a:lnTo>
                  <a:pt x="5423" y="1616"/>
                </a:lnTo>
                <a:lnTo>
                  <a:pt x="5423" y="1769"/>
                </a:lnTo>
                <a:lnTo>
                  <a:pt x="5337" y="1769"/>
                </a:lnTo>
                <a:lnTo>
                  <a:pt x="5337" y="1616"/>
                </a:lnTo>
                <a:lnTo>
                  <a:pt x="5133" y="1616"/>
                </a:lnTo>
                <a:lnTo>
                  <a:pt x="5133" y="1697"/>
                </a:lnTo>
                <a:lnTo>
                  <a:pt x="5055" y="1697"/>
                </a:lnTo>
                <a:lnTo>
                  <a:pt x="5055" y="1551"/>
                </a:lnTo>
                <a:lnTo>
                  <a:pt x="5337" y="1551"/>
                </a:lnTo>
                <a:lnTo>
                  <a:pt x="5337" y="1522"/>
                </a:lnTo>
                <a:lnTo>
                  <a:pt x="5086" y="1522"/>
                </a:lnTo>
                <a:lnTo>
                  <a:pt x="5086" y="1455"/>
                </a:lnTo>
                <a:close/>
                <a:moveTo>
                  <a:pt x="5521" y="1158"/>
                </a:moveTo>
                <a:cubicBezTo>
                  <a:pt x="5587" y="1231"/>
                  <a:pt x="5657" y="1291"/>
                  <a:pt x="5730" y="1338"/>
                </a:cubicBezTo>
                <a:lnTo>
                  <a:pt x="5659" y="1415"/>
                </a:lnTo>
                <a:cubicBezTo>
                  <a:pt x="5583" y="1361"/>
                  <a:pt x="5510" y="1298"/>
                  <a:pt x="5440" y="1223"/>
                </a:cubicBezTo>
                <a:lnTo>
                  <a:pt x="5521" y="1158"/>
                </a:lnTo>
                <a:close/>
                <a:moveTo>
                  <a:pt x="5252" y="1156"/>
                </a:moveTo>
                <a:lnTo>
                  <a:pt x="5320" y="1219"/>
                </a:lnTo>
                <a:cubicBezTo>
                  <a:pt x="5251" y="1279"/>
                  <a:pt x="5182" y="1343"/>
                  <a:pt x="5114" y="1411"/>
                </a:cubicBezTo>
                <a:lnTo>
                  <a:pt x="5035" y="1336"/>
                </a:lnTo>
                <a:cubicBezTo>
                  <a:pt x="5097" y="1278"/>
                  <a:pt x="5169" y="1218"/>
                  <a:pt x="5252" y="1156"/>
                </a:cubicBezTo>
                <a:close/>
                <a:moveTo>
                  <a:pt x="5040" y="1037"/>
                </a:moveTo>
                <a:lnTo>
                  <a:pt x="5719" y="1037"/>
                </a:lnTo>
                <a:lnTo>
                  <a:pt x="5719" y="1135"/>
                </a:lnTo>
                <a:lnTo>
                  <a:pt x="5040" y="1135"/>
                </a:lnTo>
                <a:lnTo>
                  <a:pt x="5040" y="1037"/>
                </a:lnTo>
                <a:close/>
                <a:moveTo>
                  <a:pt x="5606" y="776"/>
                </a:moveTo>
                <a:lnTo>
                  <a:pt x="5694" y="817"/>
                </a:lnTo>
                <a:cubicBezTo>
                  <a:pt x="5654" y="888"/>
                  <a:pt x="5619" y="955"/>
                  <a:pt x="5590" y="1017"/>
                </a:cubicBezTo>
                <a:lnTo>
                  <a:pt x="5495" y="971"/>
                </a:lnTo>
                <a:cubicBezTo>
                  <a:pt x="5531" y="903"/>
                  <a:pt x="5568" y="838"/>
                  <a:pt x="5606" y="776"/>
                </a:cubicBezTo>
                <a:close/>
                <a:moveTo>
                  <a:pt x="5155" y="747"/>
                </a:moveTo>
                <a:cubicBezTo>
                  <a:pt x="5195" y="829"/>
                  <a:pt x="5237" y="908"/>
                  <a:pt x="5282" y="982"/>
                </a:cubicBezTo>
                <a:lnTo>
                  <a:pt x="5192" y="1031"/>
                </a:lnTo>
                <a:cubicBezTo>
                  <a:pt x="5148" y="956"/>
                  <a:pt x="5102" y="877"/>
                  <a:pt x="5054" y="793"/>
                </a:cubicBezTo>
                <a:lnTo>
                  <a:pt x="5155" y="747"/>
                </a:lnTo>
                <a:close/>
                <a:moveTo>
                  <a:pt x="5389" y="725"/>
                </a:moveTo>
                <a:lnTo>
                  <a:pt x="5485" y="755"/>
                </a:lnTo>
                <a:cubicBezTo>
                  <a:pt x="5454" y="829"/>
                  <a:pt x="5426" y="905"/>
                  <a:pt x="5401" y="981"/>
                </a:cubicBezTo>
                <a:lnTo>
                  <a:pt x="5303" y="944"/>
                </a:lnTo>
                <a:cubicBezTo>
                  <a:pt x="5330" y="870"/>
                  <a:pt x="5359" y="797"/>
                  <a:pt x="5389" y="725"/>
                </a:cubicBezTo>
                <a:close/>
                <a:moveTo>
                  <a:pt x="5071" y="8"/>
                </a:moveTo>
                <a:cubicBezTo>
                  <a:pt x="5138" y="31"/>
                  <a:pt x="5225" y="48"/>
                  <a:pt x="5332" y="59"/>
                </a:cubicBezTo>
                <a:lnTo>
                  <a:pt x="5332" y="376"/>
                </a:lnTo>
                <a:cubicBezTo>
                  <a:pt x="5332" y="441"/>
                  <a:pt x="5342" y="496"/>
                  <a:pt x="5361" y="542"/>
                </a:cubicBezTo>
                <a:cubicBezTo>
                  <a:pt x="5383" y="500"/>
                  <a:pt x="5403" y="468"/>
                  <a:pt x="5419" y="446"/>
                </a:cubicBezTo>
                <a:lnTo>
                  <a:pt x="5487" y="479"/>
                </a:lnTo>
                <a:cubicBezTo>
                  <a:pt x="5468" y="512"/>
                  <a:pt x="5450" y="546"/>
                  <a:pt x="5433" y="583"/>
                </a:cubicBezTo>
                <a:lnTo>
                  <a:pt x="5362" y="543"/>
                </a:lnTo>
                <a:cubicBezTo>
                  <a:pt x="5377" y="578"/>
                  <a:pt x="5398" y="607"/>
                  <a:pt x="5424" y="631"/>
                </a:cubicBezTo>
                <a:cubicBezTo>
                  <a:pt x="5397" y="650"/>
                  <a:pt x="5368" y="674"/>
                  <a:pt x="5336" y="701"/>
                </a:cubicBezTo>
                <a:cubicBezTo>
                  <a:pt x="5271" y="623"/>
                  <a:pt x="5239" y="510"/>
                  <a:pt x="5239" y="361"/>
                </a:cubicBezTo>
                <a:lnTo>
                  <a:pt x="5239" y="321"/>
                </a:lnTo>
                <a:lnTo>
                  <a:pt x="5178" y="321"/>
                </a:lnTo>
                <a:lnTo>
                  <a:pt x="5178" y="687"/>
                </a:lnTo>
                <a:lnTo>
                  <a:pt x="5085" y="687"/>
                </a:lnTo>
                <a:lnTo>
                  <a:pt x="5085" y="321"/>
                </a:lnTo>
                <a:lnTo>
                  <a:pt x="5031" y="321"/>
                </a:lnTo>
                <a:lnTo>
                  <a:pt x="5031" y="230"/>
                </a:lnTo>
                <a:lnTo>
                  <a:pt x="5239" y="230"/>
                </a:lnTo>
                <a:lnTo>
                  <a:pt x="5239" y="136"/>
                </a:lnTo>
                <a:cubicBezTo>
                  <a:pt x="5164" y="129"/>
                  <a:pt x="5095" y="116"/>
                  <a:pt x="5031" y="99"/>
                </a:cubicBezTo>
                <a:lnTo>
                  <a:pt x="5071" y="8"/>
                </a:lnTo>
                <a:close/>
                <a:moveTo>
                  <a:pt x="5508" y="0"/>
                </a:moveTo>
                <a:lnTo>
                  <a:pt x="5605" y="18"/>
                </a:lnTo>
                <a:cubicBezTo>
                  <a:pt x="5599" y="31"/>
                  <a:pt x="5593" y="47"/>
                  <a:pt x="5587" y="64"/>
                </a:cubicBezTo>
                <a:lnTo>
                  <a:pt x="5712" y="64"/>
                </a:lnTo>
                <a:lnTo>
                  <a:pt x="5712" y="143"/>
                </a:lnTo>
                <a:lnTo>
                  <a:pt x="5477" y="143"/>
                </a:lnTo>
                <a:cubicBezTo>
                  <a:pt x="5486" y="162"/>
                  <a:pt x="5502" y="191"/>
                  <a:pt x="5525" y="230"/>
                </a:cubicBezTo>
                <a:lnTo>
                  <a:pt x="5556" y="230"/>
                </a:lnTo>
                <a:cubicBezTo>
                  <a:pt x="5568" y="204"/>
                  <a:pt x="5584" y="175"/>
                  <a:pt x="5603" y="144"/>
                </a:cubicBezTo>
                <a:lnTo>
                  <a:pt x="5680" y="175"/>
                </a:lnTo>
                <a:cubicBezTo>
                  <a:pt x="5669" y="192"/>
                  <a:pt x="5659" y="211"/>
                  <a:pt x="5649" y="230"/>
                </a:cubicBezTo>
                <a:lnTo>
                  <a:pt x="5725" y="230"/>
                </a:lnTo>
                <a:lnTo>
                  <a:pt x="5725" y="309"/>
                </a:lnTo>
                <a:lnTo>
                  <a:pt x="5581" y="309"/>
                </a:lnTo>
                <a:lnTo>
                  <a:pt x="5581" y="354"/>
                </a:lnTo>
                <a:lnTo>
                  <a:pt x="5713" y="354"/>
                </a:lnTo>
                <a:lnTo>
                  <a:pt x="5713" y="433"/>
                </a:lnTo>
                <a:lnTo>
                  <a:pt x="5581" y="433"/>
                </a:lnTo>
                <a:lnTo>
                  <a:pt x="5581" y="562"/>
                </a:lnTo>
                <a:cubicBezTo>
                  <a:pt x="5582" y="583"/>
                  <a:pt x="5591" y="594"/>
                  <a:pt x="5609" y="594"/>
                </a:cubicBezTo>
                <a:cubicBezTo>
                  <a:pt x="5620" y="594"/>
                  <a:pt x="5631" y="594"/>
                  <a:pt x="5643" y="593"/>
                </a:cubicBezTo>
                <a:cubicBezTo>
                  <a:pt x="5626" y="553"/>
                  <a:pt x="5611" y="512"/>
                  <a:pt x="5598" y="470"/>
                </a:cubicBezTo>
                <a:lnTo>
                  <a:pt x="5677" y="446"/>
                </a:lnTo>
                <a:cubicBezTo>
                  <a:pt x="5694" y="505"/>
                  <a:pt x="5714" y="557"/>
                  <a:pt x="5738" y="601"/>
                </a:cubicBezTo>
                <a:cubicBezTo>
                  <a:pt x="5706" y="613"/>
                  <a:pt x="5681" y="625"/>
                  <a:pt x="5663" y="636"/>
                </a:cubicBezTo>
                <a:lnTo>
                  <a:pt x="5648" y="604"/>
                </a:lnTo>
                <a:cubicBezTo>
                  <a:pt x="5641" y="629"/>
                  <a:pt x="5636" y="656"/>
                  <a:pt x="5634" y="684"/>
                </a:cubicBezTo>
                <a:cubicBezTo>
                  <a:pt x="5589" y="684"/>
                  <a:pt x="5559" y="682"/>
                  <a:pt x="5542" y="679"/>
                </a:cubicBezTo>
                <a:cubicBezTo>
                  <a:pt x="5526" y="675"/>
                  <a:pt x="5513" y="667"/>
                  <a:pt x="5504" y="655"/>
                </a:cubicBezTo>
                <a:cubicBezTo>
                  <a:pt x="5494" y="642"/>
                  <a:pt x="5490" y="625"/>
                  <a:pt x="5490" y="603"/>
                </a:cubicBezTo>
                <a:lnTo>
                  <a:pt x="5490" y="433"/>
                </a:lnTo>
                <a:lnTo>
                  <a:pt x="5366" y="433"/>
                </a:lnTo>
                <a:lnTo>
                  <a:pt x="5366" y="354"/>
                </a:lnTo>
                <a:lnTo>
                  <a:pt x="5490" y="354"/>
                </a:lnTo>
                <a:lnTo>
                  <a:pt x="5490" y="309"/>
                </a:lnTo>
                <a:lnTo>
                  <a:pt x="5353" y="309"/>
                </a:lnTo>
                <a:lnTo>
                  <a:pt x="5353" y="230"/>
                </a:lnTo>
                <a:lnTo>
                  <a:pt x="5426" y="230"/>
                </a:lnTo>
                <a:cubicBezTo>
                  <a:pt x="5410" y="206"/>
                  <a:pt x="5398" y="188"/>
                  <a:pt x="5390" y="176"/>
                </a:cubicBezTo>
                <a:cubicBezTo>
                  <a:pt x="5427" y="160"/>
                  <a:pt x="5452" y="149"/>
                  <a:pt x="5465" y="143"/>
                </a:cubicBezTo>
                <a:lnTo>
                  <a:pt x="5369" y="143"/>
                </a:lnTo>
                <a:lnTo>
                  <a:pt x="5369" y="64"/>
                </a:lnTo>
                <a:lnTo>
                  <a:pt x="5487" y="64"/>
                </a:lnTo>
                <a:cubicBezTo>
                  <a:pt x="5494" y="40"/>
                  <a:pt x="5501" y="18"/>
                  <a:pt x="5508" y="0"/>
                </a:cubicBezTo>
                <a:close/>
                <a:moveTo>
                  <a:pt x="5224" y="4470"/>
                </a:moveTo>
                <a:cubicBezTo>
                  <a:pt x="5225" y="4572"/>
                  <a:pt x="5233" y="4655"/>
                  <a:pt x="5248" y="4721"/>
                </a:cubicBezTo>
                <a:lnTo>
                  <a:pt x="5193" y="4721"/>
                </a:lnTo>
                <a:lnTo>
                  <a:pt x="5193" y="4878"/>
                </a:lnTo>
                <a:cubicBezTo>
                  <a:pt x="5193" y="4899"/>
                  <a:pt x="5183" y="4909"/>
                  <a:pt x="5163" y="4909"/>
                </a:cubicBezTo>
                <a:cubicBezTo>
                  <a:pt x="5148" y="4909"/>
                  <a:pt x="5137" y="4904"/>
                  <a:pt x="5133" y="4893"/>
                </a:cubicBezTo>
                <a:cubicBezTo>
                  <a:pt x="5128" y="4882"/>
                  <a:pt x="5124" y="4850"/>
                  <a:pt x="5121" y="4796"/>
                </a:cubicBezTo>
                <a:cubicBezTo>
                  <a:pt x="5084" y="4813"/>
                  <a:pt x="5054" y="4826"/>
                  <a:pt x="5031" y="4835"/>
                </a:cubicBezTo>
                <a:cubicBezTo>
                  <a:pt x="5041" y="4911"/>
                  <a:pt x="5054" y="4957"/>
                  <a:pt x="5069" y="4971"/>
                </a:cubicBezTo>
                <a:cubicBezTo>
                  <a:pt x="5084" y="4985"/>
                  <a:pt x="5102" y="4992"/>
                  <a:pt x="5123" y="4992"/>
                </a:cubicBezTo>
                <a:lnTo>
                  <a:pt x="5198" y="4992"/>
                </a:lnTo>
                <a:cubicBezTo>
                  <a:pt x="5254" y="4992"/>
                  <a:pt x="5282" y="4965"/>
                  <a:pt x="5282" y="4912"/>
                </a:cubicBezTo>
                <a:lnTo>
                  <a:pt x="5282" y="4819"/>
                </a:lnTo>
                <a:cubicBezTo>
                  <a:pt x="5319" y="4893"/>
                  <a:pt x="5380" y="4956"/>
                  <a:pt x="5463" y="5007"/>
                </a:cubicBezTo>
                <a:cubicBezTo>
                  <a:pt x="5483" y="4981"/>
                  <a:pt x="5506" y="4954"/>
                  <a:pt x="5532" y="4926"/>
                </a:cubicBezTo>
                <a:cubicBezTo>
                  <a:pt x="5448" y="4883"/>
                  <a:pt x="5391" y="4834"/>
                  <a:pt x="5362" y="4780"/>
                </a:cubicBezTo>
                <a:cubicBezTo>
                  <a:pt x="5333" y="4725"/>
                  <a:pt x="5318" y="4621"/>
                  <a:pt x="5319" y="4470"/>
                </a:cubicBezTo>
                <a:lnTo>
                  <a:pt x="5224" y="4470"/>
                </a:lnTo>
                <a:close/>
                <a:moveTo>
                  <a:pt x="5482" y="4345"/>
                </a:moveTo>
                <a:lnTo>
                  <a:pt x="5482" y="4438"/>
                </a:lnTo>
                <a:lnTo>
                  <a:pt x="5557" y="4438"/>
                </a:lnTo>
                <a:lnTo>
                  <a:pt x="5557" y="4574"/>
                </a:lnTo>
                <a:lnTo>
                  <a:pt x="5492" y="4574"/>
                </a:lnTo>
                <a:lnTo>
                  <a:pt x="5492" y="4667"/>
                </a:lnTo>
                <a:lnTo>
                  <a:pt x="5557" y="4667"/>
                </a:lnTo>
                <a:lnTo>
                  <a:pt x="5557" y="4805"/>
                </a:lnTo>
                <a:cubicBezTo>
                  <a:pt x="5530" y="4794"/>
                  <a:pt x="5507" y="4783"/>
                  <a:pt x="5488" y="4774"/>
                </a:cubicBezTo>
                <a:cubicBezTo>
                  <a:pt x="5486" y="4813"/>
                  <a:pt x="5483" y="4846"/>
                  <a:pt x="5479" y="4874"/>
                </a:cubicBezTo>
                <a:cubicBezTo>
                  <a:pt x="5558" y="4906"/>
                  <a:pt x="5632" y="4939"/>
                  <a:pt x="5702" y="4971"/>
                </a:cubicBezTo>
                <a:lnTo>
                  <a:pt x="5732" y="4869"/>
                </a:lnTo>
                <a:lnTo>
                  <a:pt x="5649" y="4840"/>
                </a:lnTo>
                <a:lnTo>
                  <a:pt x="5649" y="4667"/>
                </a:lnTo>
                <a:lnTo>
                  <a:pt x="5717" y="4667"/>
                </a:lnTo>
                <a:lnTo>
                  <a:pt x="5717" y="4574"/>
                </a:lnTo>
                <a:lnTo>
                  <a:pt x="5649" y="4574"/>
                </a:lnTo>
                <a:lnTo>
                  <a:pt x="5649" y="4438"/>
                </a:lnTo>
                <a:lnTo>
                  <a:pt x="5722" y="4438"/>
                </a:lnTo>
                <a:lnTo>
                  <a:pt x="5722" y="4345"/>
                </a:lnTo>
                <a:lnTo>
                  <a:pt x="5482" y="4345"/>
                </a:lnTo>
                <a:close/>
                <a:moveTo>
                  <a:pt x="5076" y="4335"/>
                </a:moveTo>
                <a:lnTo>
                  <a:pt x="5076" y="4772"/>
                </a:lnTo>
                <a:lnTo>
                  <a:pt x="5169" y="4772"/>
                </a:lnTo>
                <a:lnTo>
                  <a:pt x="5169" y="4428"/>
                </a:lnTo>
                <a:lnTo>
                  <a:pt x="5369" y="4428"/>
                </a:lnTo>
                <a:lnTo>
                  <a:pt x="5369" y="4777"/>
                </a:lnTo>
                <a:lnTo>
                  <a:pt x="5462" y="4777"/>
                </a:lnTo>
                <a:lnTo>
                  <a:pt x="5462" y="4335"/>
                </a:lnTo>
                <a:lnTo>
                  <a:pt x="5076" y="4335"/>
                </a:lnTo>
                <a:close/>
                <a:moveTo>
                  <a:pt x="5221" y="3974"/>
                </a:moveTo>
                <a:lnTo>
                  <a:pt x="5435" y="3974"/>
                </a:lnTo>
                <a:cubicBezTo>
                  <a:pt x="5409" y="4015"/>
                  <a:pt x="5375" y="4052"/>
                  <a:pt x="5335" y="4083"/>
                </a:cubicBezTo>
                <a:cubicBezTo>
                  <a:pt x="5286" y="4048"/>
                  <a:pt x="5248" y="4012"/>
                  <a:pt x="5221" y="3974"/>
                </a:cubicBezTo>
                <a:close/>
                <a:moveTo>
                  <a:pt x="5466" y="3601"/>
                </a:moveTo>
                <a:lnTo>
                  <a:pt x="5365" y="3609"/>
                </a:lnTo>
                <a:lnTo>
                  <a:pt x="5394" y="3740"/>
                </a:lnTo>
                <a:lnTo>
                  <a:pt x="5197" y="3740"/>
                </a:lnTo>
                <a:cubicBezTo>
                  <a:pt x="5223" y="3714"/>
                  <a:pt x="5250" y="3689"/>
                  <a:pt x="5278" y="3663"/>
                </a:cubicBezTo>
                <a:lnTo>
                  <a:pt x="5216" y="3605"/>
                </a:lnTo>
                <a:cubicBezTo>
                  <a:pt x="5173" y="3638"/>
                  <a:pt x="5136" y="3668"/>
                  <a:pt x="5106" y="3695"/>
                </a:cubicBezTo>
                <a:lnTo>
                  <a:pt x="5151" y="3740"/>
                </a:lnTo>
                <a:lnTo>
                  <a:pt x="5032" y="3740"/>
                </a:lnTo>
                <a:lnTo>
                  <a:pt x="5032" y="3826"/>
                </a:lnTo>
                <a:lnTo>
                  <a:pt x="5421" y="3826"/>
                </a:lnTo>
                <a:cubicBezTo>
                  <a:pt x="5428" y="3846"/>
                  <a:pt x="5436" y="3867"/>
                  <a:pt x="5445" y="3891"/>
                </a:cubicBezTo>
                <a:lnTo>
                  <a:pt x="5104" y="3891"/>
                </a:lnTo>
                <a:lnTo>
                  <a:pt x="5104" y="3970"/>
                </a:lnTo>
                <a:cubicBezTo>
                  <a:pt x="5140" y="4033"/>
                  <a:pt x="5187" y="4087"/>
                  <a:pt x="5244" y="4134"/>
                </a:cubicBezTo>
                <a:cubicBezTo>
                  <a:pt x="5191" y="4158"/>
                  <a:pt x="5119" y="4177"/>
                  <a:pt x="5030" y="4190"/>
                </a:cubicBezTo>
                <a:cubicBezTo>
                  <a:pt x="5050" y="4224"/>
                  <a:pt x="5070" y="4258"/>
                  <a:pt x="5090" y="4292"/>
                </a:cubicBezTo>
                <a:cubicBezTo>
                  <a:pt x="5185" y="4271"/>
                  <a:pt x="5267" y="4239"/>
                  <a:pt x="5334" y="4196"/>
                </a:cubicBezTo>
                <a:cubicBezTo>
                  <a:pt x="5403" y="4236"/>
                  <a:pt x="5484" y="4271"/>
                  <a:pt x="5578" y="4299"/>
                </a:cubicBezTo>
                <a:cubicBezTo>
                  <a:pt x="5595" y="4268"/>
                  <a:pt x="5613" y="4238"/>
                  <a:pt x="5632" y="4208"/>
                </a:cubicBezTo>
                <a:cubicBezTo>
                  <a:pt x="5553" y="4186"/>
                  <a:pt x="5483" y="4161"/>
                  <a:pt x="5420" y="4132"/>
                </a:cubicBezTo>
                <a:cubicBezTo>
                  <a:pt x="5454" y="4100"/>
                  <a:pt x="5485" y="4064"/>
                  <a:pt x="5513" y="4023"/>
                </a:cubicBezTo>
                <a:cubicBezTo>
                  <a:pt x="5567" y="4109"/>
                  <a:pt x="5630" y="4183"/>
                  <a:pt x="5700" y="4243"/>
                </a:cubicBezTo>
                <a:cubicBezTo>
                  <a:pt x="5710" y="4199"/>
                  <a:pt x="5720" y="4160"/>
                  <a:pt x="5731" y="4126"/>
                </a:cubicBezTo>
                <a:cubicBezTo>
                  <a:pt x="5639" y="4040"/>
                  <a:pt x="5571" y="3940"/>
                  <a:pt x="5526" y="3826"/>
                </a:cubicBezTo>
                <a:lnTo>
                  <a:pt x="5703" y="3826"/>
                </a:lnTo>
                <a:lnTo>
                  <a:pt x="5703" y="3742"/>
                </a:lnTo>
                <a:cubicBezTo>
                  <a:pt x="5690" y="3704"/>
                  <a:pt x="5678" y="3663"/>
                  <a:pt x="5668" y="3621"/>
                </a:cubicBezTo>
                <a:lnTo>
                  <a:pt x="5571" y="3632"/>
                </a:lnTo>
                <a:cubicBezTo>
                  <a:pt x="5578" y="3661"/>
                  <a:pt x="5588" y="3697"/>
                  <a:pt x="5600" y="3740"/>
                </a:cubicBezTo>
                <a:lnTo>
                  <a:pt x="5499" y="3740"/>
                </a:lnTo>
                <a:cubicBezTo>
                  <a:pt x="5488" y="3700"/>
                  <a:pt x="5477" y="3654"/>
                  <a:pt x="5466" y="3601"/>
                </a:cubicBezTo>
                <a:close/>
                <a:moveTo>
                  <a:pt x="5504" y="3305"/>
                </a:moveTo>
                <a:lnTo>
                  <a:pt x="5604" y="3305"/>
                </a:lnTo>
                <a:lnTo>
                  <a:pt x="5604" y="3426"/>
                </a:lnTo>
                <a:lnTo>
                  <a:pt x="5504" y="3426"/>
                </a:lnTo>
                <a:lnTo>
                  <a:pt x="5504" y="3305"/>
                </a:lnTo>
                <a:close/>
                <a:moveTo>
                  <a:pt x="5296" y="3182"/>
                </a:moveTo>
                <a:cubicBezTo>
                  <a:pt x="5263" y="3222"/>
                  <a:pt x="5226" y="3271"/>
                  <a:pt x="5187" y="3329"/>
                </a:cubicBezTo>
                <a:lnTo>
                  <a:pt x="5276" y="3388"/>
                </a:lnTo>
                <a:cubicBezTo>
                  <a:pt x="5312" y="3329"/>
                  <a:pt x="5346" y="3280"/>
                  <a:pt x="5378" y="3238"/>
                </a:cubicBezTo>
                <a:lnTo>
                  <a:pt x="5296" y="3182"/>
                </a:lnTo>
                <a:close/>
                <a:moveTo>
                  <a:pt x="5504" y="3092"/>
                </a:moveTo>
                <a:lnTo>
                  <a:pt x="5604" y="3092"/>
                </a:lnTo>
                <a:lnTo>
                  <a:pt x="5604" y="3214"/>
                </a:lnTo>
                <a:lnTo>
                  <a:pt x="5504" y="3214"/>
                </a:lnTo>
                <a:lnTo>
                  <a:pt x="5504" y="3092"/>
                </a:lnTo>
                <a:close/>
                <a:moveTo>
                  <a:pt x="5298" y="2888"/>
                </a:moveTo>
                <a:lnTo>
                  <a:pt x="5201" y="2913"/>
                </a:lnTo>
                <a:cubicBezTo>
                  <a:pt x="5212" y="2945"/>
                  <a:pt x="5223" y="2975"/>
                  <a:pt x="5234" y="3005"/>
                </a:cubicBezTo>
                <a:lnTo>
                  <a:pt x="5053" y="3005"/>
                </a:lnTo>
                <a:lnTo>
                  <a:pt x="5061" y="3409"/>
                </a:lnTo>
                <a:cubicBezTo>
                  <a:pt x="5062" y="3453"/>
                  <a:pt x="5066" y="3483"/>
                  <a:pt x="5072" y="3501"/>
                </a:cubicBezTo>
                <a:cubicBezTo>
                  <a:pt x="5078" y="3518"/>
                  <a:pt x="5088" y="3533"/>
                  <a:pt x="5101" y="3544"/>
                </a:cubicBezTo>
                <a:cubicBezTo>
                  <a:pt x="5113" y="3555"/>
                  <a:pt x="5131" y="3562"/>
                  <a:pt x="5154" y="3566"/>
                </a:cubicBezTo>
                <a:cubicBezTo>
                  <a:pt x="5178" y="3570"/>
                  <a:pt x="5228" y="3572"/>
                  <a:pt x="5305" y="3572"/>
                </a:cubicBezTo>
                <a:cubicBezTo>
                  <a:pt x="5313" y="3531"/>
                  <a:pt x="5321" y="3495"/>
                  <a:pt x="5332" y="3466"/>
                </a:cubicBezTo>
                <a:cubicBezTo>
                  <a:pt x="5298" y="3469"/>
                  <a:pt x="5261" y="3470"/>
                  <a:pt x="5221" y="3470"/>
                </a:cubicBezTo>
                <a:cubicBezTo>
                  <a:pt x="5210" y="3470"/>
                  <a:pt x="5200" y="3469"/>
                  <a:pt x="5192" y="3466"/>
                </a:cubicBezTo>
                <a:cubicBezTo>
                  <a:pt x="5184" y="3464"/>
                  <a:pt x="5177" y="3460"/>
                  <a:pt x="5172" y="3454"/>
                </a:cubicBezTo>
                <a:cubicBezTo>
                  <a:pt x="5167" y="3449"/>
                  <a:pt x="5163" y="3443"/>
                  <a:pt x="5161" y="3437"/>
                </a:cubicBezTo>
                <a:cubicBezTo>
                  <a:pt x="5159" y="3430"/>
                  <a:pt x="5158" y="3401"/>
                  <a:pt x="5157" y="3350"/>
                </a:cubicBezTo>
                <a:lnTo>
                  <a:pt x="5154" y="3207"/>
                </a:lnTo>
                <a:cubicBezTo>
                  <a:pt x="5153" y="3162"/>
                  <a:pt x="5152" y="3126"/>
                  <a:pt x="5152" y="3098"/>
                </a:cubicBezTo>
                <a:lnTo>
                  <a:pt x="5275" y="3098"/>
                </a:lnTo>
                <a:cubicBezTo>
                  <a:pt x="5290" y="3131"/>
                  <a:pt x="5306" y="3162"/>
                  <a:pt x="5324" y="3193"/>
                </a:cubicBezTo>
                <a:cubicBezTo>
                  <a:pt x="5346" y="3179"/>
                  <a:pt x="5374" y="3164"/>
                  <a:pt x="5407" y="3150"/>
                </a:cubicBezTo>
                <a:lnTo>
                  <a:pt x="5407" y="3569"/>
                </a:lnTo>
                <a:lnTo>
                  <a:pt x="5504" y="3569"/>
                </a:lnTo>
                <a:lnTo>
                  <a:pt x="5504" y="3517"/>
                </a:lnTo>
                <a:lnTo>
                  <a:pt x="5604" y="3517"/>
                </a:lnTo>
                <a:lnTo>
                  <a:pt x="5604" y="3573"/>
                </a:lnTo>
                <a:lnTo>
                  <a:pt x="5702" y="3573"/>
                </a:lnTo>
                <a:lnTo>
                  <a:pt x="5702" y="3001"/>
                </a:lnTo>
                <a:lnTo>
                  <a:pt x="5628" y="3001"/>
                </a:lnTo>
                <a:cubicBezTo>
                  <a:pt x="5614" y="2955"/>
                  <a:pt x="5605" y="2918"/>
                  <a:pt x="5599" y="2889"/>
                </a:cubicBezTo>
                <a:lnTo>
                  <a:pt x="5495" y="2905"/>
                </a:lnTo>
                <a:lnTo>
                  <a:pt x="5526" y="3001"/>
                </a:lnTo>
                <a:lnTo>
                  <a:pt x="5407" y="3001"/>
                </a:lnTo>
                <a:lnTo>
                  <a:pt x="5407" y="3139"/>
                </a:lnTo>
                <a:cubicBezTo>
                  <a:pt x="5369" y="3075"/>
                  <a:pt x="5333" y="2992"/>
                  <a:pt x="5298" y="2888"/>
                </a:cubicBezTo>
                <a:close/>
                <a:moveTo>
                  <a:pt x="5228" y="2250"/>
                </a:moveTo>
                <a:lnTo>
                  <a:pt x="5232" y="2252"/>
                </a:lnTo>
                <a:cubicBezTo>
                  <a:pt x="5244" y="2259"/>
                  <a:pt x="5257" y="2266"/>
                  <a:pt x="5269" y="2273"/>
                </a:cubicBezTo>
                <a:lnTo>
                  <a:pt x="5287" y="2283"/>
                </a:lnTo>
                <a:lnTo>
                  <a:pt x="5183" y="2283"/>
                </a:lnTo>
                <a:cubicBezTo>
                  <a:pt x="5197" y="2272"/>
                  <a:pt x="5211" y="2262"/>
                  <a:pt x="5226" y="2251"/>
                </a:cubicBezTo>
                <a:lnTo>
                  <a:pt x="5228" y="2250"/>
                </a:lnTo>
                <a:close/>
                <a:moveTo>
                  <a:pt x="3543" y="1817"/>
                </a:moveTo>
                <a:cubicBezTo>
                  <a:pt x="4109" y="1817"/>
                  <a:pt x="4643" y="1952"/>
                  <a:pt x="5118" y="2192"/>
                </a:cubicBezTo>
                <a:lnTo>
                  <a:pt x="5146" y="2206"/>
                </a:lnTo>
                <a:lnTo>
                  <a:pt x="5131" y="2217"/>
                </a:lnTo>
                <a:cubicBezTo>
                  <a:pt x="5122" y="2223"/>
                  <a:pt x="5113" y="2230"/>
                  <a:pt x="5104" y="2237"/>
                </a:cubicBezTo>
                <a:lnTo>
                  <a:pt x="5155" y="2283"/>
                </a:lnTo>
                <a:lnTo>
                  <a:pt x="5041" y="2283"/>
                </a:lnTo>
                <a:lnTo>
                  <a:pt x="5041" y="2371"/>
                </a:lnTo>
                <a:lnTo>
                  <a:pt x="5335" y="2371"/>
                </a:lnTo>
                <a:lnTo>
                  <a:pt x="5335" y="2396"/>
                </a:lnTo>
                <a:cubicBezTo>
                  <a:pt x="5318" y="2441"/>
                  <a:pt x="5296" y="2481"/>
                  <a:pt x="5270" y="2516"/>
                </a:cubicBezTo>
                <a:cubicBezTo>
                  <a:pt x="5216" y="2475"/>
                  <a:pt x="5166" y="2433"/>
                  <a:pt x="5121" y="2388"/>
                </a:cubicBezTo>
                <a:lnTo>
                  <a:pt x="5052" y="2460"/>
                </a:lnTo>
                <a:lnTo>
                  <a:pt x="5212" y="2580"/>
                </a:lnTo>
                <a:cubicBezTo>
                  <a:pt x="5163" y="2626"/>
                  <a:pt x="5102" y="2660"/>
                  <a:pt x="5031" y="2684"/>
                </a:cubicBezTo>
                <a:cubicBezTo>
                  <a:pt x="5050" y="2715"/>
                  <a:pt x="5069" y="2749"/>
                  <a:pt x="5089" y="2786"/>
                </a:cubicBezTo>
                <a:cubicBezTo>
                  <a:pt x="5195" y="2738"/>
                  <a:pt x="5277" y="2665"/>
                  <a:pt x="5335" y="2567"/>
                </a:cubicBezTo>
                <a:lnTo>
                  <a:pt x="5335" y="2731"/>
                </a:lnTo>
                <a:cubicBezTo>
                  <a:pt x="5335" y="2769"/>
                  <a:pt x="5344" y="2798"/>
                  <a:pt x="5361" y="2818"/>
                </a:cubicBezTo>
                <a:cubicBezTo>
                  <a:pt x="5378" y="2838"/>
                  <a:pt x="5405" y="2850"/>
                  <a:pt x="5442" y="2852"/>
                </a:cubicBezTo>
                <a:cubicBezTo>
                  <a:pt x="5479" y="2855"/>
                  <a:pt x="5514" y="2856"/>
                  <a:pt x="5549" y="2856"/>
                </a:cubicBezTo>
                <a:cubicBezTo>
                  <a:pt x="5556" y="2818"/>
                  <a:pt x="5564" y="2782"/>
                  <a:pt x="5574" y="2748"/>
                </a:cubicBezTo>
                <a:cubicBezTo>
                  <a:pt x="5542" y="2750"/>
                  <a:pt x="5515" y="2751"/>
                  <a:pt x="5492" y="2751"/>
                </a:cubicBezTo>
                <a:cubicBezTo>
                  <a:pt x="5453" y="2751"/>
                  <a:pt x="5433" y="2732"/>
                  <a:pt x="5433" y="2694"/>
                </a:cubicBezTo>
                <a:lnTo>
                  <a:pt x="5433" y="2629"/>
                </a:lnTo>
                <a:cubicBezTo>
                  <a:pt x="5530" y="2680"/>
                  <a:pt x="5613" y="2725"/>
                  <a:pt x="5683" y="2765"/>
                </a:cubicBezTo>
                <a:lnTo>
                  <a:pt x="5729" y="2672"/>
                </a:lnTo>
                <a:cubicBezTo>
                  <a:pt x="5622" y="2627"/>
                  <a:pt x="5523" y="2580"/>
                  <a:pt x="5433" y="2532"/>
                </a:cubicBezTo>
                <a:lnTo>
                  <a:pt x="5433" y="2372"/>
                </a:lnTo>
                <a:lnTo>
                  <a:pt x="5453" y="2385"/>
                </a:lnTo>
                <a:cubicBezTo>
                  <a:pt x="5477" y="2400"/>
                  <a:pt x="5500" y="2416"/>
                  <a:pt x="5524" y="2432"/>
                </a:cubicBezTo>
                <a:lnTo>
                  <a:pt x="5550" y="2450"/>
                </a:lnTo>
                <a:lnTo>
                  <a:pt x="5519" y="2476"/>
                </a:lnTo>
                <a:cubicBezTo>
                  <a:pt x="5507" y="2485"/>
                  <a:pt x="5496" y="2495"/>
                  <a:pt x="5485" y="2504"/>
                </a:cubicBezTo>
                <a:lnTo>
                  <a:pt x="5550" y="2569"/>
                </a:lnTo>
                <a:cubicBezTo>
                  <a:pt x="5571" y="2550"/>
                  <a:pt x="5592" y="2531"/>
                  <a:pt x="5614" y="2513"/>
                </a:cubicBezTo>
                <a:lnTo>
                  <a:pt x="5624" y="2504"/>
                </a:lnTo>
                <a:lnTo>
                  <a:pt x="5629" y="2507"/>
                </a:lnTo>
                <a:cubicBezTo>
                  <a:pt x="6512" y="3162"/>
                  <a:pt x="7086" y="4223"/>
                  <a:pt x="7086" y="5421"/>
                </a:cubicBezTo>
                <a:cubicBezTo>
                  <a:pt x="7086" y="7411"/>
                  <a:pt x="5500" y="9024"/>
                  <a:pt x="3543" y="9024"/>
                </a:cubicBezTo>
                <a:cubicBezTo>
                  <a:pt x="1586" y="9024"/>
                  <a:pt x="0" y="7411"/>
                  <a:pt x="0" y="5421"/>
                </a:cubicBezTo>
                <a:cubicBezTo>
                  <a:pt x="0" y="3430"/>
                  <a:pt x="1586" y="1817"/>
                  <a:pt x="3543" y="1817"/>
                </a:cubicBezTo>
                <a:close/>
              </a:path>
            </a:pathLst>
          </a:custGeom>
          <a:solidFill>
            <a:schemeClr val="accent1"/>
          </a:solidFill>
          <a:effectLst/>
        </p:spPr>
        <p:txBody>
          <a:bodyPr vert="mongolianVert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 rot="13500000">
            <a:off x="13562330" y="-2210435"/>
            <a:ext cx="6565900" cy="6132830"/>
          </a:xfrm>
          <a:prstGeom prst="ellipse">
            <a:avLst/>
          </a:prstGeom>
          <a:solidFill>
            <a:schemeClr val="accent1">
              <a:alpha val="27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 rot="13500000">
            <a:off x="-5090795" y="5139055"/>
            <a:ext cx="4782820" cy="4580890"/>
          </a:xfrm>
          <a:prstGeom prst="ellipse">
            <a:avLst/>
          </a:prstGeom>
          <a:solidFill>
            <a:schemeClr val="accent1">
              <a:alpha val="27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 12"/>
          <p:cNvSpPr/>
          <p:nvPr/>
        </p:nvSpPr>
        <p:spPr>
          <a:xfrm rot="13500000">
            <a:off x="-4056380" y="-740410"/>
            <a:ext cx="9987280" cy="9825990"/>
          </a:xfrm>
          <a:prstGeom prst="ellipse">
            <a:avLst/>
          </a:prstGeom>
          <a:solidFill>
            <a:schemeClr val="accent1">
              <a:alpha val="27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目标用户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" name="椭圆 1"/>
          <p:cNvSpPr/>
          <p:nvPr/>
        </p:nvSpPr>
        <p:spPr>
          <a:xfrm rot="13500000">
            <a:off x="9052560" y="-2961005"/>
            <a:ext cx="5906770" cy="5587365"/>
          </a:xfrm>
          <a:prstGeom prst="ellipse">
            <a:avLst/>
          </a:prstGeom>
          <a:solidFill>
            <a:schemeClr val="accent1">
              <a:alpha val="27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 rot="13500000">
            <a:off x="6381750" y="7397750"/>
            <a:ext cx="1811655" cy="1839595"/>
          </a:xfrm>
          <a:prstGeom prst="ellipse">
            <a:avLst/>
          </a:prstGeom>
          <a:solidFill>
            <a:schemeClr val="accent1">
              <a:alpha val="13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 rot="13500000">
            <a:off x="6459855" y="7397115"/>
            <a:ext cx="1811655" cy="1839595"/>
          </a:xfrm>
          <a:prstGeom prst="ellipse">
            <a:avLst/>
          </a:prstGeom>
          <a:solidFill>
            <a:schemeClr val="accent1">
              <a:alpha val="13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74700" y="1050290"/>
            <a:ext cx="10800080" cy="4757420"/>
          </a:xfrm>
        </p:spPr>
        <p:txBody>
          <a:bodyPr>
            <a:normAutofit fontScale="90000"/>
          </a:bodyPr>
          <a:lstStyle/>
          <a:p>
            <a:r>
              <a:rPr lang="en-US" altLang="zh-CN" sz="2665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1.  </a:t>
            </a:r>
            <a:r>
              <a:rPr lang="zh-CN" altLang="en-US" sz="2665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核心用户：</a:t>
            </a:r>
            <a:br>
              <a:rPr lang="zh-CN" altLang="en-US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2665" b="0" u="sng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大四毕业生：</a:t>
            </a:r>
            <a:r>
              <a:rPr lang="en-US" altLang="zh-CN" sz="2665" b="0" i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离校前大量出</a:t>
            </a:r>
            <a:r>
              <a:rPr lang="zh-CN" altLang="en-US" sz="2665" b="0">
                <a:solidFill>
                  <a:srgbClr val="477D7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售带不走的</a:t>
            </a:r>
            <a:r>
              <a:rPr lang="zh-CN" altLang="en-US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物品，是平台现金交易的主要供给方。</a:t>
            </a:r>
            <a:br>
              <a:rPr lang="zh-CN" altLang="en-US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2665" b="0" u="sng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大一新生：</a:t>
            </a:r>
            <a:r>
              <a:rPr lang="en-US" altLang="zh-CN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入学后需要购置教材、生活用品等，是平台现金交易的主要需求方。</a:t>
            </a:r>
            <a:br>
              <a:rPr lang="zh-CN" altLang="en-US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br>
              <a:rPr lang="zh-CN" altLang="en-US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en-US" altLang="zh-CN" sz="2665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  </a:t>
            </a:r>
            <a:r>
              <a:rPr lang="zh-CN" altLang="en-US" sz="2665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活跃用户与</a:t>
            </a:r>
            <a:r>
              <a:rPr lang="en-US" altLang="zh-CN" sz="2665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2665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换物</a:t>
            </a:r>
            <a:r>
              <a:rPr lang="en-US" altLang="zh-CN" sz="2665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2665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主力军：</a:t>
            </a:r>
            <a:br>
              <a:rPr lang="zh-CN" altLang="en-US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2665" b="0" u="sng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大二、大三学生：</a:t>
            </a:r>
            <a:r>
              <a:rPr lang="en-US" altLang="zh-CN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有持续性的闲置物品更新需求（如换手机），是维持平台日常活跃度的中坚力量。</a:t>
            </a:r>
            <a:br>
              <a:rPr lang="zh-CN" altLang="en-US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2665" b="0" u="sng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兴趣社群爱好者（如动漫、阅读、运动）：</a:t>
            </a:r>
            <a:r>
              <a:rPr lang="en-US" altLang="zh-CN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他们是</a:t>
            </a:r>
            <a:r>
              <a:rPr lang="en-US" altLang="zh-CN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以物换物</a:t>
            </a:r>
            <a:r>
              <a:rPr lang="en-US" altLang="zh-CN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功能最积极的使用者，乐于用自己不再需要的书籍、模型、球拍等换取其他心仪物品，实现</a:t>
            </a:r>
            <a:r>
              <a:rPr lang="en-US" altLang="zh-CN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各取所需</a:t>
            </a:r>
            <a:r>
              <a:rPr lang="en-US" altLang="zh-CN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的循环乐趣。</a:t>
            </a:r>
            <a:br>
              <a:rPr lang="zh-CN" altLang="en-US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2665" b="0" u="sng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预算敏感型学生：</a:t>
            </a:r>
            <a:r>
              <a:rPr lang="en-US" altLang="zh-CN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更倾向于通过物物交换来免费获得自己需要的物品。</a:t>
            </a:r>
            <a:br>
              <a:rPr lang="zh-CN" altLang="en-US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br>
              <a:rPr lang="zh-CN" altLang="en-US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en-US" altLang="zh-CN" sz="2665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3.  </a:t>
            </a:r>
            <a:r>
              <a:rPr lang="zh-CN" altLang="en-US" sz="2665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潜在用户：</a:t>
            </a:r>
            <a:br>
              <a:rPr lang="zh-CN" altLang="en-US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2665" b="0" u="sng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校内教职工及其家属</a:t>
            </a:r>
            <a:r>
              <a:rPr lang="zh-CN" altLang="en-US" sz="2665" b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，可能交易或交换一些生活类物品。</a:t>
            </a:r>
            <a:endParaRPr lang="zh-CN" altLang="en-US" sz="2665" b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椭圆 3">
            <a:hlinkClick r:id="" action="ppaction://hlinkshowjump?jump=nextslide"/>
          </p:cNvPr>
          <p:cNvSpPr/>
          <p:nvPr/>
        </p:nvSpPr>
        <p:spPr>
          <a:xfrm rot="13500000">
            <a:off x="7981950" y="3065145"/>
            <a:ext cx="7236460" cy="6856095"/>
          </a:xfrm>
          <a:prstGeom prst="ellipse">
            <a:avLst/>
          </a:prstGeom>
          <a:solidFill>
            <a:schemeClr val="accent1">
              <a:alpha val="27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400"/>
          </a:p>
        </p:txBody>
      </p:sp>
      <p:sp>
        <p:nvSpPr>
          <p:cNvPr id="5" name="椭圆 4"/>
          <p:cNvSpPr/>
          <p:nvPr/>
        </p:nvSpPr>
        <p:spPr>
          <a:xfrm rot="13500000">
            <a:off x="5311775" y="5284470"/>
            <a:ext cx="4175760" cy="4240530"/>
          </a:xfrm>
          <a:prstGeom prst="ellipse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4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3"/>
          <p:cNvSpPr/>
          <p:nvPr>
            <p:custDataLst>
              <p:tags r:id="rId1"/>
            </p:custDataLst>
          </p:nvPr>
        </p:nvSpPr>
        <p:spPr>
          <a:xfrm>
            <a:off x="-3652520" y="1575435"/>
            <a:ext cx="3354070" cy="4266565"/>
          </a:xfrm>
          <a:prstGeom prst="roundRect">
            <a:avLst>
              <a:gd name="adj" fmla="val 6621"/>
            </a:avLst>
          </a:prstGeom>
          <a:solidFill>
            <a:schemeClr val="lt1">
              <a:lumMod val="100000"/>
              <a:alpha val="1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290" tIns="252095" rIns="288290" bIns="698500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圆角矩形 3"/>
          <p:cNvSpPr/>
          <p:nvPr>
            <p:custDataLst>
              <p:tags r:id="rId2"/>
            </p:custDataLst>
          </p:nvPr>
        </p:nvSpPr>
        <p:spPr>
          <a:xfrm>
            <a:off x="-3705225" y="1575435"/>
            <a:ext cx="3354070" cy="4266565"/>
          </a:xfrm>
          <a:prstGeom prst="roundRect">
            <a:avLst>
              <a:gd name="adj" fmla="val 6621"/>
            </a:avLst>
          </a:prstGeom>
          <a:solidFill>
            <a:schemeClr val="lt1">
              <a:lumMod val="100000"/>
              <a:alpha val="1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290" tIns="252095" rIns="288290" bIns="698500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产品功能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10133965" y="-247650"/>
            <a:ext cx="2660015" cy="2616200"/>
          </a:xfrm>
          <a:prstGeom prst="ellipse">
            <a:avLst/>
          </a:prstGeom>
          <a:ln>
            <a:solidFill>
              <a:schemeClr val="accent1">
                <a:alpha val="36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8107680" y="4385120"/>
            <a:ext cx="908685" cy="937895"/>
          </a:xfrm>
          <a:prstGeom prst="ellipse">
            <a:avLst/>
          </a:prstGeom>
          <a:solidFill>
            <a:schemeClr val="accent1">
              <a:alpha val="27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3"/>
          <p:cNvSpPr/>
          <p:nvPr>
            <p:custDataLst>
              <p:tags r:id="rId5"/>
            </p:custDataLst>
          </p:nvPr>
        </p:nvSpPr>
        <p:spPr>
          <a:xfrm>
            <a:off x="-3652520" y="1575435"/>
            <a:ext cx="3354070" cy="4266565"/>
          </a:xfrm>
          <a:prstGeom prst="roundRect">
            <a:avLst>
              <a:gd name="adj" fmla="val 6621"/>
            </a:avLst>
          </a:prstGeom>
          <a:solidFill>
            <a:schemeClr val="lt1">
              <a:lumMod val="100000"/>
              <a:alpha val="1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290" tIns="252095" rIns="288290" bIns="698500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圆角矩形 3"/>
          <p:cNvSpPr/>
          <p:nvPr>
            <p:custDataLst>
              <p:tags r:id="rId6"/>
            </p:custDataLst>
          </p:nvPr>
        </p:nvSpPr>
        <p:spPr>
          <a:xfrm>
            <a:off x="-3566160" y="1595755"/>
            <a:ext cx="3326765" cy="4246245"/>
          </a:xfrm>
          <a:custGeom>
            <a:avLst/>
            <a:gdLst>
              <a:gd name="adj" fmla="val 662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39" h="6687">
                <a:moveTo>
                  <a:pt x="5035" y="0"/>
                </a:moveTo>
                <a:lnTo>
                  <a:pt x="5041" y="3"/>
                </a:lnTo>
                <a:cubicBezTo>
                  <a:pt x="5158" y="59"/>
                  <a:pt x="5239" y="179"/>
                  <a:pt x="5239" y="318"/>
                </a:cubicBezTo>
                <a:lnTo>
                  <a:pt x="5239" y="6337"/>
                </a:lnTo>
                <a:cubicBezTo>
                  <a:pt x="5239" y="6531"/>
                  <a:pt x="5083" y="6687"/>
                  <a:pt x="4889" y="6687"/>
                </a:cubicBezTo>
                <a:lnTo>
                  <a:pt x="307" y="6687"/>
                </a:lnTo>
                <a:cubicBezTo>
                  <a:pt x="180" y="6687"/>
                  <a:pt x="69" y="6620"/>
                  <a:pt x="8" y="6519"/>
                </a:cubicBezTo>
                <a:lnTo>
                  <a:pt x="0" y="6505"/>
                </a:lnTo>
                <a:lnTo>
                  <a:pt x="10" y="6510"/>
                </a:lnTo>
                <a:cubicBezTo>
                  <a:pt x="52" y="6527"/>
                  <a:pt x="98" y="6537"/>
                  <a:pt x="146" y="6537"/>
                </a:cubicBezTo>
                <a:lnTo>
                  <a:pt x="4728" y="6537"/>
                </a:lnTo>
                <a:cubicBezTo>
                  <a:pt x="4922" y="6537"/>
                  <a:pt x="5078" y="6381"/>
                  <a:pt x="5078" y="6187"/>
                </a:cubicBezTo>
                <a:lnTo>
                  <a:pt x="5078" y="168"/>
                </a:lnTo>
                <a:cubicBezTo>
                  <a:pt x="5078" y="107"/>
                  <a:pt x="5063" y="51"/>
                  <a:pt x="5036" y="1"/>
                </a:cubicBezTo>
                <a:lnTo>
                  <a:pt x="503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23850" tIns="215900" rIns="179705" bIns="698500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zh-CN" sz="1400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圆角矩形 3"/>
          <p:cNvSpPr/>
          <p:nvPr>
            <p:custDataLst>
              <p:tags r:id="rId7"/>
            </p:custDataLst>
          </p:nvPr>
        </p:nvSpPr>
        <p:spPr>
          <a:xfrm>
            <a:off x="-3566160" y="1595755"/>
            <a:ext cx="3326765" cy="4246245"/>
          </a:xfrm>
          <a:custGeom>
            <a:avLst/>
            <a:gdLst>
              <a:gd name="adj" fmla="val 662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39" h="6687">
                <a:moveTo>
                  <a:pt x="5035" y="0"/>
                </a:moveTo>
                <a:lnTo>
                  <a:pt x="5041" y="3"/>
                </a:lnTo>
                <a:cubicBezTo>
                  <a:pt x="5158" y="59"/>
                  <a:pt x="5239" y="179"/>
                  <a:pt x="5239" y="318"/>
                </a:cubicBezTo>
                <a:lnTo>
                  <a:pt x="5239" y="6337"/>
                </a:lnTo>
                <a:cubicBezTo>
                  <a:pt x="5239" y="6531"/>
                  <a:pt x="5083" y="6687"/>
                  <a:pt x="4889" y="6687"/>
                </a:cubicBezTo>
                <a:lnTo>
                  <a:pt x="307" y="6687"/>
                </a:lnTo>
                <a:cubicBezTo>
                  <a:pt x="180" y="6687"/>
                  <a:pt x="69" y="6620"/>
                  <a:pt x="8" y="6519"/>
                </a:cubicBezTo>
                <a:lnTo>
                  <a:pt x="0" y="6505"/>
                </a:lnTo>
                <a:lnTo>
                  <a:pt x="10" y="6510"/>
                </a:lnTo>
                <a:cubicBezTo>
                  <a:pt x="52" y="6527"/>
                  <a:pt x="98" y="6537"/>
                  <a:pt x="146" y="6537"/>
                </a:cubicBezTo>
                <a:lnTo>
                  <a:pt x="4728" y="6537"/>
                </a:lnTo>
                <a:cubicBezTo>
                  <a:pt x="4922" y="6537"/>
                  <a:pt x="5078" y="6381"/>
                  <a:pt x="5078" y="6187"/>
                </a:cubicBezTo>
                <a:lnTo>
                  <a:pt x="5078" y="168"/>
                </a:lnTo>
                <a:cubicBezTo>
                  <a:pt x="5078" y="107"/>
                  <a:pt x="5063" y="51"/>
                  <a:pt x="5036" y="1"/>
                </a:cubicBezTo>
                <a:lnTo>
                  <a:pt x="503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23850" tIns="215900" rIns="179705" bIns="698500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zh-CN" sz="1400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圆角矩形 3"/>
          <p:cNvSpPr/>
          <p:nvPr>
            <p:custDataLst>
              <p:tags r:id="rId8"/>
            </p:custDataLst>
          </p:nvPr>
        </p:nvSpPr>
        <p:spPr>
          <a:xfrm>
            <a:off x="-3566160" y="1595755"/>
            <a:ext cx="3326765" cy="4246245"/>
          </a:xfrm>
          <a:custGeom>
            <a:avLst/>
            <a:gdLst>
              <a:gd name="adj" fmla="val 662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39" h="6687">
                <a:moveTo>
                  <a:pt x="5035" y="0"/>
                </a:moveTo>
                <a:lnTo>
                  <a:pt x="5041" y="3"/>
                </a:lnTo>
                <a:cubicBezTo>
                  <a:pt x="5158" y="59"/>
                  <a:pt x="5239" y="179"/>
                  <a:pt x="5239" y="318"/>
                </a:cubicBezTo>
                <a:lnTo>
                  <a:pt x="5239" y="6337"/>
                </a:lnTo>
                <a:cubicBezTo>
                  <a:pt x="5239" y="6531"/>
                  <a:pt x="5083" y="6687"/>
                  <a:pt x="4889" y="6687"/>
                </a:cubicBezTo>
                <a:lnTo>
                  <a:pt x="307" y="6687"/>
                </a:lnTo>
                <a:cubicBezTo>
                  <a:pt x="180" y="6687"/>
                  <a:pt x="69" y="6620"/>
                  <a:pt x="8" y="6519"/>
                </a:cubicBezTo>
                <a:lnTo>
                  <a:pt x="0" y="6505"/>
                </a:lnTo>
                <a:lnTo>
                  <a:pt x="10" y="6510"/>
                </a:lnTo>
                <a:cubicBezTo>
                  <a:pt x="52" y="6527"/>
                  <a:pt x="98" y="6537"/>
                  <a:pt x="146" y="6537"/>
                </a:cubicBezTo>
                <a:lnTo>
                  <a:pt x="4728" y="6537"/>
                </a:lnTo>
                <a:cubicBezTo>
                  <a:pt x="4922" y="6537"/>
                  <a:pt x="5078" y="6381"/>
                  <a:pt x="5078" y="6187"/>
                </a:cubicBezTo>
                <a:lnTo>
                  <a:pt x="5078" y="168"/>
                </a:lnTo>
                <a:cubicBezTo>
                  <a:pt x="5078" y="107"/>
                  <a:pt x="5063" y="51"/>
                  <a:pt x="5036" y="1"/>
                </a:cubicBezTo>
                <a:lnTo>
                  <a:pt x="503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23850" tIns="215900" rIns="179705" bIns="698500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zh-CN" sz="1400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核心功能模块</a:t>
            </a:r>
            <a:endParaRPr lang="zh-CN" altLang="en-US"/>
          </a:p>
        </p:txBody>
      </p:sp>
      <p:sp>
        <p:nvSpPr>
          <p:cNvPr id="6" name="圆角矩形 3"/>
          <p:cNvSpPr/>
          <p:nvPr>
            <p:custDataLst>
              <p:tags r:id="rId2"/>
            </p:custDataLst>
          </p:nvPr>
        </p:nvSpPr>
        <p:spPr>
          <a:xfrm>
            <a:off x="781050" y="1742440"/>
            <a:ext cx="3326765" cy="4246245"/>
          </a:xfrm>
          <a:custGeom>
            <a:avLst/>
            <a:gdLst>
              <a:gd name="adj" fmla="val 662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39" h="6687">
                <a:moveTo>
                  <a:pt x="5035" y="0"/>
                </a:moveTo>
                <a:lnTo>
                  <a:pt x="5041" y="3"/>
                </a:lnTo>
                <a:cubicBezTo>
                  <a:pt x="5158" y="59"/>
                  <a:pt x="5239" y="179"/>
                  <a:pt x="5239" y="318"/>
                </a:cubicBezTo>
                <a:lnTo>
                  <a:pt x="5239" y="6337"/>
                </a:lnTo>
                <a:cubicBezTo>
                  <a:pt x="5239" y="6531"/>
                  <a:pt x="5083" y="6687"/>
                  <a:pt x="4889" y="6687"/>
                </a:cubicBezTo>
                <a:lnTo>
                  <a:pt x="307" y="6687"/>
                </a:lnTo>
                <a:cubicBezTo>
                  <a:pt x="180" y="6687"/>
                  <a:pt x="69" y="6620"/>
                  <a:pt x="8" y="6519"/>
                </a:cubicBezTo>
                <a:lnTo>
                  <a:pt x="0" y="6505"/>
                </a:lnTo>
                <a:lnTo>
                  <a:pt x="10" y="6510"/>
                </a:lnTo>
                <a:cubicBezTo>
                  <a:pt x="52" y="6527"/>
                  <a:pt x="98" y="6537"/>
                  <a:pt x="146" y="6537"/>
                </a:cubicBezTo>
                <a:lnTo>
                  <a:pt x="4728" y="6537"/>
                </a:lnTo>
                <a:cubicBezTo>
                  <a:pt x="4922" y="6537"/>
                  <a:pt x="5078" y="6381"/>
                  <a:pt x="5078" y="6187"/>
                </a:cubicBezTo>
                <a:lnTo>
                  <a:pt x="5078" y="168"/>
                </a:lnTo>
                <a:cubicBezTo>
                  <a:pt x="5078" y="107"/>
                  <a:pt x="5063" y="51"/>
                  <a:pt x="5036" y="1"/>
                </a:cubicBezTo>
                <a:lnTo>
                  <a:pt x="503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23850" tIns="215900" rIns="179705" bIns="698500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zh-CN" sz="1400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圆角矩形 3"/>
          <p:cNvSpPr/>
          <p:nvPr>
            <p:custDataLst>
              <p:tags r:id="rId3"/>
            </p:custDataLst>
          </p:nvPr>
        </p:nvSpPr>
        <p:spPr>
          <a:xfrm>
            <a:off x="664845" y="1626870"/>
            <a:ext cx="3354070" cy="4266565"/>
          </a:xfrm>
          <a:prstGeom prst="roundRect">
            <a:avLst>
              <a:gd name="adj" fmla="val 6621"/>
            </a:avLst>
          </a:prstGeom>
          <a:solidFill>
            <a:schemeClr val="lt1">
              <a:lumMod val="100000"/>
              <a:alpha val="1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290" tIns="252095" rIns="288290" bIns="698500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en-US" altLang="zh-CN" b="1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    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圆角矩形 16"/>
          <p:cNvSpPr/>
          <p:nvPr>
            <p:custDataLst>
              <p:tags r:id="rId4"/>
            </p:custDataLst>
          </p:nvPr>
        </p:nvSpPr>
        <p:spPr>
          <a:xfrm>
            <a:off x="831850" y="5400040"/>
            <a:ext cx="490855" cy="493395"/>
          </a:xfrm>
          <a:prstGeom prst="roundRect">
            <a:avLst>
              <a:gd name="adj" fmla="val 2376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8" name="圆角矩形 3"/>
          <p:cNvSpPr/>
          <p:nvPr>
            <p:custDataLst>
              <p:tags r:id="rId5"/>
            </p:custDataLst>
          </p:nvPr>
        </p:nvSpPr>
        <p:spPr>
          <a:xfrm>
            <a:off x="4478020" y="1742440"/>
            <a:ext cx="3326765" cy="4246245"/>
          </a:xfrm>
          <a:custGeom>
            <a:avLst/>
            <a:gdLst>
              <a:gd name="adj" fmla="val 662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39" h="6687">
                <a:moveTo>
                  <a:pt x="5035" y="0"/>
                </a:moveTo>
                <a:lnTo>
                  <a:pt x="5041" y="3"/>
                </a:lnTo>
                <a:cubicBezTo>
                  <a:pt x="5158" y="59"/>
                  <a:pt x="5239" y="179"/>
                  <a:pt x="5239" y="318"/>
                </a:cubicBezTo>
                <a:lnTo>
                  <a:pt x="5239" y="6337"/>
                </a:lnTo>
                <a:cubicBezTo>
                  <a:pt x="5239" y="6531"/>
                  <a:pt x="5083" y="6687"/>
                  <a:pt x="4889" y="6687"/>
                </a:cubicBezTo>
                <a:lnTo>
                  <a:pt x="307" y="6687"/>
                </a:lnTo>
                <a:cubicBezTo>
                  <a:pt x="180" y="6687"/>
                  <a:pt x="69" y="6620"/>
                  <a:pt x="8" y="6519"/>
                </a:cubicBezTo>
                <a:lnTo>
                  <a:pt x="0" y="6505"/>
                </a:lnTo>
                <a:lnTo>
                  <a:pt x="10" y="6510"/>
                </a:lnTo>
                <a:cubicBezTo>
                  <a:pt x="52" y="6527"/>
                  <a:pt x="98" y="6537"/>
                  <a:pt x="146" y="6537"/>
                </a:cubicBezTo>
                <a:lnTo>
                  <a:pt x="4728" y="6537"/>
                </a:lnTo>
                <a:cubicBezTo>
                  <a:pt x="4922" y="6537"/>
                  <a:pt x="5078" y="6381"/>
                  <a:pt x="5078" y="6187"/>
                </a:cubicBezTo>
                <a:lnTo>
                  <a:pt x="5078" y="168"/>
                </a:lnTo>
                <a:cubicBezTo>
                  <a:pt x="5078" y="107"/>
                  <a:pt x="5063" y="51"/>
                  <a:pt x="5036" y="1"/>
                </a:cubicBezTo>
                <a:lnTo>
                  <a:pt x="503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23850" tIns="215900" rIns="179705" bIns="698500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zh-CN" sz="1400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 useBgFill="1">
        <p:nvSpPr>
          <p:cNvPr id="49" name="圆角矩形 3"/>
          <p:cNvSpPr/>
          <p:nvPr>
            <p:custDataLst>
              <p:tags r:id="rId6"/>
            </p:custDataLst>
          </p:nvPr>
        </p:nvSpPr>
        <p:spPr>
          <a:xfrm>
            <a:off x="4348480" y="1626870"/>
            <a:ext cx="3354070" cy="4266565"/>
          </a:xfrm>
          <a:prstGeom prst="roundRect">
            <a:avLst>
              <a:gd name="adj" fmla="val 6621"/>
            </a:avLst>
          </a:prstGeom>
          <a:solidFill>
            <a:schemeClr val="lt1">
              <a:lumMod val="100000"/>
              <a:alpha val="10000"/>
            </a:schemeClr>
          </a:solidFill>
          <a:ln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290" tIns="252095" rIns="288290" bIns="698500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en-US" altLang="zh-CN" sz="1600" dirty="0">
                <a:solidFill>
                  <a:schemeClr val="bg1"/>
                </a:solidFill>
                <a:sym typeface="+mn-ea"/>
              </a:rPr>
              <a:t>...</a:t>
            </a:r>
            <a:endParaRPr lang="en-US" altLang="zh-CN" sz="16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50" name="圆角矩形 16"/>
          <p:cNvSpPr/>
          <p:nvPr>
            <p:custDataLst>
              <p:tags r:id="rId7"/>
            </p:custDataLst>
          </p:nvPr>
        </p:nvSpPr>
        <p:spPr>
          <a:xfrm>
            <a:off x="4553585" y="5400040"/>
            <a:ext cx="490855" cy="493395"/>
          </a:xfrm>
          <a:prstGeom prst="roundRect">
            <a:avLst>
              <a:gd name="adj" fmla="val 23765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2" name="圆角矩形 3"/>
          <p:cNvSpPr/>
          <p:nvPr>
            <p:custDataLst>
              <p:tags r:id="rId8"/>
            </p:custDataLst>
          </p:nvPr>
        </p:nvSpPr>
        <p:spPr>
          <a:xfrm>
            <a:off x="8161655" y="1742440"/>
            <a:ext cx="3326765" cy="4246245"/>
          </a:xfrm>
          <a:custGeom>
            <a:avLst/>
            <a:gdLst>
              <a:gd name="adj" fmla="val 662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39" h="6687">
                <a:moveTo>
                  <a:pt x="5035" y="0"/>
                </a:moveTo>
                <a:lnTo>
                  <a:pt x="5041" y="3"/>
                </a:lnTo>
                <a:cubicBezTo>
                  <a:pt x="5158" y="59"/>
                  <a:pt x="5239" y="179"/>
                  <a:pt x="5239" y="318"/>
                </a:cubicBezTo>
                <a:lnTo>
                  <a:pt x="5239" y="6337"/>
                </a:lnTo>
                <a:cubicBezTo>
                  <a:pt x="5239" y="6531"/>
                  <a:pt x="5083" y="6687"/>
                  <a:pt x="4889" y="6687"/>
                </a:cubicBezTo>
                <a:lnTo>
                  <a:pt x="307" y="6687"/>
                </a:lnTo>
                <a:cubicBezTo>
                  <a:pt x="180" y="6687"/>
                  <a:pt x="69" y="6620"/>
                  <a:pt x="8" y="6519"/>
                </a:cubicBezTo>
                <a:lnTo>
                  <a:pt x="0" y="6505"/>
                </a:lnTo>
                <a:lnTo>
                  <a:pt x="10" y="6510"/>
                </a:lnTo>
                <a:cubicBezTo>
                  <a:pt x="52" y="6527"/>
                  <a:pt x="98" y="6537"/>
                  <a:pt x="146" y="6537"/>
                </a:cubicBezTo>
                <a:lnTo>
                  <a:pt x="4728" y="6537"/>
                </a:lnTo>
                <a:cubicBezTo>
                  <a:pt x="4922" y="6537"/>
                  <a:pt x="5078" y="6381"/>
                  <a:pt x="5078" y="6187"/>
                </a:cubicBezTo>
                <a:lnTo>
                  <a:pt x="5078" y="168"/>
                </a:lnTo>
                <a:cubicBezTo>
                  <a:pt x="5078" y="107"/>
                  <a:pt x="5063" y="51"/>
                  <a:pt x="5036" y="1"/>
                </a:cubicBezTo>
                <a:lnTo>
                  <a:pt x="503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23850" tIns="215900" rIns="179705" bIns="698500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zh-CN" sz="1400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 useBgFill="1">
        <p:nvSpPr>
          <p:cNvPr id="53" name="圆角矩形 3"/>
          <p:cNvSpPr/>
          <p:nvPr>
            <p:custDataLst>
              <p:tags r:id="rId9"/>
            </p:custDataLst>
          </p:nvPr>
        </p:nvSpPr>
        <p:spPr>
          <a:xfrm>
            <a:off x="8032115" y="1626870"/>
            <a:ext cx="3354070" cy="4266565"/>
          </a:xfrm>
          <a:prstGeom prst="roundRect">
            <a:avLst>
              <a:gd name="adj" fmla="val 6621"/>
            </a:avLst>
          </a:prstGeom>
          <a:solidFill>
            <a:schemeClr val="lt1">
              <a:lumMod val="100000"/>
              <a:alpha val="1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290" tIns="252095" rIns="288290" bIns="698500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en-US" altLang="zh-CN" sz="1600" dirty="0">
                <a:solidFill>
                  <a:schemeClr val="bg1"/>
                </a:solidFill>
                <a:sym typeface="+mn-ea"/>
              </a:rPr>
              <a:t>.</a:t>
            </a:r>
            <a:endParaRPr lang="en-US" altLang="zh-CN" sz="16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54" name="圆角矩形 16"/>
          <p:cNvSpPr/>
          <p:nvPr>
            <p:custDataLst>
              <p:tags r:id="rId10"/>
            </p:custDataLst>
          </p:nvPr>
        </p:nvSpPr>
        <p:spPr>
          <a:xfrm>
            <a:off x="8246110" y="5400040"/>
            <a:ext cx="490855" cy="493395"/>
          </a:xfrm>
          <a:prstGeom prst="roundRect">
            <a:avLst>
              <a:gd name="adj" fmla="val 2376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1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-3012440" y="2048510"/>
            <a:ext cx="2660015" cy="2616200"/>
          </a:xfrm>
          <a:prstGeom prst="ellipse">
            <a:avLst/>
          </a:prstGeom>
          <a:ln>
            <a:solidFill>
              <a:schemeClr val="accent1">
                <a:alpha val="36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03275" y="1742440"/>
            <a:ext cx="3140710" cy="3823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lnSpc>
                <a:spcPct val="140000"/>
              </a:lnSpc>
              <a:buClrTx/>
              <a:buSzTx/>
              <a:buFontTx/>
            </a:pPr>
            <a:r>
              <a:rPr lang="zh-CN" altLang="en-US" b="1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首页与商品/换品系统</a:t>
            </a:r>
            <a:endParaRPr lang="zh-CN" altLang="en-US" b="1">
              <a:solidFill>
                <a:schemeClr val="accent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285750" lvl="0" indent="-285750" algn="l">
              <a:lnSpc>
                <a:spcPct val="14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600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首页展示：​​ 并列展示“现金交易”与“以物换物”入口，支持一键切换或同屏浏览。</a:t>
            </a:r>
            <a:endParaRPr lang="zh-CN" altLang="en-US" sz="1600">
              <a:solidFill>
                <a:schemeClr val="accent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285750" lvl="0" indent="-285750" algn="l">
              <a:lnSpc>
                <a:spcPct val="14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600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​精准分类：​​ 通用分类下为换物商品添加醒目标签，并支持按“换物品类”专项筛选。</a:t>
            </a:r>
            <a:endParaRPr lang="zh-CN" altLang="en-US" sz="1600">
              <a:solidFill>
                <a:schemeClr val="accent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285750" lvl="0" indent="-285750" algn="l">
              <a:lnSpc>
                <a:spcPct val="14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600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​愿望池：​​ 用户可发布需求（含意向金额或可换物品），实现“以需寻供”的主动匹配。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endParaRPr lang="zh-CN" altLang="en-US" sz="1600"/>
          </a:p>
        </p:txBody>
      </p:sp>
      <p:sp>
        <p:nvSpPr>
          <p:cNvPr id="4" name="文本框 3"/>
          <p:cNvSpPr txBox="1"/>
          <p:nvPr/>
        </p:nvSpPr>
        <p:spPr>
          <a:xfrm>
            <a:off x="4363720" y="1742440"/>
            <a:ext cx="3331845" cy="3823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>
              <a:lnSpc>
                <a:spcPct val="140000"/>
              </a:lnSpc>
              <a:buClrTx/>
              <a:buSzTx/>
              <a:buFontTx/>
            </a:pPr>
            <a:r>
              <a:rPr lang="zh-CN" altLang="en-US" b="1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商品/换品发布与管理系统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marL="285750" lvl="0" indent="-285750" algn="l">
              <a:lnSpc>
                <a:spcPct val="14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​</a:t>
            </a:r>
            <a:r>
              <a:rPr lang="zh-CN" altLang="en-US" sz="1600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智能发布​：用户首先选择交易方式（仅兑钱/仅换物/均可）。若涉及换物，可填写“期望换得”物品（支持文字描述和参考图片），降低沟通成本。</a:t>
            </a:r>
            <a:endParaRPr lang="zh-CN" altLang="en-US" sz="1600">
              <a:solidFill>
                <a:schemeClr val="accent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285750" lvl="0" indent="-285750" algn="l">
              <a:lnSpc>
                <a:spcPct val="14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600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​集中管理​：在“我的”中心，用户可统一查看并管理处于不同状态的商品，包括“我发布的”、“我卖出的”、“我换出的”以及“我的愿望清单”。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040370" y="1742440"/>
            <a:ext cx="3408045" cy="3470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>
              <a:lnSpc>
                <a:spcPct val="140000"/>
              </a:lnSpc>
              <a:buClrTx/>
              <a:buSzTx/>
              <a:buFontTx/>
            </a:pPr>
            <a:r>
              <a:rPr lang="zh-CN" altLang="en-US" b="1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沟通与信任体系</a:t>
            </a:r>
            <a:endParaRPr lang="zh-CN" altLang="en-US" b="1">
              <a:solidFill>
                <a:schemeClr val="accent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285750" lvl="0" indent="-285750" algn="l">
              <a:lnSpc>
                <a:spcPct val="14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​</a:t>
            </a:r>
            <a:r>
              <a:rPr lang="zh-CN" altLang="en-US" sz="1600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即时通讯​：内置聊天，支持议价商议。</a:t>
            </a:r>
            <a:endParaRPr lang="zh-CN" altLang="en-US" sz="1600">
              <a:solidFill>
                <a:schemeClr val="accent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285750" lvl="0" indent="-285750" algn="l">
              <a:lnSpc>
                <a:spcPct val="14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600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​校园认证​：后台实名（学号/校园邮箱），前端匿名，安全可信。</a:t>
            </a:r>
            <a:endParaRPr lang="zh-CN" altLang="en-US" sz="1600">
              <a:solidFill>
                <a:schemeClr val="accent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285750" lvl="0" indent="-285750" algn="l">
              <a:lnSpc>
                <a:spcPct val="14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600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​一键换物​：标准化提议，简化易货流程。</a:t>
            </a:r>
            <a:endParaRPr lang="zh-CN" altLang="en-US" sz="1600">
              <a:solidFill>
                <a:schemeClr val="accent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285750" lvl="0" indent="-285750" algn="l">
              <a:lnSpc>
                <a:spcPct val="14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600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​信用体系​：双向评价，积累信用分数。</a:t>
            </a:r>
            <a:endParaRPr lang="zh-CN" altLang="en-US" sz="1600">
              <a:solidFill>
                <a:schemeClr val="accent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285750" lvl="0" indent="-285750" algn="l">
              <a:lnSpc>
                <a:spcPct val="14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600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建立访客模式，未注册访客只可浏览界面。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endParaRPr lang="zh-CN" altLang="en-US" sz="1600"/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-1463040" y="360045"/>
            <a:ext cx="7320915" cy="720090"/>
          </a:xfrm>
        </p:spPr>
        <p:txBody>
          <a:bodyPr/>
          <a:lstStyle/>
          <a:p>
            <a:pPr algn="ctr"/>
            <a:r>
              <a:rPr lang="zh-CN" altLang="en-US"/>
              <a:t>关键词识别系统</a:t>
            </a:r>
            <a:endParaRPr lang="zh-CN" altLang="en-US"/>
          </a:p>
        </p:txBody>
      </p:sp>
      <p:sp>
        <p:nvSpPr>
          <p:cNvPr id="10" name="圆角矩形 9"/>
          <p:cNvSpPr/>
          <p:nvPr>
            <p:custDataLst>
              <p:tags r:id="rId2"/>
            </p:custDataLst>
          </p:nvPr>
        </p:nvSpPr>
        <p:spPr>
          <a:xfrm>
            <a:off x="695960" y="1456055"/>
            <a:ext cx="10799445" cy="1462405"/>
          </a:xfrm>
          <a:prstGeom prst="roundRect">
            <a:avLst>
              <a:gd name="adj" fmla="val 17281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1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007745" tIns="0" rIns="179705" bIns="71755" rtlCol="0" anchor="ctr"/>
          <a:lstStyle/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0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自动关键词提取：在用户发布物品时，系统使用自然语言处理技术从标题和描述中提取关键词（如品牌、品类、状态、颜色等）。例如，发布“九成新离散数学课本”自动提取关键词：“离散数学”、“课本”、“九成新”。</a:t>
            </a:r>
            <a:endParaRPr lang="zh-CN" altLang="en-US" sz="20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020445" y="1928495"/>
            <a:ext cx="517525" cy="517525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200" dirty="0">
                <a:solidFill>
                  <a:srgbClr val="FFFFFF"/>
                </a:solidFill>
                <a:sym typeface="+mn-ea"/>
              </a:rPr>
              <a:t>1</a:t>
            </a:r>
            <a:endParaRPr lang="en-US" altLang="zh-CN" sz="2200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16" name="圆角矩形 15"/>
          <p:cNvSpPr/>
          <p:nvPr>
            <p:custDataLst>
              <p:tags r:id="rId4"/>
            </p:custDataLst>
          </p:nvPr>
        </p:nvSpPr>
        <p:spPr>
          <a:xfrm>
            <a:off x="695960" y="3074035"/>
            <a:ext cx="10799445" cy="1462405"/>
          </a:xfrm>
          <a:prstGeom prst="roundRect">
            <a:avLst>
              <a:gd name="adj" fmla="val 17281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1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007745" tIns="0" rIns="179705" bIns="71755" rtlCol="0" anchor="ctr"/>
          <a:lstStyle/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0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+mj-ea"/>
                <a:sym typeface="+mn-ea"/>
              </a:rPr>
              <a:t>关键词应用：用于改进搜索精度和推荐匹配。支持用户手动添加或调整关键词，以优化物品曝光。</a:t>
            </a:r>
            <a:endParaRPr lang="zh-CN" altLang="en-US" sz="20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+mj-ea"/>
              <a:sym typeface="+mn-ea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020445" y="3546475"/>
            <a:ext cx="517525" cy="517525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200" dirty="0">
                <a:solidFill>
                  <a:srgbClr val="FFFFFF"/>
                </a:solidFill>
                <a:sym typeface="+mn-ea"/>
              </a:rPr>
              <a:t>2</a:t>
            </a:r>
            <a:endParaRPr lang="en-US" altLang="zh-CN" sz="2200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21" name="圆角矩形 20"/>
          <p:cNvSpPr/>
          <p:nvPr>
            <p:custDataLst>
              <p:tags r:id="rId6"/>
            </p:custDataLst>
          </p:nvPr>
        </p:nvSpPr>
        <p:spPr>
          <a:xfrm>
            <a:off x="696595" y="4692015"/>
            <a:ext cx="10799445" cy="1462405"/>
          </a:xfrm>
          <a:prstGeom prst="roundRect">
            <a:avLst>
              <a:gd name="adj" fmla="val 17281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1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007745" tIns="0" rIns="179705" bIns="71755" rtlCol="0" anchor="ctr"/>
          <a:lstStyle/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0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愿望池匹配：系统定期扫描新发布物品，与愿望池中的关键词匹配，向用户推送通知（如“有物品符合您的愿望！”）。</a:t>
            </a:r>
            <a:endParaRPr lang="zh-CN" altLang="en-US" sz="20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22" name="椭圆 2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020445" y="5164455"/>
            <a:ext cx="517525" cy="517525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200" dirty="0">
                <a:solidFill>
                  <a:srgbClr val="FFFFFF"/>
                </a:solidFill>
                <a:sym typeface="+mn-ea"/>
              </a:rPr>
              <a:t>3</a:t>
            </a:r>
            <a:endParaRPr lang="en-US" altLang="zh-CN" sz="2200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-3465195" y="0"/>
            <a:ext cx="7124700" cy="6858635"/>
          </a:xfrm>
          <a:prstGeom prst="ellipse">
            <a:avLst/>
          </a:prstGeom>
          <a:solidFill>
            <a:schemeClr val="accent1">
              <a:alpha val="9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>
            <p:custDataLst>
              <p:tags r:id="rId8"/>
            </p:custDataLst>
          </p:nvPr>
        </p:nvSpPr>
        <p:spPr>
          <a:xfrm>
            <a:off x="-2550160" y="1148715"/>
            <a:ext cx="2550160" cy="4860925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  <a:alpha val="25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1"/>
          <p:cNvSpPr/>
          <p:nvPr>
            <p:custDataLst>
              <p:tags r:id="rId9"/>
            </p:custDataLst>
          </p:nvPr>
        </p:nvSpPr>
        <p:spPr>
          <a:xfrm>
            <a:off x="-2501265" y="1148715"/>
            <a:ext cx="2550160" cy="48609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圆角矩形 1"/>
          <p:cNvSpPr/>
          <p:nvPr>
            <p:custDataLst>
              <p:tags r:id="rId10"/>
            </p:custDataLst>
          </p:nvPr>
        </p:nvSpPr>
        <p:spPr>
          <a:xfrm>
            <a:off x="-2550160" y="1080135"/>
            <a:ext cx="2550160" cy="4860925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  <a:alpha val="25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圆角矩形 1"/>
          <p:cNvSpPr/>
          <p:nvPr>
            <p:custDataLst>
              <p:tags r:id="rId11"/>
            </p:custDataLst>
          </p:nvPr>
        </p:nvSpPr>
        <p:spPr>
          <a:xfrm>
            <a:off x="-2550160" y="1148715"/>
            <a:ext cx="2550160" cy="48609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45"/>
            <a:ext cx="10702290" cy="665480"/>
          </a:xfrm>
        </p:spPr>
        <p:txBody>
          <a:bodyPr/>
          <a:lstStyle/>
          <a:p>
            <a:r>
              <a:rPr lang="zh-CN" altLang="en-US"/>
              <a:t>用户个人主页设计</a:t>
            </a:r>
            <a:endParaRPr lang="zh-CN" altLang="en-US"/>
          </a:p>
        </p:txBody>
      </p:sp>
      <p:sp>
        <p:nvSpPr>
          <p:cNvPr id="22" name="圆角矩形 1"/>
          <p:cNvSpPr/>
          <p:nvPr>
            <p:custDataLst>
              <p:tags r:id="rId2"/>
            </p:custDataLst>
          </p:nvPr>
        </p:nvSpPr>
        <p:spPr>
          <a:xfrm>
            <a:off x="608965" y="1511300"/>
            <a:ext cx="2550160" cy="4860925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  <a:alpha val="25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889635" y="2966720"/>
            <a:ext cx="1988820" cy="27343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展示昵称、头像、简介及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“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已认证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”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标识，院系信息可选显示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889635" y="2159635"/>
            <a:ext cx="1988820" cy="573405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个人资料</a:t>
            </a:r>
            <a:r>
              <a:rPr lang="en-US" altLang="zh-CN" sz="2000" b="1" dirty="0">
                <a:solidFill>
                  <a:schemeClr val="accent1"/>
                </a:solidFill>
                <a:latin typeface="+mn-ea"/>
                <a:cs typeface="+mn-ea"/>
              </a:rPr>
              <a:t>​</a:t>
            </a:r>
            <a:endParaRPr lang="en-US" altLang="zh-CN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5" name="圆角矩形 1"/>
          <p:cNvSpPr/>
          <p:nvPr>
            <p:custDataLst>
              <p:tags r:id="rId5"/>
            </p:custDataLst>
          </p:nvPr>
        </p:nvSpPr>
        <p:spPr>
          <a:xfrm>
            <a:off x="3416935" y="1511300"/>
            <a:ext cx="2550160" cy="48609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3697605" y="2966720"/>
            <a:ext cx="1988820" cy="27343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呈现总成单量（细分卖出与买入）、信用评分及近期评价摘要。</a:t>
            </a:r>
            <a:endParaRPr lang="zh-CN" altLang="en-US" sz="1600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3697605" y="2159635"/>
            <a:ext cx="1988820" cy="573405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FFFFFF"/>
                </a:solidFill>
                <a:latin typeface="+mn-ea"/>
                <a:cs typeface="+mn-ea"/>
              </a:rPr>
              <a:t>数据概览</a:t>
            </a:r>
            <a:r>
              <a:rPr lang="en-US" altLang="zh-CN" sz="2000" b="1" dirty="0">
                <a:solidFill>
                  <a:srgbClr val="FFFFFF"/>
                </a:solidFill>
                <a:latin typeface="+mn-ea"/>
                <a:cs typeface="+mn-ea"/>
              </a:rPr>
              <a:t>​</a:t>
            </a:r>
            <a:endParaRPr lang="en-US" altLang="zh-CN" sz="2000" b="1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28" name="圆角矩形 1"/>
          <p:cNvSpPr/>
          <p:nvPr>
            <p:custDataLst>
              <p:tags r:id="rId8"/>
            </p:custDataLst>
          </p:nvPr>
        </p:nvSpPr>
        <p:spPr>
          <a:xfrm>
            <a:off x="6224270" y="1511300"/>
            <a:ext cx="2550160" cy="4860925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  <a:alpha val="25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9"/>
            </p:custDataLst>
          </p:nvPr>
        </p:nvSpPr>
        <p:spPr>
          <a:xfrm>
            <a:off x="6492240" y="2733040"/>
            <a:ext cx="2014220" cy="27343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以列表形式分开展示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“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出物详情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”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（已卖出）与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“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收物详情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”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（已买入），包括物品图片、名称、交易时间、交易方式（现金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/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换物）、交易对象（显示对方昵称）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>
            <p:custDataLst>
              <p:tags r:id="rId10"/>
            </p:custDataLst>
          </p:nvPr>
        </p:nvSpPr>
        <p:spPr>
          <a:xfrm>
            <a:off x="6504940" y="2159635"/>
            <a:ext cx="1988820" cy="573405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</a:rPr>
              <a:t>交易记录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31" name="圆角矩形 1"/>
          <p:cNvSpPr/>
          <p:nvPr>
            <p:custDataLst>
              <p:tags r:id="rId11"/>
            </p:custDataLst>
          </p:nvPr>
        </p:nvSpPr>
        <p:spPr>
          <a:xfrm>
            <a:off x="9032240" y="1511300"/>
            <a:ext cx="2550160" cy="486092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12"/>
            </p:custDataLst>
          </p:nvPr>
        </p:nvSpPr>
        <p:spPr>
          <a:xfrm>
            <a:off x="9312910" y="2966720"/>
            <a:ext cx="1988820" cy="27343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展示用户发布的愿望列表，包含状态、愿付金额</a:t>
            </a:r>
            <a:r>
              <a:rPr lang="en-US" altLang="zh-CN" sz="1600" dirty="0">
                <a:solidFill>
                  <a:srgbClr val="FFFFFF"/>
                </a:solidFill>
                <a:latin typeface="+mn-ea"/>
                <a:cs typeface="+mn-ea"/>
              </a:rPr>
              <a:t>/</a:t>
            </a:r>
            <a:r>
              <a:rPr lang="zh-CN" altLang="en-US" sz="1600" dirty="0">
                <a:solidFill>
                  <a:srgbClr val="FFFFFF"/>
                </a:solidFill>
                <a:latin typeface="+mn-ea"/>
                <a:cs typeface="+mn-ea"/>
              </a:rPr>
              <a:t>愿换物品等信息，支持编辑与删除。</a:t>
            </a:r>
            <a:endParaRPr lang="zh-CN" altLang="en-US" sz="1600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3"/>
            </p:custDataLst>
          </p:nvPr>
        </p:nvSpPr>
        <p:spPr>
          <a:xfrm>
            <a:off x="9312910" y="2159635"/>
            <a:ext cx="1988820" cy="573405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FFFFFF"/>
                </a:solidFill>
                <a:latin typeface="+mn-ea"/>
                <a:cs typeface="+mn-ea"/>
              </a:rPr>
              <a:t>​</a:t>
            </a:r>
            <a:r>
              <a:rPr lang="zh-CN" altLang="en-US" sz="2000" b="1" dirty="0">
                <a:solidFill>
                  <a:srgbClr val="FFFFFF"/>
                </a:solidFill>
                <a:latin typeface="+mn-ea"/>
                <a:cs typeface="+mn-ea"/>
              </a:rPr>
              <a:t>愿望管理</a:t>
            </a:r>
            <a:r>
              <a:rPr lang="en-US" altLang="zh-CN" sz="2000" b="1" dirty="0">
                <a:solidFill>
                  <a:srgbClr val="FFFFFF"/>
                </a:solidFill>
                <a:latin typeface="+mn-ea"/>
                <a:cs typeface="+mn-ea"/>
              </a:rPr>
              <a:t>​</a:t>
            </a:r>
            <a:endParaRPr lang="en-US" altLang="zh-CN" sz="2000" b="1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60500" y="1028805"/>
            <a:ext cx="6096000" cy="39878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sub-title"/>
              </a:ext>
            </a:extLst>
          </a:bodyPr>
          <a:p>
            <a:pPr algn="l">
              <a:buClrTx/>
              <a:buSzTx/>
              <a:buFontTx/>
            </a:pPr>
            <a:r>
              <a:rPr lang="zh-CN" altLang="en-US" sz="2000" b="1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展示用户活动历史和信用数据</a:t>
            </a:r>
            <a:endParaRPr lang="zh-CN" altLang="en-US" sz="2000" b="1">
              <a:solidFill>
                <a:schemeClr val="accent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-212725" y="7029895"/>
            <a:ext cx="908685" cy="937895"/>
          </a:xfrm>
          <a:prstGeom prst="ellipse">
            <a:avLst/>
          </a:prstGeom>
          <a:solidFill>
            <a:schemeClr val="accent1">
              <a:alpha val="27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-908685" y="6092000"/>
            <a:ext cx="908685" cy="937895"/>
          </a:xfrm>
          <a:prstGeom prst="ellipse">
            <a:avLst/>
          </a:prstGeom>
          <a:solidFill>
            <a:schemeClr val="accent1">
              <a:alpha val="27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盈利模式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10539095" y="5111750"/>
            <a:ext cx="2621280" cy="2606675"/>
          </a:xfrm>
          <a:prstGeom prst="ellipse">
            <a:avLst/>
          </a:prstGeom>
          <a:ln>
            <a:solidFill>
              <a:schemeClr val="accent1">
                <a:alpha val="36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9076055" y="-2776855"/>
            <a:ext cx="6076315" cy="5433060"/>
          </a:xfrm>
          <a:prstGeom prst="ellipse">
            <a:avLst/>
          </a:prstGeom>
          <a:ln>
            <a:solidFill>
              <a:schemeClr val="accent1">
                <a:alpha val="36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-1554480" y="6375400"/>
            <a:ext cx="1554480" cy="1585595"/>
          </a:xfrm>
          <a:prstGeom prst="ellipse">
            <a:avLst/>
          </a:prstGeom>
          <a:solidFill>
            <a:schemeClr val="accent1">
              <a:alpha val="27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889000" y="1049020"/>
          <a:ext cx="10414635" cy="4210050"/>
        </p:xfrm>
        <a:graphic>
          <a:graphicData uri="http://schemas.openxmlformats.org/drawingml/2006/table">
            <a:tbl>
              <a:tblPr/>
              <a:tblGrid>
                <a:gridCol w="2562225"/>
                <a:gridCol w="4663440"/>
                <a:gridCol w="3188970"/>
              </a:tblGrid>
              <a:tr h="793750"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zh-CN" altLang="en-US" sz="2000" b="1">
                          <a:solidFill>
                            <a:schemeClr val="accent1"/>
                          </a:solidFill>
                          <a:latin typeface="+mj-ea"/>
                          <a:ea typeface="+mj-ea"/>
                          <a:cs typeface="+mj-ea"/>
                        </a:rPr>
                        <a:t>盈利模式</a:t>
                      </a:r>
                      <a:endParaRPr lang="zh-CN" altLang="en-US" sz="2000" b="1">
                        <a:solidFill>
                          <a:schemeClr val="accent1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57150" marT="47625" marB="476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zh-CN" altLang="en-US" sz="2000" b="1">
                          <a:solidFill>
                            <a:schemeClr val="accent1"/>
                          </a:solidFill>
                          <a:latin typeface="+mj-ea"/>
                          <a:ea typeface="+mj-ea"/>
                          <a:cs typeface="+mj-ea"/>
                        </a:rPr>
                        <a:t>具体操作方式</a:t>
                      </a:r>
                      <a:endParaRPr lang="zh-CN" altLang="en-US" sz="2000" b="1">
                        <a:solidFill>
                          <a:schemeClr val="accent1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57150" marT="47625" marB="476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zh-CN" altLang="en-US" sz="2000" b="1">
                          <a:solidFill>
                            <a:schemeClr val="accent1"/>
                          </a:solidFill>
                          <a:latin typeface="+mj-ea"/>
                          <a:ea typeface="+mj-ea"/>
                          <a:cs typeface="+mj-ea"/>
                        </a:rPr>
                        <a:t>适用阶段/考量</a:t>
                      </a:r>
                      <a:endParaRPr lang="zh-CN" altLang="en-US" sz="2000" b="1">
                        <a:solidFill>
                          <a:schemeClr val="accent1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57150" marT="47625" marB="476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8150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400" b="0">
                          <a:solidFill>
                            <a:schemeClr val="accent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数据服务</a:t>
                      </a:r>
                      <a:r>
                        <a:rPr lang="zh-CN" altLang="en-US" sz="2000" b="0">
                          <a:solidFill>
                            <a:schemeClr val="accent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​</a:t>
                      </a:r>
                      <a:endParaRPr lang="zh-CN" altLang="en-US" sz="2000" b="0">
                        <a:solidFill>
                          <a:schemeClr val="accent1"/>
                        </a:solidFill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</a:endParaRPr>
                    </a:p>
                  </a:txBody>
                  <a:tcPr marL="0" marR="57150" marT="47625" marB="47625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>
                          <a:solidFill>
                            <a:schemeClr val="accent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+mj-ea"/>
                        </a:rPr>
                        <a:t>对平台积累的交易数据进行深度分析，产出校园消费趋势报告，为校内外的商家、学校管理部门提供定制化洞察服务。</a:t>
                      </a:r>
                      <a:endParaRPr lang="zh-CN" altLang="en-US" sz="2400" b="0">
                        <a:solidFill>
                          <a:schemeClr val="accent1"/>
                        </a:solidFill>
                        <a:latin typeface="楷体" panose="02010609060101010101" charset="-122"/>
                        <a:ea typeface="楷体" panose="02010609060101010101" charset="-122"/>
                        <a:cs typeface="+mj-ea"/>
                      </a:endParaRPr>
                    </a:p>
                  </a:txBody>
                  <a:tcPr marL="0" marR="57150" marT="47625" marB="47625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 b="0">
                          <a:solidFill>
                            <a:schemeClr val="accent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+mj-ea"/>
                        </a:rPr>
                        <a:t>平台运营中后期，具备一定数据积累后。是提升平台品牌价值和影响力的高级模式。</a:t>
                      </a:r>
                      <a:endParaRPr lang="zh-CN" altLang="en-US" sz="1800" b="0">
                        <a:solidFill>
                          <a:schemeClr val="accent1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57150" marT="47625" marB="47625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8150">
                <a:tc>
                  <a:txBody>
                    <a:bodyPr/>
                    <a:p>
                      <a:pPr marL="0" algn="ctr" fontAlgn="ctr">
                        <a:buClrTx/>
                        <a:buSzTx/>
                        <a:buFontTx/>
                      </a:pPr>
                      <a:r>
                        <a:rPr lang="en-US" altLang="zh-CN" sz="2000" b="0">
                          <a:solidFill>
                            <a:schemeClr val="accent1"/>
                          </a:solidFill>
                          <a:latin typeface="+mj-ea"/>
                          <a:ea typeface="+mj-ea"/>
                          <a:cs typeface="+mj-ea"/>
                        </a:rPr>
                        <a:t>  </a:t>
                      </a:r>
                      <a:r>
                        <a:rPr lang="zh-CN" altLang="en-US" sz="2400" b="0">
                          <a:solidFill>
                            <a:schemeClr val="accent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</a:rPr>
                        <a:t>广告与合作推广</a:t>
                      </a:r>
                      <a:r>
                        <a:rPr lang="zh-CN" altLang="en-US" sz="2000" b="0">
                          <a:solidFill>
                            <a:schemeClr val="accent1"/>
                          </a:solidFill>
                          <a:latin typeface="+mj-ea"/>
                          <a:ea typeface="+mj-ea"/>
                          <a:cs typeface="+mj-ea"/>
                        </a:rPr>
                        <a:t>​</a:t>
                      </a:r>
                      <a:endParaRPr lang="zh-CN" altLang="en-US" sz="2000" b="0">
                        <a:solidFill>
                          <a:schemeClr val="accent1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57150" marT="47625" marB="47625" anchor="ctr" anchorCtr="0">
                    <a:lnL>
                      <a:noFill/>
                    </a:lnL>
                    <a:lnR>
                      <a:noFill/>
                    </a:lnR>
                    <a:lnT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ctr">
                        <a:buClrTx/>
                        <a:buSzTx/>
                        <a:buFontTx/>
                      </a:pPr>
                      <a:r>
                        <a:rPr lang="zh-CN" altLang="en-US" sz="2000" b="0">
                          <a:solidFill>
                            <a:schemeClr val="accent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+mj-ea"/>
                        </a:rPr>
                        <a:t>在平台内设置广告位，向校内外的商家（如餐饮、教育培训、电信服务等）收取广告费。</a:t>
                      </a:r>
                      <a:endParaRPr lang="zh-CN" altLang="en-US" sz="2000" b="0">
                        <a:solidFill>
                          <a:schemeClr val="accent1"/>
                        </a:solidFill>
                        <a:latin typeface="楷体" panose="02010609060101010101" charset="-122"/>
                        <a:ea typeface="楷体" panose="02010609060101010101" charset="-122"/>
                        <a:cs typeface="+mj-ea"/>
                      </a:endParaRPr>
                    </a:p>
                  </a:txBody>
                  <a:tcPr marL="0" marR="57150" marT="47625" marB="47625" anchor="ctr" anchorCtr="0">
                    <a:lnL>
                      <a:noFill/>
                    </a:lnL>
                    <a:lnR>
                      <a:noFill/>
                    </a:lnR>
                    <a:lnT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ctr">
                        <a:buClrTx/>
                        <a:buSzTx/>
                        <a:buFontTx/>
                      </a:pPr>
                      <a:r>
                        <a:rPr lang="zh-CN" altLang="en-US" sz="2000" b="0">
                          <a:solidFill>
                            <a:schemeClr val="accent1"/>
                          </a:solidFill>
                          <a:latin typeface="楷体" panose="02010609060101010101" charset="-122"/>
                          <a:ea typeface="楷体" panose="02010609060101010101" charset="-122"/>
                          <a:cs typeface="+mj-ea"/>
                        </a:rPr>
                        <a:t>平台拥有稳定流量后。广告内容需与学生兴趣相关，避免影响用户体验。</a:t>
                      </a:r>
                      <a:endParaRPr lang="zh-CN" altLang="en-US" sz="1800" b="0">
                        <a:solidFill>
                          <a:schemeClr val="accent1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57150" marT="47625" marB="47625" anchor="ctr" anchorCtr="0">
                    <a:lnL>
                      <a:noFill/>
                    </a:lnL>
                    <a:lnR>
                      <a:noFill/>
                    </a:lnR>
                    <a:lnT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F0F0F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椭圆 7"/>
          <p:cNvSpPr/>
          <p:nvPr/>
        </p:nvSpPr>
        <p:spPr>
          <a:xfrm>
            <a:off x="1852295" y="5194300"/>
            <a:ext cx="2621280" cy="2606675"/>
          </a:xfrm>
          <a:prstGeom prst="ellipse">
            <a:avLst/>
          </a:prstGeom>
          <a:ln>
            <a:solidFill>
              <a:schemeClr val="accent1">
                <a:alpha val="36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2192000" y="7961630"/>
            <a:ext cx="2621280" cy="2606675"/>
          </a:xfrm>
          <a:prstGeom prst="ellipse">
            <a:avLst/>
          </a:prstGeom>
          <a:ln>
            <a:solidFill>
              <a:schemeClr val="accent1">
                <a:alpha val="36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-1118235" y="3369310"/>
            <a:ext cx="4102100" cy="4191635"/>
          </a:xfrm>
          <a:prstGeom prst="ellipse">
            <a:avLst/>
          </a:prstGeom>
          <a:solidFill>
            <a:schemeClr val="accent1">
              <a:alpha val="27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风险应对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07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-676275" y="-1303655"/>
            <a:ext cx="3477895" cy="3551555"/>
          </a:xfrm>
          <a:prstGeom prst="ellipse">
            <a:avLst/>
          </a:prstGeom>
          <a:ln>
            <a:solidFill>
              <a:schemeClr val="accent1">
                <a:alpha val="36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3900805" y="4526280"/>
            <a:ext cx="4391025" cy="4262755"/>
          </a:xfrm>
          <a:prstGeom prst="ellipse">
            <a:avLst/>
          </a:prstGeom>
          <a:solidFill>
            <a:schemeClr val="accent1">
              <a:alpha val="2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10142855" y="-643255"/>
            <a:ext cx="2607310" cy="2793365"/>
          </a:xfrm>
          <a:prstGeom prst="ellipse">
            <a:avLst/>
          </a:prstGeom>
          <a:solidFill>
            <a:schemeClr val="accent1">
              <a:alpha val="1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355600" y="508635"/>
            <a:ext cx="13310235" cy="2148205"/>
          </a:xfrm>
        </p:spPr>
        <p:txBody>
          <a:bodyPr>
            <a:normAutofit lnSpcReduction="20000"/>
          </a:bodyPr>
          <a:p>
            <a:pPr marL="0" indent="0">
              <a:lnSpc>
                <a:spcPct val="130000"/>
              </a:lnSpc>
              <a:buNone/>
            </a:pPr>
            <a:r>
              <a:rPr lang="zh-CN" altLang="en-US" sz="3200" b="1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信任与安全风险： </a:t>
            </a:r>
            <a:r>
              <a:rPr lang="zh-CN" altLang="en-US" sz="2800" b="1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可能出现小额诈骗或商品纠纷。</a:t>
            </a:r>
            <a:endParaRPr lang="zh-CN" altLang="en-US" sz="2800" b="1">
              <a:solidFill>
                <a:schemeClr val="accent1"/>
              </a:solidFill>
              <a:latin typeface="+mj-ea"/>
              <a:ea typeface="+mj-ea"/>
              <a:cs typeface="+mj-ea"/>
            </a:endParaRPr>
          </a:p>
          <a:p>
            <a:pPr marL="0" lvl="0" algn="l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en-US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应对信任与安全风险： 强化校园认证；设立官方举报通道；</a:t>
            </a:r>
            <a:endParaRPr lang="zh-CN" altLang="en-US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lvl="0" algn="l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en-US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提供交易指南，帮助用户优先选择当面交易、仔细验货。</a:t>
            </a:r>
            <a:endParaRPr lang="zh-CN" altLang="en-US" sz="28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algn="l"/>
            <a:endParaRPr lang="zh-CN" altLang="en-US">
              <a:solidFill>
                <a:schemeClr val="accent1"/>
              </a:solidFill>
              <a:latin typeface="华文行楷" panose="02010800040101010101" charset="-122"/>
              <a:ea typeface="华文行楷" panose="02010800040101010101" charset="-122"/>
              <a:cs typeface="华文行楷" panose="02010800040101010101" charset="-122"/>
            </a:endParaRPr>
          </a:p>
          <a:p>
            <a:endParaRPr lang="zh-CN" altLang="en-US">
              <a:solidFill>
                <a:schemeClr val="accent1"/>
              </a:solidFill>
              <a:latin typeface="华文行楷" panose="02010800040101010101" charset="-122"/>
              <a:ea typeface="华文行楷" panose="02010800040101010101" charset="-122"/>
              <a:cs typeface="华文行楷" panose="02010800040101010101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-987425" y="4596130"/>
            <a:ext cx="4866640" cy="4705350"/>
          </a:xfrm>
          <a:prstGeom prst="ellipse">
            <a:avLst/>
          </a:prstGeom>
          <a:noFill/>
          <a:ln w="12700" cmpd="sng">
            <a:solidFill>
              <a:schemeClr val="accent1"/>
            </a:solidFill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2484755" y="5344160"/>
            <a:ext cx="2930525" cy="3100705"/>
          </a:xfrm>
          <a:prstGeom prst="ellipse">
            <a:avLst/>
          </a:prstGeom>
          <a:solidFill>
            <a:schemeClr val="accent1">
              <a:alpha val="27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9060815" y="-1807210"/>
            <a:ext cx="4220210" cy="4122420"/>
          </a:xfrm>
          <a:prstGeom prst="ellipse">
            <a:avLst/>
          </a:prstGeom>
          <a:solidFill>
            <a:schemeClr val="accent1">
              <a:alpha val="13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11455" y="1949450"/>
            <a:ext cx="11557000" cy="2306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3200">
              <a:solidFill>
                <a:schemeClr val="accent1"/>
              </a:solidFill>
              <a:latin typeface="+mj-ea"/>
              <a:ea typeface="+mj-ea"/>
              <a:cs typeface="+mj-ea"/>
              <a:sym typeface="+mn-ea"/>
            </a:endParaRPr>
          </a:p>
          <a:p>
            <a:pPr indent="0">
              <a:lnSpc>
                <a:spcPct val="140000"/>
              </a:lnSpc>
              <a:buNone/>
            </a:pPr>
            <a:r>
              <a:rPr lang="zh-CN" altLang="en-US" sz="3200" b="1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冷启动风险： </a:t>
            </a:r>
            <a:r>
              <a:rPr lang="zh-CN" altLang="en-US" sz="2800" b="1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初期用户和商品数量不足，难以形成网络效应</a:t>
            </a:r>
            <a:r>
              <a:rPr lang="zh-CN" altLang="en-US" sz="3200" b="1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。</a:t>
            </a:r>
            <a:endParaRPr lang="zh-CN" altLang="en-US" sz="2800">
              <a:solidFill>
                <a:schemeClr val="accent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zh-CN" altLang="en-US" sz="24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应对冷启动风险： 地推团队在毕业季、开学季于宿舍区、食堂进行推广；邀请校园</a:t>
            </a:r>
            <a:r>
              <a:rPr lang="zh-CN" altLang="en-US" sz="24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KOL进行宣传；举办“发布有奖”等活</a:t>
            </a:r>
            <a:r>
              <a:rPr lang="zh-CN" altLang="en-US" sz="24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动。</a:t>
            </a:r>
            <a:endParaRPr lang="zh-CN" altLang="en-US" sz="2400" b="1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87655" y="446150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None/>
            </a:pPr>
            <a:r>
              <a:rPr lang="zh-CN" altLang="en-US" sz="3200" b="1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运营与法律风险：</a:t>
            </a:r>
            <a:r>
              <a:rPr lang="zh-CN" altLang="en-US" sz="2800" b="1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 可能出现违禁品销售。</a:t>
            </a:r>
            <a:endParaRPr lang="zh-CN" altLang="en-US" sz="28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应对运营与法律风险： 制定明确的社区规范；设置关键词和图片审核机制；安排人工巡查。</a:t>
            </a:r>
            <a:endParaRPr lang="zh-CN" altLang="en-US">
              <a:solidFill>
                <a:schemeClr val="accent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/>
            <a:endParaRPr lang="zh-CN" altLang="en-US" sz="2800">
              <a:solidFill>
                <a:schemeClr val="accent1"/>
              </a:solidFill>
              <a:latin typeface="+mj-ea"/>
              <a:ea typeface="+mj-ea"/>
              <a:cs typeface="+mj-ea"/>
            </a:endParaRPr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/>
          <p:nvPr/>
        </p:nvSpPr>
        <p:spPr>
          <a:xfrm>
            <a:off x="-1066165" y="3317240"/>
            <a:ext cx="5200015" cy="4823460"/>
          </a:xfrm>
          <a:prstGeom prst="ellipse">
            <a:avLst/>
          </a:prstGeom>
          <a:solidFill>
            <a:schemeClr val="accent1">
              <a:alpha val="16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76860" y="914400"/>
            <a:ext cx="11993880" cy="541591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3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j-ea"/>
                <a:sym typeface="+mn-ea"/>
              </a:rPr>
              <a:t>支付与资金池的法律风险：</a:t>
            </a:r>
            <a:endParaRPr lang="zh-CN" altLang="en-US" sz="3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+mj-ea"/>
              <a:sym typeface="+mn-ea"/>
            </a:endParaRPr>
          </a:p>
          <a:p>
            <a:pPr marL="0" indent="0">
              <a:buNone/>
            </a:pPr>
            <a:r>
              <a:rPr lang="zh-CN" altLang="en-US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j-ea"/>
                <a:sym typeface="+mn-ea"/>
              </a:rPr>
              <a:t>若平台介入交易流程，提供担保支付，会形成资金池，涉及支付牌照</a:t>
            </a:r>
            <a:endParaRPr lang="zh-CN" altLang="en-US" sz="28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+mj-ea"/>
              <a:sym typeface="+mn-ea"/>
            </a:endParaRPr>
          </a:p>
          <a:p>
            <a:pPr marL="0" indent="0">
              <a:buNone/>
            </a:pPr>
            <a:r>
              <a:rPr lang="zh-CN" altLang="en-US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j-ea"/>
                <a:sym typeface="+mn-ea"/>
              </a:rPr>
              <a:t>等复杂合规问题，存在政策风险</a:t>
            </a:r>
            <a:r>
              <a:rPr lang="zh-CN" altLang="en-US" sz="2800" b="1">
                <a:solidFill>
                  <a:schemeClr val="accent1"/>
                </a:solidFill>
                <a:latin typeface="+mj-ea"/>
                <a:ea typeface="+mj-ea"/>
                <a:cs typeface="+mj-ea"/>
                <a:sym typeface="+mn-ea"/>
              </a:rPr>
              <a:t>。</a:t>
            </a:r>
            <a:endParaRPr lang="zh-CN" altLang="en-US" sz="3200" b="1">
              <a:solidFill>
                <a:schemeClr val="accent1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0" indent="0">
              <a:buNone/>
            </a:pPr>
            <a:endParaRPr lang="zh-CN" altLang="en-US" sz="3110">
              <a:solidFill>
                <a:schemeClr val="accent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应对支付与资金池的法律风险：初期规避策略：项目初期明确不设立资</a:t>
            </a:r>
            <a:endParaRPr lang="zh-CN" altLang="en-US">
              <a:solidFill>
                <a:schemeClr val="accent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金池，不提供平台担保交易。通过UI设计引导用户使用微信转账等成支</a:t>
            </a:r>
            <a:endParaRPr lang="zh-CN" altLang="en-US">
              <a:solidFill>
                <a:schemeClr val="accent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付工具进行当面交易，平台仅作为信息中介。</a:t>
            </a:r>
            <a:endParaRPr lang="zh-CN" altLang="en-US" sz="3100" b="1">
              <a:solidFill>
                <a:schemeClr val="accent1"/>
              </a:solidFill>
              <a:latin typeface="华文行楷" panose="02010800040101010101" charset="-122"/>
              <a:ea typeface="华文行楷" panose="02010800040101010101" charset="-122"/>
              <a:cs typeface="华文行楷" panose="02010800040101010101" charset="-122"/>
            </a:endParaRPr>
          </a:p>
          <a:p>
            <a:endParaRPr lang="zh-CN" altLang="en-US" sz="3100" b="1">
              <a:solidFill>
                <a:schemeClr val="accent1"/>
              </a:solidFill>
              <a:latin typeface="华文行楷" panose="02010800040101010101" charset="-122"/>
              <a:ea typeface="华文行楷" panose="02010800040101010101" charset="-122"/>
              <a:cs typeface="华文行楷" panose="02010800040101010101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9886315" y="-1085215"/>
            <a:ext cx="3340735" cy="3365500"/>
          </a:xfrm>
          <a:prstGeom prst="ellipse">
            <a:avLst/>
          </a:prstGeom>
          <a:noFill/>
          <a:ln w="12700" cmpd="sng">
            <a:solidFill>
              <a:schemeClr val="accent1">
                <a:alpha val="33000"/>
              </a:schemeClr>
            </a:solidFill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进度安排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square">
            <a:normAutofit/>
          </a:bodyPr>
          <a:lstStyle/>
          <a:p>
            <a:r>
              <a:rPr lang="en-US" altLang="zh-CN" dirty="0"/>
              <a:t>08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-1237615" y="1428750"/>
            <a:ext cx="6929755" cy="6462395"/>
          </a:xfrm>
          <a:prstGeom prst="ellipse">
            <a:avLst/>
          </a:prstGeom>
          <a:ln>
            <a:solidFill>
              <a:schemeClr val="accent1">
                <a:alpha val="36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9769475" y="-1036320"/>
            <a:ext cx="3134995" cy="3019425"/>
          </a:xfrm>
          <a:prstGeom prst="ellipse">
            <a:avLst/>
          </a:prstGeom>
          <a:solidFill>
            <a:schemeClr val="accent1">
              <a:alpha val="27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周</a:t>
            </a:r>
            <a:r>
              <a:rPr lang="en-US" altLang="zh-CN"/>
              <a:t>: </a:t>
            </a:r>
            <a:r>
              <a:rPr lang="zh-CN" altLang="en-US"/>
              <a:t>规划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461769"/>
            <a:ext cx="10800000" cy="487362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 sz="20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这一周的目标是在动手写代码之前，把所有事情都规划清楚，避免后期返工。 </a:t>
            </a:r>
            <a:endParaRPr lang="zh-CN" altLang="en-US" sz="20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lang="zh-CN" altLang="en-US" sz="20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1.确定功能清单：</a:t>
            </a:r>
            <a:r>
              <a:rPr lang="zh-CN" altLang="en-US" sz="20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大家一起明确最终上线的版本到底包含哪些核心功能。例如：微信快速登录、发布商品、浏览/搜索商品、买卖双方聊天。同样重要的是，明确这个阶段“不做”哪些功能（比如在线支付），集中精力做好核心功能。 </a:t>
            </a:r>
            <a:endParaRPr lang="zh-CN" altLang="en-US" sz="20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lang="zh-CN" altLang="en-US" sz="20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2.设计技术方案：</a:t>
            </a:r>
            <a:r>
              <a:rPr lang="zh-CN" altLang="en-US" sz="20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规划软件如何工作。比如，数据存在哪里，前后端如何交换信息，确定主要的技术选择方向。 </a:t>
            </a:r>
            <a:endParaRPr lang="zh-CN" altLang="en-US" sz="20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lang="zh-CN" altLang="en-US" sz="20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3.画出软件界面：</a:t>
            </a:r>
            <a:r>
              <a:rPr lang="zh-CN" altLang="en-US" sz="20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使用设计工具，画出所有页面的样子，并标明页面之间如何跳转。这是后续开发的视觉蓝图，确保大家理解一致。 </a:t>
            </a:r>
            <a:endParaRPr lang="zh-CN" altLang="en-US" sz="20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本周结束时应有的成果：</a:t>
            </a:r>
            <a:r>
              <a:rPr lang="zh-CN" altLang="en-US" sz="20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一份最终的功能列表、一份技术方案草图、一套完整的界面设计图、一份初步的数据接口说明文档。</a:t>
            </a:r>
            <a:endParaRPr lang="zh-CN" altLang="en-US" sz="2000" b="1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4767580" y="1070610"/>
            <a:ext cx="4862195" cy="4970780"/>
          </a:xfrm>
          <a:prstGeom prst="ellipse">
            <a:avLst/>
          </a:prstGeom>
          <a:solidFill>
            <a:schemeClr val="accent1">
              <a:alpha val="4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257300" y="1336040"/>
            <a:ext cx="4866640" cy="4705350"/>
          </a:xfrm>
          <a:prstGeom prst="ellipse">
            <a:avLst/>
          </a:prstGeom>
          <a:noFill/>
          <a:ln w="12700" cmpd="sng">
            <a:solidFill>
              <a:schemeClr val="accent1">
                <a:alpha val="16000"/>
              </a:schemeClr>
            </a:solidFill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8620760" y="1070610"/>
            <a:ext cx="4862195" cy="4970780"/>
          </a:xfrm>
          <a:prstGeom prst="ellipse">
            <a:avLst/>
          </a:prstGeom>
          <a:solidFill>
            <a:schemeClr val="accent1">
              <a:alpha val="1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第</a:t>
            </a:r>
            <a:r>
              <a:rPr lang="en-US" altLang="zh-CN"/>
              <a:t>2-4</a:t>
            </a:r>
            <a:r>
              <a:rPr lang="zh-CN" altLang="en-US"/>
              <a:t>周</a:t>
            </a:r>
            <a:r>
              <a:rPr lang="en-US" altLang="zh-CN"/>
              <a:t>: </a:t>
            </a:r>
            <a:r>
              <a:rPr lang="zh-CN" altLang="en-US"/>
              <a:t>核心开发与集成测试周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193800"/>
            <a:ext cx="10800080" cy="5664200"/>
          </a:xfrm>
        </p:spPr>
        <p:txBody>
          <a:bodyPr>
            <a:normAutofit fontScale="25000"/>
          </a:bodyPr>
          <a:p>
            <a:pPr marL="0" algn="l">
              <a:lnSpc>
                <a:spcPct val="110000"/>
              </a:lnSpc>
              <a:buClrTx/>
              <a:buSzTx/>
              <a:buNone/>
            </a:pPr>
            <a:r>
              <a:rPr lang="zh-CN" altLang="en-US" sz="80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第2周：搭建基础</a:t>
            </a:r>
            <a:r>
              <a:rPr lang="zh-CN" altLang="en-US" sz="72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endParaRPr lang="zh-CN" altLang="en-US" sz="72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algn="l">
              <a:lnSpc>
                <a:spcPct val="110000"/>
              </a:lnSpc>
              <a:buClrTx/>
              <a:buSzTx/>
              <a:buNone/>
            </a:pPr>
            <a:r>
              <a:rPr lang="zh-CN" altLang="en-US" sz="72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目标：让软件的“骨架”先跑起来。 </a:t>
            </a:r>
            <a:endParaRPr lang="zh-CN" altLang="en-US" sz="72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algn="l">
              <a:lnSpc>
                <a:spcPct val="110000"/>
              </a:lnSpc>
              <a:buClrTx/>
              <a:buSzTx/>
              <a:buNone/>
            </a:pPr>
            <a:r>
              <a:rPr lang="zh-CN" altLang="en-US" sz="72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任务：搭建程序的基础框架。后端（服务器端）完成用户、商品等最核心的数据接口；前端（小程序界面）完成主页、商品详情页等主要页面的展示。本周结束时，应该能在小程序上看到来自服务器的简单商品信息。</a:t>
            </a:r>
            <a:r>
              <a:rPr lang="zh-CN" altLang="en-US" sz="80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endParaRPr lang="zh-CN" altLang="en-US" sz="80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algn="l">
              <a:lnSpc>
                <a:spcPct val="110000"/>
              </a:lnSpc>
              <a:buClrTx/>
              <a:buSzTx/>
              <a:buNone/>
            </a:pPr>
            <a:r>
              <a:rPr lang="zh-CN" altLang="en-US" sz="80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第3周：实现核心流程 </a:t>
            </a:r>
            <a:endParaRPr lang="zh-CN" altLang="en-US" sz="96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algn="l">
              <a:lnSpc>
                <a:spcPct val="110000"/>
              </a:lnSpc>
              <a:buClrTx/>
              <a:buSzTx/>
              <a:buNone/>
            </a:pPr>
            <a:r>
              <a:rPr lang="zh-CN" altLang="en-US" sz="72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目标：让最主要的业务流能够走通。 </a:t>
            </a:r>
            <a:endParaRPr lang="zh-CN" altLang="en-US" sz="72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algn="l">
              <a:lnSpc>
                <a:spcPct val="110000"/>
              </a:lnSpc>
              <a:buClrTx/>
              <a:buSzTx/>
              <a:buNone/>
            </a:pPr>
            <a:r>
              <a:rPr lang="zh-CN" altLang="en-US" sz="72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任务：实现最关键也较复杂的功能，如站内即时聊天和搜索功能。从本周中期开始，将前端页面和后端服务连接起来进行测试（联调），确保数据能正确传递。本周结束时，核心流程“发布商品 -&gt; 浏览商品 -&gt; 联系卖家”应该可以顺利运行。</a:t>
            </a:r>
            <a:r>
              <a:rPr lang="zh-CN" altLang="en-US" sz="6665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endParaRPr lang="zh-CN" altLang="en-US" sz="6665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algn="l">
              <a:lnSpc>
                <a:spcPct val="110000"/>
              </a:lnSpc>
              <a:buClrTx/>
              <a:buSzTx/>
              <a:buNone/>
            </a:pPr>
            <a:r>
              <a:rPr lang="zh-CN" altLang="en-US" sz="80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第4周：打磨与优化</a:t>
            </a:r>
            <a:r>
              <a:rPr lang="zh-CN" altLang="en-US" sz="6665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endParaRPr lang="zh-CN" altLang="en-US" sz="6665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algn="l">
              <a:lnSpc>
                <a:spcPct val="110000"/>
              </a:lnSpc>
              <a:buClrTx/>
              <a:buSzTx/>
              <a:buNone/>
            </a:pPr>
            <a:r>
              <a:rPr lang="zh-CN" altLang="en-US" sz="72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目标：全面测试，修复问题，提升使用体验。 </a:t>
            </a:r>
            <a:endParaRPr lang="zh-CN" altLang="en-US" sz="72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algn="l">
              <a:lnSpc>
                <a:spcPct val="110000"/>
              </a:lnSpc>
              <a:buClrTx/>
              <a:buSzTx/>
              <a:buNone/>
            </a:pPr>
            <a:r>
              <a:rPr lang="zh-CN" altLang="en-US" sz="72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任务：进行全面的功能测试（所有按钮点击有效吗？）、性能测试（操作流畅吗？）等。集中修复发现的问题，优化界面和交互。</a:t>
            </a:r>
            <a:endParaRPr lang="zh-CN" altLang="en-US" sz="72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algn="l">
              <a:lnSpc>
                <a:spcPct val="110000"/>
              </a:lnSpc>
              <a:buClrTx/>
              <a:buSzTx/>
              <a:buNone/>
            </a:pPr>
            <a:r>
              <a:rPr lang="zh-CN" altLang="en-US" sz="72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本周结束时，应得到一个功能稳定、体验流畅、可以作为最终版本的测试版软件。</a:t>
            </a:r>
            <a:endParaRPr lang="zh-CN" altLang="en-US" sz="7200" b="1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2317730" y="1649730"/>
            <a:ext cx="3192145" cy="3178810"/>
          </a:xfrm>
          <a:prstGeom prst="ellipse">
            <a:avLst/>
          </a:prstGeom>
          <a:solidFill>
            <a:schemeClr val="accent1">
              <a:alpha val="27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2444730" y="1776730"/>
            <a:ext cx="3192145" cy="3178810"/>
          </a:xfrm>
          <a:prstGeom prst="ellipse">
            <a:avLst/>
          </a:prstGeom>
          <a:solidFill>
            <a:schemeClr val="accent1">
              <a:alpha val="27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2623800" y="1649730"/>
            <a:ext cx="3192145" cy="3178810"/>
          </a:xfrm>
          <a:prstGeom prst="ellipse">
            <a:avLst/>
          </a:prstGeom>
          <a:solidFill>
            <a:schemeClr val="accent1">
              <a:alpha val="27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767580" y="1070610"/>
            <a:ext cx="4862195" cy="4970780"/>
          </a:xfrm>
          <a:prstGeom prst="ellipse">
            <a:avLst/>
          </a:prstGeom>
          <a:solidFill>
            <a:schemeClr val="accent1">
              <a:alpha val="4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8620760" y="1070610"/>
            <a:ext cx="4862195" cy="4970780"/>
          </a:xfrm>
          <a:prstGeom prst="ellipse">
            <a:avLst/>
          </a:prstGeom>
          <a:solidFill>
            <a:schemeClr val="accent1">
              <a:alpha val="1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4833620" y="1080135"/>
            <a:ext cx="4800600" cy="4960620"/>
          </a:xfrm>
          <a:prstGeom prst="ellipse">
            <a:avLst/>
          </a:prstGeom>
          <a:noFill/>
          <a:ln w="12700" cmpd="sng">
            <a:solidFill>
              <a:schemeClr val="accent1">
                <a:alpha val="16000"/>
              </a:schemeClr>
            </a:solidFill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周</a:t>
            </a:r>
            <a:r>
              <a:rPr lang="en-US" altLang="zh-CN"/>
              <a:t>: </a:t>
            </a:r>
            <a:r>
              <a:rPr lang="zh-CN" altLang="en-US"/>
              <a:t>最终测试与交付周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537969"/>
            <a:ext cx="10800000" cy="4873625"/>
          </a:xfrm>
        </p:spPr>
        <p:txBody>
          <a:bodyPr>
            <a:normAutofit lnSpcReduction="20000"/>
          </a:bodyPr>
          <a:p>
            <a:pPr marL="0" algn="l">
              <a:buClrTx/>
              <a:buSzTx/>
              <a:buNone/>
            </a:pPr>
            <a:r>
              <a:rPr lang="zh-CN" altLang="en-US" sz="20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这一周的目标是将成品部署上线，并完成课程答辩所需的准备工作。 </a:t>
            </a:r>
            <a:endParaRPr lang="zh-CN" altLang="en-US" sz="20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algn="l">
              <a:buClrTx/>
              <a:buSzTx/>
              <a:buNone/>
            </a:pPr>
            <a:r>
              <a:rPr lang="zh-CN" altLang="en-US" sz="20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本周要完成的三件事： </a:t>
            </a:r>
            <a:endParaRPr lang="zh-CN" altLang="en-US" sz="20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algn="l">
              <a:buClrTx/>
              <a:buSzTx/>
              <a:buNone/>
            </a:pPr>
            <a:r>
              <a:rPr lang="zh-CN" altLang="en-US" sz="20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1.部署上线：将服务器代码部署到云主机，并将小程序代码提交到微信平台等待审核。 </a:t>
            </a:r>
            <a:endParaRPr lang="zh-CN" altLang="en-US" sz="20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algn="l">
              <a:buClrTx/>
              <a:buSzTx/>
              <a:buNone/>
            </a:pPr>
            <a:r>
              <a:rPr lang="zh-CN" altLang="en-US" sz="20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2.收集用户反馈：邀请几位同学（种子用户）试用，收集他们的使用感受和建议（此阶段仅记录反馈，不修改功能）。 </a:t>
            </a:r>
            <a:endParaRPr lang="zh-CN" altLang="en-US" sz="20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algn="l">
              <a:buClrTx/>
              <a:buSzTx/>
              <a:buNone/>
            </a:pPr>
            <a:r>
              <a:rPr lang="zh-CN" altLang="en-US" sz="20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3.整理答辩材料：汇总所有文档，如安装说明、用户手册等，并准备最终的演示文稿或演示脚本。 </a:t>
            </a:r>
            <a:endParaRPr lang="zh-CN" altLang="en-US" sz="20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algn="l">
              <a:buClrTx/>
              <a:buSzTx/>
              <a:buNone/>
            </a:pPr>
            <a:r>
              <a:rPr lang="zh-CN" altLang="en-US" sz="20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本周结束时应有的成果：</a:t>
            </a:r>
            <a:r>
              <a:rPr lang="zh-CN" altLang="en-US" sz="20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一个可以线上访问的小程序、一份完整的项目文档资料包、一份准备好的课程答辩演示稿。</a:t>
            </a:r>
            <a:r>
              <a:rPr lang="en-US" altLang="zh-CN" b="1"/>
              <a:t> </a:t>
            </a:r>
            <a:endParaRPr lang="en-US" altLang="zh-CN" b="1"/>
          </a:p>
        </p:txBody>
      </p:sp>
      <p:sp>
        <p:nvSpPr>
          <p:cNvPr id="9" name="椭圆 8"/>
          <p:cNvSpPr/>
          <p:nvPr/>
        </p:nvSpPr>
        <p:spPr>
          <a:xfrm>
            <a:off x="8620760" y="1070610"/>
            <a:ext cx="4913630" cy="4836795"/>
          </a:xfrm>
          <a:prstGeom prst="ellipse">
            <a:avLst/>
          </a:prstGeom>
          <a:solidFill>
            <a:schemeClr val="accent1">
              <a:alpha val="1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8568055" y="1080135"/>
            <a:ext cx="4966335" cy="4827905"/>
          </a:xfrm>
          <a:prstGeom prst="ellipse">
            <a:avLst/>
          </a:prstGeom>
          <a:solidFill>
            <a:schemeClr val="accent1">
              <a:alpha val="4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5" name="椭圆 4"/>
          <p:cNvSpPr/>
          <p:nvPr/>
        </p:nvSpPr>
        <p:spPr>
          <a:xfrm>
            <a:off x="8616315" y="1070610"/>
            <a:ext cx="4918075" cy="4838065"/>
          </a:xfrm>
          <a:prstGeom prst="ellipse">
            <a:avLst/>
          </a:prstGeom>
          <a:noFill/>
          <a:ln w="12700" cmpd="sng">
            <a:solidFill>
              <a:schemeClr val="accent1">
                <a:alpha val="16000"/>
              </a:schemeClr>
            </a:solidFill>
            <a:prstDash val="soli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425575" y="3520440"/>
            <a:ext cx="3842385" cy="1266825"/>
          </a:xfrm>
        </p:spPr>
        <p:txBody>
          <a:bodyPr wrap="square"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5400" dirty="0">
                <a:effectLst/>
              </a:rPr>
              <a:t>感谢观看！</a:t>
            </a:r>
            <a:endParaRPr lang="zh-CN" altLang="en-US" sz="5400" dirty="0">
              <a:effectLst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531365" y="5073774"/>
            <a:ext cx="10043122" cy="579632"/>
          </a:xfrm>
        </p:spPr>
        <p:txBody>
          <a:bodyPr>
            <a:noAutofit/>
          </a:bodyPr>
          <a:lstStyle/>
          <a:p>
            <a:r>
              <a:rPr lang="en-US" altLang="zh-CN" sz="3200" dirty="0">
                <a:latin typeface="华文行楷" panose="02010800040101010101" charset="-122"/>
                <a:ea typeface="华文行楷" panose="02010800040101010101" charset="-122"/>
              </a:rPr>
              <a:t>115</a:t>
            </a:r>
            <a:r>
              <a:rPr lang="zh-CN" altLang="en-US" sz="3200" dirty="0">
                <a:latin typeface="华文行楷" panose="02010800040101010101" charset="-122"/>
                <a:ea typeface="华文行楷" panose="02010800040101010101" charset="-122"/>
              </a:rPr>
              <a:t>没有小漂亮组</a:t>
            </a:r>
            <a:endParaRPr lang="zh-CN" altLang="en-US" sz="3200" dirty="0"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2370435" y="818515"/>
            <a:ext cx="4678045" cy="4970780"/>
          </a:xfrm>
          <a:prstGeom prst="ellipse">
            <a:avLst/>
          </a:prstGeom>
          <a:solidFill>
            <a:schemeClr val="accent1">
              <a:alpha val="4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5" name="椭圆 4"/>
          <p:cNvSpPr/>
          <p:nvPr/>
        </p:nvSpPr>
        <p:spPr>
          <a:xfrm>
            <a:off x="9944100" y="4494530"/>
            <a:ext cx="2729230" cy="2691765"/>
          </a:xfrm>
          <a:prstGeom prst="ellipse">
            <a:avLst/>
          </a:prstGeom>
          <a:solidFill>
            <a:schemeClr val="accent1">
              <a:alpha val="64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748395" y="5577205"/>
            <a:ext cx="798830" cy="777875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alpha val="46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184255" y="3321685"/>
            <a:ext cx="914400" cy="914400"/>
          </a:xfrm>
          <a:prstGeom prst="ellipse">
            <a:avLst/>
          </a:prstGeom>
          <a:solidFill>
            <a:schemeClr val="accent1">
              <a:alpha val="46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299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40"/>
  <p:tag name="KSO_WM_TEMPLATE_CATEGORY" val="custom"/>
  <p:tag name="KSO_WM_TEMPLATE_INDEX" val="20233299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299"/>
  <p:tag name="KSO_WM_TEMPLATE_THUMBS_INDEX" val="1、9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299_1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PRESET_TEXT" val="单击添加文档标题"/>
  <p:tag name="KSO_WM_UNIT_TEXT_TYPE" val="1"/>
</p:tagLst>
</file>

<file path=ppt/tags/tag69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299_1*f*4"/>
  <p:tag name="KSO_WM_TEMPLATE_CATEGORY" val="custom"/>
  <p:tag name="KSO_WM_TEMPLATE_INDEX" val="20233299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SLIDE_ID" val="custom20233299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299"/>
  <p:tag name="KSO_WM_SLIDE_LAYOUT" val="a_f"/>
  <p:tag name="KSO_WM_SLIDE_LAYOUT_CNT" val="1_1"/>
  <p:tag name="KSO_WM_SLIDE_TYPE" val="title"/>
  <p:tag name="KSO_WM_SLIDE_SUBTYPE" val="pureTxt"/>
  <p:tag name="KSO_WM_TEMPLATE_THUMBS_INDEX" val="1、9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4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3299_4*l_h_i*1_1_1"/>
  <p:tag name="KSO_WM_TEMPLATE_CATEGORY" val="custom"/>
  <p:tag name="KSO_WM_TEMPLATE_INDEX" val="2023329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33.41006469726562,&quot;left&quot;:511.4353468430887,&quot;top&quot;:271.47744796632776,&quot;width&quot;:458.364731897068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233299_4*l_h_a*1_1_1"/>
  <p:tag name="KSO_WM_TEMPLATE_CATEGORY" val="custom"/>
  <p:tag name="KSO_WM_TEMPLATE_INDEX" val="2023329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33.41006469726562,&quot;left&quot;:511.4353468430887,&quot;top&quot;:271.47744796632776,&quot;width&quot;:458.364731897068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3299_4*l_h_i*1_2_1"/>
  <p:tag name="KSO_WM_TEMPLATE_CATEGORY" val="custom"/>
  <p:tag name="KSO_WM_TEMPLATE_INDEX" val="2023329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33.41006469726562,&quot;left&quot;:511.4353468430887,&quot;top&quot;:271.47744796632776,&quot;width&quot;:458.364731897068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233299_4*l_h_a*1_2_1"/>
  <p:tag name="KSO_WM_TEMPLATE_CATEGORY" val="custom"/>
  <p:tag name="KSO_WM_TEMPLATE_INDEX" val="2023329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33.41006469726562,&quot;left&quot;:511.4353468430887,&quot;top&quot;:271.47744796632776,&quot;width&quot;:458.364731897068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3299_4*l_h_i*1_3_1"/>
  <p:tag name="KSO_WM_TEMPLATE_CATEGORY" val="custom"/>
  <p:tag name="KSO_WM_TEMPLATE_INDEX" val="2023329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33.41006469726562,&quot;left&quot;:511.4353468430887,&quot;top&quot;:271.47744796632776,&quot;width&quot;:458.364731897068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233299_4*l_h_a*1_3_1"/>
  <p:tag name="KSO_WM_TEMPLATE_CATEGORY" val="custom"/>
  <p:tag name="KSO_WM_TEMPLATE_INDEX" val="2023329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33.41006469726562,&quot;left&quot;:511.4353468430887,&quot;top&quot;:271.47744796632776,&quot;width&quot;:458.364731897068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3299_4*l_h_i*1_4_1"/>
  <p:tag name="KSO_WM_TEMPLATE_CATEGORY" val="custom"/>
  <p:tag name="KSO_WM_TEMPLATE_INDEX" val="2023329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33.41006469726562,&quot;left&quot;:511.4353468430887,&quot;top&quot;:271.47744796632776,&quot;width&quot;:458.364731897068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3299_4*l_h_a*1_4_1"/>
  <p:tag name="KSO_WM_TEMPLATE_CATEGORY" val="custom"/>
  <p:tag name="KSO_WM_TEMPLATE_INDEX" val="2023329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33.41006469726562,&quot;left&quot;:511.4353468430887,&quot;top&quot;:271.47744796632776,&quot;width&quot;:458.364731897068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3299_4*l_h_i*1_1_1"/>
  <p:tag name="KSO_WM_TEMPLATE_CATEGORY" val="custom"/>
  <p:tag name="KSO_WM_TEMPLATE_INDEX" val="2023329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33.41006469726562,&quot;left&quot;:511.4353468430887,&quot;top&quot;:271.47744796632776,&quot;width&quot;:458.364731897068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233299_4*l_h_a*1_1_1"/>
  <p:tag name="KSO_WM_TEMPLATE_CATEGORY" val="custom"/>
  <p:tag name="KSO_WM_TEMPLATE_INDEX" val="2023329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33.41006469726562,&quot;left&quot;:511.4353468430887,&quot;top&quot;:271.47744796632776,&quot;width&quot;:458.364731897068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3299_4*l_h_i*1_2_1"/>
  <p:tag name="KSO_WM_TEMPLATE_CATEGORY" val="custom"/>
  <p:tag name="KSO_WM_TEMPLATE_INDEX" val="2023329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33.41006469726562,&quot;left&quot;:511.4353468430887,&quot;top&quot;:271.47744796632776,&quot;width&quot;:458.364731897068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233299_4*l_h_a*1_2_1"/>
  <p:tag name="KSO_WM_TEMPLATE_CATEGORY" val="custom"/>
  <p:tag name="KSO_WM_TEMPLATE_INDEX" val="2023329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33.41006469726562,&quot;left&quot;:511.4353468430887,&quot;top&quot;:271.47744796632776,&quot;width&quot;:458.364731897068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3299_4*l_h_i*1_3_1"/>
  <p:tag name="KSO_WM_TEMPLATE_CATEGORY" val="custom"/>
  <p:tag name="KSO_WM_TEMPLATE_INDEX" val="2023329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33.41006469726562,&quot;left&quot;:511.4353468430887,&quot;top&quot;:271.47744796632776,&quot;width&quot;:458.364731897068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233299_4*l_h_a*1_3_1"/>
  <p:tag name="KSO_WM_TEMPLATE_CATEGORY" val="custom"/>
  <p:tag name="KSO_WM_TEMPLATE_INDEX" val="2023329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33.41006469726562,&quot;left&quot;:511.4353468430887,&quot;top&quot;:271.47744796632776,&quot;width&quot;:458.364731897068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3299_4*l_h_i*1_4_1"/>
  <p:tag name="KSO_WM_TEMPLATE_CATEGORY" val="custom"/>
  <p:tag name="KSO_WM_TEMPLATE_INDEX" val="2023329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33.41006469726562,&quot;left&quot;:511.4353468430887,&quot;top&quot;:271.47744796632776,&quot;width&quot;:458.364731897068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3299_4*l_h_a*1_4_1"/>
  <p:tag name="KSO_WM_TEMPLATE_CATEGORY" val="custom"/>
  <p:tag name="KSO_WM_TEMPLATE_INDEX" val="2023329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33.41006469726562,&quot;left&quot;:511.4353468430887,&quot;top&quot;:271.47744796632776,&quot;width&quot;:458.364731897068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</p:tagLst>
</file>

<file path=ppt/tags/tag88.xml><?xml version="1.0" encoding="utf-8"?>
<p:tagLst xmlns:p="http://schemas.openxmlformats.org/presentationml/2006/main">
  <p:tag name="KSO_WM_SLIDE_ID" val="custom20233299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3299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7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9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299_7*e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91.xml><?xml version="1.0" encoding="utf-8"?>
<p:tagLst xmlns:p="http://schemas.openxmlformats.org/presentationml/2006/main">
  <p:tag name="KSO_WM_SLIDE_ID" val="custom2023329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299"/>
  <p:tag name="KSO_WM_SLIDE_TYPE" val="sectionTitle"/>
  <p:tag name="KSO_WM_SLIDE_SUBTYPE" val="pureTxt"/>
  <p:tag name="KSO_WM_SLIDE_LAYOUT" val="a_e"/>
  <p:tag name="KSO_WM_SLIDE_LAYOUT_CNT" val="1_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f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PRESET_TEXT" val="单击此处添加文本"/>
  <p:tag name="KSO_WM_UNIT_TEXT_TYPE" val="1"/>
</p:tagLst>
</file>

<file path=ppt/tags/tag94.xml><?xml version="1.0" encoding="utf-8"?>
<p:tagLst xmlns:p="http://schemas.openxmlformats.org/presentationml/2006/main"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7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9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299_7*e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97.xml><?xml version="1.0" encoding="utf-8"?>
<p:tagLst xmlns:p="http://schemas.openxmlformats.org/presentationml/2006/main">
  <p:tag name="KSO_WM_SLIDE_ID" val="custom2023329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299"/>
  <p:tag name="KSO_WM_SLIDE_TYPE" val="sectionTitle"/>
  <p:tag name="KSO_WM_SLIDE_SUBTYPE" val="pureTxt"/>
  <p:tag name="KSO_WM_SLIDE_LAYOUT" val="a_e"/>
  <p:tag name="KSO_WM_SLIDE_LAYOUT_CNT" val="1_1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7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10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299_7*e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03.xml><?xml version="1.0" encoding="utf-8"?>
<p:tagLst xmlns:p="http://schemas.openxmlformats.org/presentationml/2006/main">
  <p:tag name="KSO_WM_SLIDE_ID" val="custom2023329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299"/>
  <p:tag name="KSO_WM_SLIDE_TYPE" val="sectionTitle"/>
  <p:tag name="KSO_WM_SLIDE_SUBTYPE" val="pureTxt"/>
  <p:tag name="KSO_WM_SLIDE_LAYOUT" val="a_e"/>
  <p:tag name="KSO_WM_SLIDE_LAYOUT_CNT" val="1_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07.xml><?xml version="1.0" encoding="utf-8"?>
<p:tagLst xmlns:p="http://schemas.openxmlformats.org/presentationml/2006/main"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11.xml><?xml version="1.0" encoding="utf-8"?>
<p:tagLst xmlns:p="http://schemas.openxmlformats.org/presentationml/2006/main"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13.xml><?xml version="1.0" encoding="utf-8"?>
<p:tagLst xmlns:p="http://schemas.openxmlformats.org/presentationml/2006/main"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16.xml><?xml version="1.0" encoding="utf-8"?>
<p:tagLst xmlns:p="http://schemas.openxmlformats.org/presentationml/2006/main"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7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11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299_7*e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19.xml><?xml version="1.0" encoding="utf-8"?>
<p:tagLst xmlns:p="http://schemas.openxmlformats.org/presentationml/2006/main">
  <p:tag name="KSO_WM_SLIDE_ID" val="custom2023329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299"/>
  <p:tag name="KSO_WM_SLIDE_TYPE" val="sectionTitle"/>
  <p:tag name="KSO_WM_SLIDE_SUBTYPE" val="pureTxt"/>
  <p:tag name="KSO_WM_SLIDE_LAYOUT" val="a_e"/>
  <p:tag name="KSO_WM_SLIDE_LAYOUT_CNT" val="1_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  <p:tag name="KSO_WM_UNIT_TEXT_TYPE" val="1"/>
</p:tagLst>
</file>

<file path=ppt/tags/tag121.xml><?xml version="1.0" encoding="utf-8"?>
<p:tagLst xmlns:p="http://schemas.openxmlformats.org/presentationml/2006/main"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22.xml><?xml version="1.0" encoding="utf-8"?>
<p:tagLst xmlns:p="http://schemas.openxmlformats.org/presentationml/2006/main">
  <p:tag name="KSO_WM_DIAGRAM_VIRTUALLY_FRAME" val="{&quot;height&quot;:343.45001220703125,&quot;left&quot;:50.72499389648438,&quot;top&quot;:128.09999389648436,&quot;width&quot;:854.4500122070312}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307_2*l_h_f*1_1_1"/>
  <p:tag name="KSO_WM_TEMPLATE_CATEGORY" val="diagram"/>
  <p:tag name="KSO_WM_TEMPLATE_INDEX" val="20231307"/>
  <p:tag name="KSO_WM_UNIT_LAYERLEVEL" val="1_1_1"/>
  <p:tag name="KSO_WM_TAG_VERSION" val="3.0"/>
  <p:tag name="KSO_WM_UNIT_TEXT_TYPE" val="1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17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的观点。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123.xml><?xml version="1.0" encoding="utf-8"?>
<p:tagLst xmlns:p="http://schemas.openxmlformats.org/presentationml/2006/main">
  <p:tag name="KSO_WM_DIAGRAM_VIRTUALLY_FRAME" val="{&quot;height&quot;:343.45001220703125,&quot;left&quot;:50.72499389648438,&quot;top&quot;:128.09999389648436,&quot;width&quot;:854.4500122070312}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307_2*l_h_f*1_1_1"/>
  <p:tag name="KSO_WM_TEMPLATE_CATEGORY" val="diagram"/>
  <p:tag name="KSO_WM_TEMPLATE_INDEX" val="20231307"/>
  <p:tag name="KSO_WM_UNIT_LAYERLEVEL" val="1_1_1"/>
  <p:tag name="KSO_WM_TAG_VERSION" val="3.0"/>
  <p:tag name="KSO_WM_UNIT_TEXT_TYPE" val="1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17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的观点。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7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12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299_7*e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26.xml><?xml version="1.0" encoding="utf-8"?>
<p:tagLst xmlns:p="http://schemas.openxmlformats.org/presentationml/2006/main">
  <p:tag name="KSO_WM_DIAGRAM_VIRTUALLY_FRAME" val="{&quot;height&quot;:343.45001220703125,&quot;left&quot;:50.72499389648438,&quot;top&quot;:128.09999389648436,&quot;width&quot;:854.4500122070312}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307_2*l_h_f*1_1_1"/>
  <p:tag name="KSO_WM_TEMPLATE_CATEGORY" val="diagram"/>
  <p:tag name="KSO_WM_TEMPLATE_INDEX" val="20231307"/>
  <p:tag name="KSO_WM_UNIT_LAYERLEVEL" val="1_1_1"/>
  <p:tag name="KSO_WM_TAG_VERSION" val="3.0"/>
  <p:tag name="KSO_WM_UNIT_TEXT_TYPE" val="1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17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的观点。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12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307_2*l_h_i*1_1_2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3.45001220703125,&quot;left&quot;:50.72499389648438,&quot;top&quot;:128.09999389648436,&quot;width&quot;:854.45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2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307_2*l_h_i*1_1_2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3.45001220703125,&quot;left&quot;:50.72499389648438,&quot;top&quot;:128.09999389648436,&quot;width&quot;:854.45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2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307_2*l_h_i*1_1_2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3.45001220703125,&quot;left&quot;:50.72499389648438,&quot;top&quot;:128.09999389648436,&quot;width&quot;:854.45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30.xml><?xml version="1.0" encoding="utf-8"?>
<p:tagLst xmlns:p="http://schemas.openxmlformats.org/presentationml/2006/main">
  <p:tag name="KSO_WM_SLIDE_ID" val="custom2023329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299"/>
  <p:tag name="KSO_WM_SLIDE_TYPE" val="sectionTitle"/>
  <p:tag name="KSO_WM_SLIDE_SUBTYPE" val="pureTxt"/>
  <p:tag name="KSO_WM_SLIDE_LAYOUT" val="a_e"/>
  <p:tag name="KSO_WM_SLIDE_LAYOUT_CNT" val="1_1"/>
</p:tagLst>
</file>

<file path=ppt/tags/tag1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307_2*a*1"/>
  <p:tag name="KSO_WM_TEMPLATE_CATEGORY" val="diagram"/>
  <p:tag name="KSO_WM_TEMPLATE_INDEX" val="20231307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13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307_2*l_h_i*1_1_2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3.45001220703125,&quot;left&quot;:50.72499389648438,&quot;top&quot;:128.09999389648436,&quot;width&quot;:854.45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33.xml><?xml version="1.0" encoding="utf-8"?>
<p:tagLst xmlns:p="http://schemas.openxmlformats.org/presentationml/2006/main">
  <p:tag name="KSO_WM_DIAGRAM_VIRTUALLY_FRAME" val="{&quot;height&quot;:343.45001220703125,&quot;left&quot;:50.72499389648438,&quot;top&quot;:128.09999389648436,&quot;width&quot;:854.4500122070312}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307_2*l_h_f*1_1_1"/>
  <p:tag name="KSO_WM_TEMPLATE_CATEGORY" val="diagram"/>
  <p:tag name="KSO_WM_TEMPLATE_INDEX" val="20231307"/>
  <p:tag name="KSO_WM_UNIT_LAYERLEVEL" val="1_1_1"/>
  <p:tag name="KSO_WM_TAG_VERSION" val="3.0"/>
  <p:tag name="KSO_WM_UNIT_TEXT_TYPE" val="1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117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的观点。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134.xml><?xml version="1.0" encoding="utf-8"?>
<p:tagLst xmlns:p="http://schemas.openxmlformats.org/presentationml/2006/main">
  <p:tag name="KSO_WM_DIAGRAM_VIRTUALLY_FRAME" val="{&quot;height&quot;:343.45001220703125,&quot;left&quot;:50.72499389648438,&quot;top&quot;:128.09999389648436,&quot;width&quot;:854.450012207031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307_2*l_h_i*1_1_1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3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307_2*l_h_i*1_2_2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3.45001220703125,&quot;left&quot;:50.72499389648438,&quot;top&quot;:128.09999389648436,&quot;width&quot;:854.4500122070312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8"/>
  <p:tag name="KSO_WM_UNIT_FILL_FORE_SCHEMECOLOR_INDEX_BRIGHTNESS" val="0"/>
  <p:tag name="KSO_WM_UNIT_USESOURCEFORMAT_APPLY" val="0"/>
</p:tagLst>
</file>

<file path=ppt/tags/tag136.xml><?xml version="1.0" encoding="utf-8"?>
<p:tagLst xmlns:p="http://schemas.openxmlformats.org/presentationml/2006/main">
  <p:tag name="KSO_WM_DIAGRAM_VIRTUALLY_FRAME" val="{&quot;height&quot;:343.45001220703125,&quot;left&quot;:50.72499389648438,&quot;top&quot;:128.09999389648436,&quot;width&quot;:854.4500122070312}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307_2*l_h_f*1_2_1"/>
  <p:tag name="KSO_WM_TEMPLATE_CATEGORY" val="diagram"/>
  <p:tag name="KSO_WM_TEMPLATE_INDEX" val="20231307"/>
  <p:tag name="KSO_WM_UNIT_LAYERLEVEL" val="1_1_1"/>
  <p:tag name="KSO_WM_TAG_VERSION" val="3.0"/>
  <p:tag name="KSO_WM_UNIT_TEXT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117"/>
  <p:tag name="KSO_WM_UNIT_PRESET_TEXT" val="单击此处添加文本具体内容，简明扼要地阐述您的观点。根据需要可酌情增减文字，以便观者准确地理解您传达的思想单击此处添加文本具体内容，简明扼要地阐述您的观点。以便观者准确地理解您传达的思想单击此处添加文本具体内容。"/>
  <p:tag name="KSO_WM_UNIT_LINE_FORE_SCHEMECOLOR_INDEX" val="8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137.xml><?xml version="1.0" encoding="utf-8"?>
<p:tagLst xmlns:p="http://schemas.openxmlformats.org/presentationml/2006/main">
  <p:tag name="KSO_WM_DIAGRAM_VIRTUALLY_FRAME" val="{&quot;height&quot;:343.45001220703125,&quot;left&quot;:50.72499389648438,&quot;top&quot;:128.09999389648436,&quot;width&quot;:854.450012207031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307_2*l_h_i*1_2_1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8"/>
  <p:tag name="KSO_WM_UNIT_FILL_FORE_SCHEMECOLOR_INDEX_BRIGHTNESS" val="0"/>
  <p:tag name="KSO_WM_UNIT_USESOURCEFORMAT_APPLY" val="0"/>
</p:tagLst>
</file>

<file path=ppt/tags/tag13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307_2*l_h_i*1_3_2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43.45001220703125,&quot;left&quot;:50.72499389648438,&quot;top&quot;:128.09999389648436,&quot;width&quot;:854.45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39.xml><?xml version="1.0" encoding="utf-8"?>
<p:tagLst xmlns:p="http://schemas.openxmlformats.org/presentationml/2006/main">
  <p:tag name="KSO_WM_DIAGRAM_VIRTUALLY_FRAME" val="{&quot;height&quot;:343.45001220703125,&quot;left&quot;:50.72499389648438,&quot;top&quot;:128.09999389648436,&quot;width&quot;:854.4500122070312}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307_2*l_h_f*1_3_1"/>
  <p:tag name="KSO_WM_TEMPLATE_CATEGORY" val="diagram"/>
  <p:tag name="KSO_WM_TEMPLATE_INDEX" val="20231307"/>
  <p:tag name="KSO_WM_UNIT_LAYERLEVEL" val="1_1_1"/>
  <p:tag name="KSO_WM_TAG_VERSION" val="3.0"/>
  <p:tag name="KSO_WM_UNIT_TEXT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117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。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</p:tagLst>
</file>

<file path=ppt/tags/tag140.xml><?xml version="1.0" encoding="utf-8"?>
<p:tagLst xmlns:p="http://schemas.openxmlformats.org/presentationml/2006/main">
  <p:tag name="KSO_WM_DIAGRAM_VIRTUALLY_FRAME" val="{&quot;height&quot;:343.45001220703125,&quot;left&quot;:50.72499389648438,&quot;top&quot;:128.09999389648436,&quot;width&quot;:854.450012207031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307_2*l_h_i*1_3_1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141.xml><?xml version="1.0" encoding="utf-8"?>
<p:tagLst xmlns:p="http://schemas.openxmlformats.org/presentationml/2006/main">
  <p:tag name="KSO_WM_SLIDE_ID" val="diagram20231307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SLIDE_SIZE" val="853.3*343.45"/>
  <p:tag name="KSO_WM_SLIDE_POSITION" val="51.3*128.1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299"/>
  <p:tag name="KSO_WM_SLIDE_LAYOUT" val="a_l"/>
  <p:tag name="KSO_WM_SLIDE_LAYOUT_CNT" val="1_1"/>
</p:tagLst>
</file>

<file path=ppt/tags/tag14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5151_2*a*1"/>
  <p:tag name="KSO_WM_TEMPLATE_CATEGORY" val="diagram"/>
  <p:tag name="KSO_WM_TEMPLATE_INDEX" val="20235151"/>
  <p:tag name="KSO_WM_UNIT_LAYERLEVEL" val="1"/>
  <p:tag name="KSO_WM_TAG_VERSION" val="3.0"/>
  <p:tag name="KSO_WM_BEAUTIFY_FLAG" val="#wm#"/>
  <p:tag name="KSO_WM_UNIT_TEXT_TYPE" val="1"/>
  <p:tag name="KSO_WM_UNIT_PRESET_TEXT" val="单击此处添加文档标题内容"/>
  <p:tag name="KSO_WM_UNIT_TEXT_FILL_FORE_SCHEMECOLOR_INDEX" val="13"/>
  <p:tag name="KSO_WM_UNIT_TEXT_FILL_TYPE" val="1"/>
  <p:tag name="KSO_WM_UNIT_USESOURCEFORMAT_APPLY" val="0"/>
</p:tagLst>
</file>

<file path=ppt/tags/tag14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5151_2*l_h_f*1_1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UNIT_TEXT_TYPE" val="1"/>
  <p:tag name="KSO_WM_DIAGRAM_MAX_ITEMCNT" val="12"/>
  <p:tag name="KSO_WM_DIAGRAM_MIN_ITEMCNT" val="2"/>
  <p:tag name="KSO_WM_DIAGRAM_VIRTUALLY_FRAME" val="{&quot;height&quot;:372.1499938964844,&quot;left&quot;:-17.15,&quot;top&quot;:113.55000305175781,&quot;width&quot;:922.3500061035156}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5"/>
  <p:tag name="KSO_WM_UNIT_USESOURCEFORMAT_APPLY" val="0"/>
</p:tagLst>
</file>

<file path=ppt/tags/tag14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5151_2*l_h_i*1_1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DIAGRAM_MAX_ITEMCNT" val="12"/>
  <p:tag name="KSO_WM_DIAGRAM_MIN_ITEMCNT" val="2"/>
  <p:tag name="KSO_WM_DIAGRAM_VIRTUALLY_FRAME" val="{&quot;height&quot;:372.1499938964844,&quot;left&quot;:-17.15,&quot;top&quot;:113.55000305175781,&quot;width&quot;:922.3500061035156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USESOURCEFORMAT_APPLY" val="0"/>
</p:tagLst>
</file>

<file path=ppt/tags/tag14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5151_2*l_h_f*1_2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UNIT_TEXT_TYPE" val="1"/>
  <p:tag name="KSO_WM_DIAGRAM_MAX_ITEMCNT" val="12"/>
  <p:tag name="KSO_WM_DIAGRAM_MIN_ITEMCNT" val="2"/>
  <p:tag name="KSO_WM_DIAGRAM_VIRTUALLY_FRAME" val="{&quot;height&quot;:372.1499938964844,&quot;left&quot;:-17.15,&quot;top&quot;:113.55000305175781,&quot;width&quot;:922.3500061035156}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5"/>
  <p:tag name="KSO_WM_UNIT_USESOURCEFORMAT_APPLY" val="0"/>
</p:tagLst>
</file>

<file path=ppt/tags/tag14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5151_2*l_h_i*1_2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DIAGRAM_MAX_ITEMCNT" val="12"/>
  <p:tag name="KSO_WM_DIAGRAM_MIN_ITEMCNT" val="2"/>
  <p:tag name="KSO_WM_DIAGRAM_VIRTUALLY_FRAME" val="{&quot;height&quot;:372.1499938964844,&quot;left&quot;:-17.15,&quot;top&quot;:113.55000305175781,&quot;width&quot;:922.3500061035156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USESOURCEFORMAT_APPLY" val="0"/>
</p:tagLst>
</file>

<file path=ppt/tags/tag14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5151_2*l_h_f*1_3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UNIT_TEXT_TYPE" val="1"/>
  <p:tag name="KSO_WM_DIAGRAM_MAX_ITEMCNT" val="12"/>
  <p:tag name="KSO_WM_DIAGRAM_MIN_ITEMCNT" val="2"/>
  <p:tag name="KSO_WM_DIAGRAM_VIRTUALLY_FRAME" val="{&quot;height&quot;:372.1499938964844,&quot;left&quot;:-17.15,&quot;top&quot;:113.55000305175781,&quot;width&quot;:922.3500061035156}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5"/>
  <p:tag name="KSO_WM_UNIT_USESOURCEFORMAT_APPLY" val="0"/>
</p:tagLst>
</file>

<file path=ppt/tags/tag14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5151_2*l_h_i*1_3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DIAGRAM_MAX_ITEMCNT" val="12"/>
  <p:tag name="KSO_WM_DIAGRAM_MIN_ITEMCNT" val="2"/>
  <p:tag name="KSO_WM_DIAGRAM_VIRTUALLY_FRAME" val="{&quot;height&quot;:372.1499938964844,&quot;left&quot;:-17.15,&quot;top&quot;:113.55000305175781,&quot;width&quot;:922.3500061035156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USESOURCEFORMAT_APPLY" val="0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870_3*l_h_i*1_1_1"/>
  <p:tag name="KSO_WM_TEMPLATE_CATEGORY" val="diagram"/>
  <p:tag name="KSO_WM_TEMPLATE_INDEX" val="2023187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3.54998779296875,&quot;left&quot;:47.95,&quot;top&quot;:118.60000610351562,&quot;width&quot;:864.05}"/>
  <p:tag name="KSO_WM_DIAGRAM_COLOR_MATCH_VALUE" val="{&quot;shape&quot;:{&quot;fill&quot;:{&quot;solid&quot;:{&quot;brightness&quot;:0.6000000238418579,&quot;colorType&quot;:1,&quot;foreColorIndex&quot;:5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UNIT_TEXT_FILL_FORE_SCHEMECOLOR_INDEX" val="2"/>
  <p:tag name="KSO_WM_UNIT_TEXT_FILL_TYPE" val="1"/>
  <p:tag name="KSO_WM_UNIT_USESOURCEFORMAT_APPLY" val="0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870_3*l_h_i*1_2_1"/>
  <p:tag name="KSO_WM_TEMPLATE_CATEGORY" val="diagram"/>
  <p:tag name="KSO_WM_TEMPLATE_INDEX" val="2023187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3.54998779296875,&quot;left&quot;:47.95,&quot;top&quot;:118.60000610351562,&quot;width&quot;:864.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870_3*l_h_i*1_3_1"/>
  <p:tag name="KSO_WM_TEMPLATE_CATEGORY" val="diagram"/>
  <p:tag name="KSO_WM_TEMPLATE_INDEX" val="2023187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3.54998779296875,&quot;left&quot;:47.95,&quot;top&quot;:118.60000610351562,&quot;width&quot;:864.05}"/>
  <p:tag name="KSO_WM_DIAGRAM_COLOR_MATCH_VALUE" val="{&quot;shape&quot;:{&quot;fill&quot;:{&quot;solid&quot;:{&quot;brightness&quot;:0.6000000238418579,&quot;colorType&quot;:1,&quot;foreColorIndex&quot;:5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UNIT_TEXT_FILL_FORE_SCHEMECOLOR_INDEX" val="2"/>
  <p:tag name="KSO_WM_UNIT_TEXT_FILL_TYPE" val="1"/>
  <p:tag name="KSO_WM_UNIT_USESOURCEFORMAT_APPLY" val="0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1870_3*l_h_i*1_4_1"/>
  <p:tag name="KSO_WM_TEMPLATE_CATEGORY" val="diagram"/>
  <p:tag name="KSO_WM_TEMPLATE_INDEX" val="2023187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3.54998779296875,&quot;left&quot;:47.95,&quot;top&quot;:118.60000610351562,&quot;width&quot;:864.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153.xml><?xml version="1.0" encoding="utf-8"?>
<p:tagLst xmlns:p="http://schemas.openxmlformats.org/presentationml/2006/main">
  <p:tag name="KSO_WM_SLIDE_ID" val="diagram20235151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diag"/>
  <p:tag name="KSO_WM_SLIDE_SIZE" val="850.35*369.95"/>
  <p:tag name="KSO_WM_SLIDE_POSITION" val="54.8*114.6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5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870_3*a*1"/>
  <p:tag name="KSO_WM_TEMPLATE_CATEGORY" val="diagram"/>
  <p:tag name="KSO_WM_TEMPLATE_INDEX" val="20231870"/>
  <p:tag name="KSO_WM_UNIT_LAYERLEVEL" val="1"/>
  <p:tag name="KSO_WM_TAG_VERSION" val="3.0"/>
  <p:tag name="KSO_WM_BEAUTIFY_FLAG" val="#wm#"/>
  <p:tag name="KSO_WM_UNIT_TEXT_TYPE" val="1"/>
  <p:tag name="KSO_WM_DIAGRAM_GROUP_CODE" val="l1-1"/>
  <p:tag name="KSO_WM_UNIT_PRESET_TEXT" val="单击此处添加页面标题"/>
  <p:tag name="KSO_WM_UNIT_TEXT_FILL_FORE_SCHEMECOLOR_INDEX" val="13"/>
  <p:tag name="KSO_WM_UNIT_TEXT_FILL_TYPE" val="1"/>
  <p:tag name="KSO_WM_UNIT_USESOURCEFORMAT_APPLY" val="0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870_3*l_h_i*1_1_1"/>
  <p:tag name="KSO_WM_TEMPLATE_CATEGORY" val="diagram"/>
  <p:tag name="KSO_WM_TEMPLATE_INDEX" val="2023187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3.54998779296875,&quot;left&quot;:47.95,&quot;top&quot;:118.60000610351562,&quot;width&quot;:864.05}"/>
  <p:tag name="KSO_WM_DIAGRAM_COLOR_MATCH_VALUE" val="{&quot;shape&quot;:{&quot;fill&quot;:{&quot;solid&quot;:{&quot;brightness&quot;:0.6000000238418579,&quot;colorType&quot;:1,&quot;foreColorIndex&quot;:5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6"/>
  <p:tag name="KSO_WM_UNIT_TEXT_FILL_FORE_SCHEMECOLOR_INDEX" val="2"/>
  <p:tag name="KSO_WM_UNIT_TEXT_FILL_TYPE" val="1"/>
  <p:tag name="KSO_WM_UNIT_USESOURCEFORMAT_APPLY" val="0"/>
</p:tagLst>
</file>

<file path=ppt/tags/tag15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870_3*l_h_f*1_1_1"/>
  <p:tag name="KSO_WM_TEMPLATE_CATEGORY" val="diagram"/>
  <p:tag name="KSO_WM_TEMPLATE_INDEX" val="20231870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3.54998779296875,&quot;left&quot;:47.95,&quot;top&quot;:118.60000610351562,&quot;width&quot;:864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简明扼要地阐述您的观点。根据需要可酌情增减文字，以便观者准确地理解您传达的思想。简明扼要地阐述您的观点。"/>
  <p:tag name="KSO_WM_UNIT_TEXT_FILL_FORE_SCHEMECOLOR_INDEX" val="1"/>
  <p:tag name="KSO_WM_UNIT_TEXT_FILL_TYPE" val="1"/>
  <p:tag name="KSO_WM_UNIT_USESOURCEFORMAT_APPLY" val="0"/>
</p:tagLst>
</file>

<file path=ppt/tags/tag1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870_3*l_h_a*1_1_1"/>
  <p:tag name="KSO_WM_TEMPLATE_CATEGORY" val="diagram"/>
  <p:tag name="KSO_WM_TEMPLATE_INDEX" val="20231870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3.54998779296875,&quot;left&quot;:47.95,&quot;top&quot;:118.60000610351562,&quot;width&quot;:864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870_3*l_h_i*1_2_1"/>
  <p:tag name="KSO_WM_TEMPLATE_CATEGORY" val="diagram"/>
  <p:tag name="KSO_WM_TEMPLATE_INDEX" val="2023187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3.54998779296875,&quot;left&quot;:47.95,&quot;top&quot;:118.60000610351562,&quot;width&quot;:864.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15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870_3*l_h_f*1_2_1"/>
  <p:tag name="KSO_WM_TEMPLATE_CATEGORY" val="diagram"/>
  <p:tag name="KSO_WM_TEMPLATE_INDEX" val="20231870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3.54998779296875,&quot;left&quot;:47.95,&quot;top&quot;:118.60000610351562,&quot;width&quot;:864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BEAUTIFY_FLAG" val="#wm#"/>
  <p:tag name="KSO_WM_UNIT_PRESET_TEXT" val="单击此处添加文本具体内容，简明扼要地阐述您的观点。以便观者准确地理解您传达的思想。简明扼要地阐述您的观点。"/>
  <p:tag name="KSO_WM_UNIT_USESOURCEFORMAT_APPLY" val="0"/>
</p:tagLst>
</file>

<file path=ppt/tags/tag16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870_3*l_h_a*1_2_1"/>
  <p:tag name="KSO_WM_TEMPLATE_CATEGORY" val="diagram"/>
  <p:tag name="KSO_WM_TEMPLATE_INDEX" val="20231870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3.54998779296875,&quot;left&quot;:47.95,&quot;top&quot;:118.60000610351562,&quot;width&quot;:864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BEAUTIFY_FLAG" val="#wm#"/>
  <p:tag name="KSO_WM_UNIT_PRESET_TEXT" val="单击添加标题"/>
  <p:tag name="KSO_WM_UNIT_USESOURCEFORMAT_APPLY" val="0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870_3*l_h_i*1_3_1"/>
  <p:tag name="KSO_WM_TEMPLATE_CATEGORY" val="diagram"/>
  <p:tag name="KSO_WM_TEMPLATE_INDEX" val="2023187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3.54998779296875,&quot;left&quot;:47.95,&quot;top&quot;:118.60000610351562,&quot;width&quot;:864.05}"/>
  <p:tag name="KSO_WM_DIAGRAM_COLOR_MATCH_VALUE" val="{&quot;shape&quot;:{&quot;fill&quot;:{&quot;solid&quot;:{&quot;brightness&quot;:0.6000000238418579,&quot;colorType&quot;:1,&quot;foreColorIndex&quot;:5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6"/>
  <p:tag name="KSO_WM_UNIT_TEXT_FILL_FORE_SCHEMECOLOR_INDEX" val="2"/>
  <p:tag name="KSO_WM_UNIT_TEXT_FILL_TYPE" val="1"/>
  <p:tag name="KSO_WM_UNIT_USESOURCEFORMAT_APPLY" val="0"/>
</p:tagLst>
</file>

<file path=ppt/tags/tag16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870_3*l_h_f*1_3_1"/>
  <p:tag name="KSO_WM_TEMPLATE_CATEGORY" val="diagram"/>
  <p:tag name="KSO_WM_TEMPLATE_INDEX" val="20231870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3.54998779296875,&quot;left&quot;:47.95,&quot;top&quot;:118.60000610351562,&quot;width&quot;:864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简明扼要地阐述您的观点。根据需要可酌情增减文字，以便观者准确地理解您传达的思想。简明扼要地阐述您的观点。"/>
  <p:tag name="KSO_WM_UNIT_TEXT_FILL_FORE_SCHEMECOLOR_INDEX" val="1"/>
  <p:tag name="KSO_WM_UNIT_TEXT_FILL_TYPE" val="1"/>
  <p:tag name="KSO_WM_UNIT_USESOURCEFORMAT_APPLY" val="0"/>
</p:tagLst>
</file>

<file path=ppt/tags/tag1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870_3*l_h_a*1_3_1"/>
  <p:tag name="KSO_WM_TEMPLATE_CATEGORY" val="diagram"/>
  <p:tag name="KSO_WM_TEMPLATE_INDEX" val="20231870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3.54998779296875,&quot;left&quot;:47.95,&quot;top&quot;:118.60000610351562,&quot;width&quot;:864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1870_3*l_h_i*1_4_1"/>
  <p:tag name="KSO_WM_TEMPLATE_CATEGORY" val="diagram"/>
  <p:tag name="KSO_WM_TEMPLATE_INDEX" val="2023187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3.54998779296875,&quot;left&quot;:47.95,&quot;top&quot;:118.60000610351562,&quot;width&quot;:864.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16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870_3*l_h_f*1_4_1"/>
  <p:tag name="KSO_WM_TEMPLATE_CATEGORY" val="diagram"/>
  <p:tag name="KSO_WM_TEMPLATE_INDEX" val="20231870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3.54998779296875,&quot;left&quot;:47.95,&quot;top&quot;:118.60000610351562,&quot;width&quot;:864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BEAUTIFY_FLAG" val="#wm#"/>
  <p:tag name="KSO_WM_UNIT_PRESET_TEXT" val="单击此处添加文本具体内容，简明扼要地阐述您的观点。以便观者准确地理解您传达的思想。简明扼要地阐述您的观点。"/>
  <p:tag name="KSO_WM_UNIT_USESOURCEFORMAT_APPLY" val="0"/>
</p:tagLst>
</file>

<file path=ppt/tags/tag1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870_3*l_h_a*1_4_1"/>
  <p:tag name="KSO_WM_TEMPLATE_CATEGORY" val="diagram"/>
  <p:tag name="KSO_WM_TEMPLATE_INDEX" val="20231870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3.54998779296875,&quot;left&quot;:47.95,&quot;top&quot;:118.60000610351562,&quot;width&quot;:864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BEAUTIFY_FLAG" val="#wm#"/>
  <p:tag name="KSO_WM_UNIT_PRESET_TEXT" val="单击添加标题"/>
  <p:tag name="KSO_WM_UNIT_USESOURCEFORMAT_APPLY" val="0"/>
</p:tagLst>
</file>

<file path=ppt/tags/tag167.xml><?xml version="1.0" encoding="utf-8"?>
<p:tagLst xmlns:p="http://schemas.openxmlformats.org/presentationml/2006/main">
  <p:tag name="KSO_WM_SLIDE_ID" val="diagram20231870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diag"/>
  <p:tag name="KSO_WM_SLIDE_SIZE" val="864.05*382.75"/>
  <p:tag name="KSO_WM_SLIDE_POSITION" val="47.95*119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7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16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299_7*e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70.xml><?xml version="1.0" encoding="utf-8"?>
<p:tagLst xmlns:p="http://schemas.openxmlformats.org/presentationml/2006/main">
  <p:tag name="KSO_WM_SLIDE_ID" val="custom2023329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299"/>
  <p:tag name="KSO_WM_SLIDE_TYPE" val="sectionTitle"/>
  <p:tag name="KSO_WM_SLIDE_SUBTYPE" val="pureTxt"/>
  <p:tag name="KSO_WM_SLIDE_LAYOUT" val="a_e"/>
  <p:tag name="KSO_WM_SLIDE_LAYOUT_CNT" val="1_1"/>
</p:tagLst>
</file>

<file path=ppt/tags/tag171.xml><?xml version="1.0" encoding="utf-8"?>
<p:tagLst xmlns:p="http://schemas.openxmlformats.org/presentationml/2006/main">
  <p:tag name="TABLE_ENDDRAG_ORIGIN_RECT" val="820*331"/>
  <p:tag name="TABLE_ENDDRAG_RECT" val="53*58*820*331"/>
</p:tagLst>
</file>

<file path=ppt/tags/tag172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7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17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299_7*e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75.xml><?xml version="1.0" encoding="utf-8"?>
<p:tagLst xmlns:p="http://schemas.openxmlformats.org/presentationml/2006/main">
  <p:tag name="KSO_WM_SLIDE_ID" val="custom2023329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299"/>
  <p:tag name="KSO_WM_SLIDE_TYPE" val="sectionTitle"/>
  <p:tag name="KSO_WM_SLIDE_SUBTYPE" val="pureTxt"/>
  <p:tag name="KSO_WM_SLIDE_LAYOUT" val="a_e"/>
  <p:tag name="KSO_WM_SLIDE_LAYOUT_CNT" val="1_1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78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80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7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  <p:tag name="KSO_WM_UNIT_TEXT_TYPE" val="1"/>
</p:tagLst>
</file>

<file path=ppt/tags/tag18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299_7*e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</p:tagLst>
</file>

<file path=ppt/tags/tag183.xml><?xml version="1.0" encoding="utf-8"?>
<p:tagLst xmlns:p="http://schemas.openxmlformats.org/presentationml/2006/main">
  <p:tag name="KSO_WM_SLIDE_ID" val="custom20233299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299"/>
  <p:tag name="KSO_WM_SLIDE_TYPE" val="sectionTitle"/>
  <p:tag name="KSO_WM_SLIDE_SUBTYPE" val="pureTxt"/>
  <p:tag name="KSO_WM_SLIDE_LAYOUT" val="a_e"/>
  <p:tag name="KSO_WM_SLIDE_LAYOUT_CNT" val="1_1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86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89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92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9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</p:tagLst>
</file>

<file path=ppt/tags/tag194.xml><?xml version="1.0" encoding="utf-8"?>
<p:tagLst xmlns:p="http://schemas.openxmlformats.org/presentationml/2006/main">
  <p:tag name="KSO_WM_UNIT_SUBTYPE" val="a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299_9*f*1"/>
  <p:tag name="KSO_WM_TEMPLATE_CATEGORY" val="custom"/>
  <p:tag name="KSO_WM_TEMPLATE_INDEX" val="20233299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SLIDE_ID" val="custom20233299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299"/>
  <p:tag name="KSO_WM_SLIDE_TYPE" val="endPage"/>
  <p:tag name="KSO_WM_SLIDE_SUBTYPE" val="pureTxt"/>
  <p:tag name="KSO_WM_SLIDE_LAYOUT" val="a_f"/>
  <p:tag name="KSO_WM_SLIDE_LAYOUT_CNT" val="1_1"/>
</p:tagLst>
</file>

<file path=ppt/theme/theme1.xml><?xml version="1.0" encoding="utf-8"?>
<a:theme xmlns:a="http://schemas.openxmlformats.org/drawingml/2006/main" name="Office 主题​​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自定义 45">
      <a:majorFont>
        <a:latin typeface="MiSans Demibold"/>
        <a:ea typeface="微软雅黑"/>
        <a:cs typeface=""/>
      </a:majorFont>
      <a:minorFont>
        <a:latin typeface="MiSans Demibold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4187</Words>
  <Application>WPS 演示</Application>
  <PresentationFormat>宽屏</PresentationFormat>
  <Paragraphs>268</Paragraphs>
  <Slides>29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2" baseType="lpstr">
      <vt:lpstr>Arial</vt:lpstr>
      <vt:lpstr>宋体</vt:lpstr>
      <vt:lpstr>Wingdings</vt:lpstr>
      <vt:lpstr>华文行楷</vt:lpstr>
      <vt:lpstr>楷体</vt:lpstr>
      <vt:lpstr>微软雅黑</vt:lpstr>
      <vt:lpstr>华文楷体</vt:lpstr>
      <vt:lpstr>MiSans Demibold</vt:lpstr>
      <vt:lpstr>Arial Unicode MS</vt:lpstr>
      <vt:lpstr>Calibri</vt:lpstr>
      <vt:lpstr>黑体</vt:lpstr>
      <vt:lpstr>Wingdings</vt:lpstr>
      <vt:lpstr>Office 主题​​</vt:lpstr>
      <vt:lpstr>上财易物</vt:lpstr>
      <vt:lpstr>目录</vt:lpstr>
      <vt:lpstr>项目概要</vt:lpstr>
      <vt:lpstr>项目概要</vt:lpstr>
      <vt:lpstr>项目背景 </vt:lpstr>
      <vt:lpstr>PowerPoint 演示文稿</vt:lpstr>
      <vt:lpstr>PowerPoint 演示文稿</vt:lpstr>
      <vt:lpstr>PowerPoint 演示文稿</vt:lpstr>
      <vt:lpstr>调研分析</vt:lpstr>
      <vt:lpstr>新兴需求的发现 </vt:lpstr>
      <vt:lpstr>    大多数同学表示自己拥有1件以上的闲置物品，其中教材、课外书、电子产品、体育用品、文创周边位列前五。      同时，很多同学愿意购买二手商品，主要原因是“性价比高”和“环保”；同学愿意出售自己的闲置物品，主要目的是“回血”和“腾出空间”。  </vt:lpstr>
      <vt:lpstr>信任与安全：  最担心遇到虚假信息、商品与描述不符、交易欺诈等问题。  便捷性：  希望发布和查找商品简单快捷，沟通顺畅，支付方便。  物流与价值痛点：  倾向于“校内面交”。同时，对于低值物品，很多同学觉得“卖了不值钱，丢了又可惜”。</vt:lpstr>
      <vt:lpstr>“以物换物”的意愿： 超过一半的同学，特别是低年级学生和对于书籍、文创、手工艺品等非标品，表现出强烈的“以物换物”兴趣。他们认为这不仅是处理闲置的方式，更是一种有趣、低碳且能结识同好的社交行为。  对商业化行为的警惕： 在调研中，多数同学明确表示，反感平台出现过多的商业广告或向学生用户收取高额交易佣金，这被视作“破坏了校园社区的纯粹性”。  总结：校内同学对一个安全、便捷、同校、有分类的二手交易平台存在强烈需求。同时，对于 “以物换物” 这一绿色交易模式有明确的期待。然而，用户对平台的商业化举措非常敏感，这要求我们在设计盈利模式时必须谨慎，以保持社区的良好氛围。</vt:lpstr>
      <vt:lpstr>目标用户</vt:lpstr>
      <vt:lpstr>1.  核心用户： 大四毕业生： 离校前大量出售带不走的物品，是平台现金交易的主要供给方。 大一新生： 入学后需要购置教材、生活用品等，是平台现金交易的主要需求方。  2.  活跃用户与“换物”主力军： 大二、大三学生： 有持续性的闲置物品更新需求（如换手机），是维持平台日常活跃度的中坚力量。 兴趣社群爱好者（如动漫、阅读、运动）： 他们是“以物换物”功能最积极的使用者，乐于用自己不再需要的书籍、模型、球拍等换取其他心仪物品，实现“各取所需”的循环乐趣。 预算敏感型学生： 更倾向于通过物物交换来免费获得自己需要的物品。  3.  潜在用户： 校内教职工及其家属，可能交易或交换一些生活类物品。</vt:lpstr>
      <vt:lpstr>产品功能</vt:lpstr>
      <vt:lpstr>核心功能模块</vt:lpstr>
      <vt:lpstr>关键词识别系统</vt:lpstr>
      <vt:lpstr>用户个人主页设计</vt:lpstr>
      <vt:lpstr>盈利模式</vt:lpstr>
      <vt:lpstr>PowerPoint 演示文稿</vt:lpstr>
      <vt:lpstr>风险应对</vt:lpstr>
      <vt:lpstr>PowerPoint 演示文稿</vt:lpstr>
      <vt:lpstr>PowerPoint 演示文稿</vt:lpstr>
      <vt:lpstr>进度安排</vt:lpstr>
      <vt:lpstr>第1周: 规划 </vt:lpstr>
      <vt:lpstr>第2-4周: 核心开发与集成测试周 </vt:lpstr>
      <vt:lpstr>第5周: 最终测试与交付周 </vt:lpstr>
      <vt:lpstr>感谢观看！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Mordey Dean</cp:lastModifiedBy>
  <cp:revision>171</cp:revision>
  <dcterms:created xsi:type="dcterms:W3CDTF">2019-06-19T02:08:00Z</dcterms:created>
  <dcterms:modified xsi:type="dcterms:W3CDTF">2025-11-15T15:59:12Z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932C6C4C808C4ACAA17BA5C9F5D6FC6E_13</vt:lpwstr>
  </property>
</Properties>
</file>